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03B5-9152-FDE6-3ADA-0BC3705B6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2CB72-C2A4-E5BB-9B20-F805ED77A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60C20-C1A2-B863-D4D8-37589E40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6D852-59E8-5706-A4AD-158F0A8B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D71C4-81F9-2FB7-3BB8-F794CE33E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9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307E-A698-1ED4-3CDD-E5AB9C56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A6023-C2FC-BF4B-B0D8-92CF5772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0CFC8-93CB-031E-91F2-1D72AD0E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136C2-A115-82BB-655B-5A6E6646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56323-AA7D-7388-B2A3-5E3B9062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4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3522-7AAD-9759-C537-FB1BCC91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B8AF7-3BF3-8856-BE2A-14925B737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6A7B4-30D7-9CB0-6F75-4DD42D6F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2CE89-F336-BDF2-76DD-84B7FEDC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65F96-27AA-329A-8A77-E2921AB8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3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2773-11A4-9558-1B16-A454B7EB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9D197-15C3-8529-7C77-C6D8FB47D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CD727-271A-FC68-6E6E-1DBDC1C7B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CE5E3-15DE-FAE5-ABD1-CFF331D6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88FAA-A1E9-A346-E735-D2FD6C081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254FF-92DA-BF03-E297-9C73C19A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8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449D-B7B8-7E9F-0726-1B3D69A9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E0F42-94BF-572E-7BD5-2DF80D64D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0A55F-9436-D3C2-3CF3-84F5922CE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AC0D0C-BE92-A416-1C92-F56AE4D48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9F5A3-6026-F7E5-63F2-DA717282F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F7C03-7E0E-2C0A-F764-B765680F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392DBE-8845-7A0D-EDC1-4E9DF54D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E81B3-62E0-9A53-5A86-648A9B8A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6D96-7F6E-95FC-440F-84C12F5D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AEA9A-0E95-461C-FE4E-827846DE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2B213-61FB-7E2B-31BA-E0226C26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AACA7-DFA6-12EF-EE69-A6C48A8B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07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AF4AD-5FD4-BB86-F930-BC51986D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FD4A5-B98A-9437-7219-976A5ADB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8C3A9-82BA-FB5C-01A3-2A3496F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B1F4C-36FE-521C-D6A5-5C527876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C5469-AD45-209D-B21C-CC23C9242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A56DB-D65F-8C6D-2030-1F29111FB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B2A69-F1D7-3F3C-0736-664E02DF6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3D11D-8485-8D88-9850-7DF1478A1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D478D-D50F-4F0E-9B6C-8FE71238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2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5339-AC91-1C14-CB54-D4A1AD84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16570-D883-367B-423F-ED201C356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3210A-951C-E069-F3BB-1FD37900F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D0CB3-6375-67F4-D888-B405F404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E3FE9-CE7B-30AE-372A-E536B64B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613DC-6F3F-0926-1935-A5D01DFC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1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642C-3044-4ADB-AFE6-4ECDB6ED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5E445-4ABB-16D6-FC30-E0ED92EF2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8505E-096A-0254-64C6-660B3E66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6ED1E-B01A-A79F-BBCF-BBB058D4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569B4-1772-7F14-D45A-17EE403E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1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14E8D-4F68-C88D-DA64-B312A0606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3CC9C-121B-44E8-E3A4-D65518EBD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991B4-EBF0-1E4C-F9A7-5E2F5B733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D709F-FAE6-F2DD-DBDA-D00C92F2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6A689-B3E7-8CCD-E25F-29F303D5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8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F863A-7C6D-F73B-E194-DA46EF5F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4026F-37EC-DD20-3841-41C214AE8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01256-CBA7-DE90-1572-6793D168C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95D2B-D441-4E7F-A1D6-1E944FC61F6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AF4F-91C5-D6DC-E360-0B076EEDB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1A24-20E3-E17F-6A1D-D6E58C9A3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E4AA8-DCDB-419B-9EE5-3070F43A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748C0C-DD2C-B231-182C-CDA2E2D6DC75}"/>
              </a:ext>
            </a:extLst>
          </p:cNvPr>
          <p:cNvSpPr txBox="1"/>
          <p:nvPr/>
        </p:nvSpPr>
        <p:spPr>
          <a:xfrm>
            <a:off x="533400" y="304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Aptos" panose="020B0004020202020204" pitchFamily="34" charset="0"/>
              </a:rPr>
              <a:t>KOYO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E1867-A104-3D11-8834-C4C9999D4BB0}"/>
              </a:ext>
            </a:extLst>
          </p:cNvPr>
          <p:cNvSpPr txBox="1"/>
          <p:nvPr/>
        </p:nvSpPr>
        <p:spPr>
          <a:xfrm>
            <a:off x="5334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ECF1F7"/>
                </a:solidFill>
                <a:latin typeface="Aptos Display" panose="020B0004020202020204" pitchFamily="34" charset="0"/>
              </a:rPr>
              <a:t>SatNOGS Audio to Operational Telemetry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944986-3404-D1CD-3FC5-AAC62025ECCE}"/>
              </a:ext>
            </a:extLst>
          </p:cNvPr>
          <p:cNvCxnSpPr/>
          <p:nvPr/>
        </p:nvCxnSpPr>
        <p:spPr>
          <a:xfrm>
            <a:off x="533400" y="1295400"/>
            <a:ext cx="111252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54CD9BC-042C-0AB0-B222-00C12330B3CB}"/>
              </a:ext>
            </a:extLst>
          </p:cNvPr>
          <p:cNvSpPr txBox="1"/>
          <p:nvPr/>
        </p:nvSpPr>
        <p:spPr>
          <a:xfrm>
            <a:off x="11277600" y="64135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86612E-3B16-BDB3-0F4F-2101310497F6}"/>
              </a:ext>
            </a:extLst>
          </p:cNvPr>
          <p:cNvSpPr txBox="1"/>
          <p:nvPr/>
        </p:nvSpPr>
        <p:spPr>
          <a:xfrm>
            <a:off x="533400" y="1676400"/>
            <a:ext cx="787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ECF1F7"/>
                </a:solidFill>
                <a:latin typeface="Aptos Display" panose="020B0004020202020204" pitchFamily="34" charset="0"/>
              </a:rPr>
              <a:t>BEACON DECODER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F8071-536E-F64B-B561-EB89B6BB1418}"/>
              </a:ext>
            </a:extLst>
          </p:cNvPr>
          <p:cNvSpPr txBox="1"/>
          <p:nvPr/>
        </p:nvSpPr>
        <p:spPr>
          <a:xfrm>
            <a:off x="558800" y="25146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31A6E8"/>
                </a:solidFill>
                <a:latin typeface="Aptos" panose="020B0004020202020204" pitchFamily="34" charset="0"/>
              </a:rPr>
              <a:t>GNU Radio  |  G3RUH AX.25  |  CRC-valid 263-byte frames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6CC844-23AB-99D9-E9FF-9881CCCE1FCA}"/>
              </a:ext>
            </a:extLst>
          </p:cNvPr>
          <p:cNvSpPr/>
          <p:nvPr/>
        </p:nvSpPr>
        <p:spPr>
          <a:xfrm>
            <a:off x="533400" y="3530600"/>
            <a:ext cx="3302000" cy="15494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5FDCC-B19A-0E00-BC49-EA8BDFBFFB41}"/>
              </a:ext>
            </a:extLst>
          </p:cNvPr>
          <p:cNvSpPr txBox="1"/>
          <p:nvPr/>
        </p:nvSpPr>
        <p:spPr>
          <a:xfrm>
            <a:off x="787400" y="37846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31CC70"/>
                </a:solidFill>
                <a:latin typeface="Aptos Display" panose="020B0004020202020204" pitchFamily="34" charset="0"/>
              </a:rPr>
              <a:t>5 /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18D4C-5289-8FD0-2D60-67BCAAA2B4A3}"/>
              </a:ext>
            </a:extLst>
          </p:cNvPr>
          <p:cNvSpPr txBox="1"/>
          <p:nvPr/>
        </p:nvSpPr>
        <p:spPr>
          <a:xfrm>
            <a:off x="787400" y="44450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9BA6B5"/>
                </a:solidFill>
                <a:latin typeface="Aptos" panose="020B0004020202020204" pitchFamily="34" charset="0"/>
              </a:rPr>
              <a:t>observations passed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8F49BC-484C-EBFF-123A-7BE46306D98F}"/>
              </a:ext>
            </a:extLst>
          </p:cNvPr>
          <p:cNvSpPr/>
          <p:nvPr/>
        </p:nvSpPr>
        <p:spPr>
          <a:xfrm>
            <a:off x="4140200" y="3530600"/>
            <a:ext cx="3302000" cy="15494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3DD761-4797-5EA4-C55E-A5784E31D82D}"/>
              </a:ext>
            </a:extLst>
          </p:cNvPr>
          <p:cNvSpPr txBox="1"/>
          <p:nvPr/>
        </p:nvSpPr>
        <p:spPr>
          <a:xfrm>
            <a:off x="4394200" y="3784600"/>
            <a:ext cx="279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31A6E8"/>
                </a:solidFill>
                <a:latin typeface="Aptos Display" panose="020B0004020202020204" pitchFamily="34" charset="0"/>
              </a:rPr>
              <a:t>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1069A6-AB0A-0BB3-18BF-F4655852A9AD}"/>
              </a:ext>
            </a:extLst>
          </p:cNvPr>
          <p:cNvSpPr txBox="1"/>
          <p:nvPr/>
        </p:nvSpPr>
        <p:spPr>
          <a:xfrm>
            <a:off x="4394200" y="44450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9BA6B5"/>
                </a:solidFill>
                <a:latin typeface="Aptos" panose="020B0004020202020204" pitchFamily="34" charset="0"/>
              </a:rPr>
              <a:t>valid local frames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2A008F-BE5F-7F04-5860-C8A015CD38AD}"/>
              </a:ext>
            </a:extLst>
          </p:cNvPr>
          <p:cNvSpPr/>
          <p:nvPr/>
        </p:nvSpPr>
        <p:spPr>
          <a:xfrm>
            <a:off x="7747000" y="3530600"/>
            <a:ext cx="3911600" cy="15494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ECAEF0-D997-D90C-4C23-BA59ACCC99C1}"/>
              </a:ext>
            </a:extLst>
          </p:cNvPr>
          <p:cNvSpPr txBox="1"/>
          <p:nvPr/>
        </p:nvSpPr>
        <p:spPr>
          <a:xfrm>
            <a:off x="8001000" y="3784600"/>
            <a:ext cx="340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69929"/>
                </a:solidFill>
                <a:latin typeface="Aptos Display" panose="020B0004020202020204" pitchFamily="34" charset="0"/>
              </a:rPr>
              <a:t>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D13857-DE35-5BA9-86E6-48F04A5F109A}"/>
              </a:ext>
            </a:extLst>
          </p:cNvPr>
          <p:cNvSpPr txBox="1"/>
          <p:nvPr/>
        </p:nvSpPr>
        <p:spPr>
          <a:xfrm>
            <a:off x="8001000" y="4445000"/>
            <a:ext cx="3403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9BA6B5"/>
                </a:solidFill>
                <a:latin typeface="Aptos" panose="020B0004020202020204" pitchFamily="34" charset="0"/>
              </a:rPr>
              <a:t>byte-exact control matches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22AA94-809D-CF24-3C63-9462BF8D3C7F}"/>
              </a:ext>
            </a:extLst>
          </p:cNvPr>
          <p:cNvSpPr txBox="1"/>
          <p:nvPr/>
        </p:nvSpPr>
        <p:spPr>
          <a:xfrm>
            <a:off x="558800" y="5943600"/>
            <a:ext cx="660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BA6B5"/>
                </a:solidFill>
                <a:latin typeface="Consolas" panose="020B0609020204030204" pitchFamily="49" charset="0"/>
              </a:rPr>
              <a:t>Morning handoff  |  31 Aug 2026</a:t>
            </a:r>
          </a:p>
        </p:txBody>
      </p:sp>
    </p:spTree>
    <p:extLst>
      <p:ext uri="{BB962C8B-B14F-4D97-AF65-F5344CB8AC3E}">
        <p14:creationId xmlns:p14="http://schemas.microsoft.com/office/powerpoint/2010/main" val="109733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6A9AB4-B10D-CA0A-FD7B-6E592BE73FB7}"/>
              </a:ext>
            </a:extLst>
          </p:cNvPr>
          <p:cNvSpPr txBox="1"/>
          <p:nvPr/>
        </p:nvSpPr>
        <p:spPr>
          <a:xfrm>
            <a:off x="533400" y="304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Aptos" panose="020B0004020202020204" pitchFamily="34" charset="0"/>
              </a:rPr>
              <a:t>KOYO BEACON 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466AA-DDFB-D813-4E51-46FD416152A7}"/>
              </a:ext>
            </a:extLst>
          </p:cNvPr>
          <p:cNvSpPr txBox="1"/>
          <p:nvPr/>
        </p:nvSpPr>
        <p:spPr>
          <a:xfrm>
            <a:off x="5334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ECF1F7"/>
                </a:solidFill>
                <a:latin typeface="Aptos Display" panose="020B0004020202020204" pitchFamily="34" charset="0"/>
              </a:rPr>
              <a:t>End-to-End Architecture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76870A-FE8E-DE3C-A10A-A5246FA60679}"/>
              </a:ext>
            </a:extLst>
          </p:cNvPr>
          <p:cNvCxnSpPr/>
          <p:nvPr/>
        </p:nvCxnSpPr>
        <p:spPr>
          <a:xfrm>
            <a:off x="533400" y="1295400"/>
            <a:ext cx="111252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CCEA9B-026E-E737-BE6A-281B1436D056}"/>
              </a:ext>
            </a:extLst>
          </p:cNvPr>
          <p:cNvSpPr txBox="1"/>
          <p:nvPr/>
        </p:nvSpPr>
        <p:spPr>
          <a:xfrm>
            <a:off x="11277600" y="64135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ED7B58-9911-52A4-B701-24E788C0C66A}"/>
              </a:ext>
            </a:extLst>
          </p:cNvPr>
          <p:cNvSpPr/>
          <p:nvPr/>
        </p:nvSpPr>
        <p:spPr>
          <a:xfrm>
            <a:off x="508000" y="2387600"/>
            <a:ext cx="1625600" cy="13462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52EB0-0A96-8D30-AA7B-C4E49D0F62E0}"/>
              </a:ext>
            </a:extLst>
          </p:cNvPr>
          <p:cNvSpPr txBox="1"/>
          <p:nvPr/>
        </p:nvSpPr>
        <p:spPr>
          <a:xfrm>
            <a:off x="635000" y="2667000"/>
            <a:ext cx="137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ECF1F7"/>
                </a:solidFill>
                <a:latin typeface="Aptos" panose="020B0004020202020204" pitchFamily="34" charset="0"/>
              </a:rPr>
              <a:t>SatNOGS OGG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57395-57AB-9EC8-38F0-D58201D2782B}"/>
              </a:ext>
            </a:extLst>
          </p:cNvPr>
          <p:cNvSpPr txBox="1"/>
          <p:nvPr/>
        </p:nvSpPr>
        <p:spPr>
          <a:xfrm>
            <a:off x="635000" y="3124200"/>
            <a:ext cx="1371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downloaded observation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1D53EE-FD39-3B22-CF82-941A55943D84}"/>
              </a:ext>
            </a:extLst>
          </p:cNvPr>
          <p:cNvCxnSpPr/>
          <p:nvPr/>
        </p:nvCxnSpPr>
        <p:spPr>
          <a:xfrm>
            <a:off x="2133600" y="3060700"/>
            <a:ext cx="228600" cy="0"/>
          </a:xfrm>
          <a:prstGeom prst="line">
            <a:avLst/>
          </a:prstGeom>
          <a:ln w="25400">
            <a:solidFill>
              <a:srgbClr val="31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DA06B6-2F30-7729-0CC4-F4D8E686F8DC}"/>
              </a:ext>
            </a:extLst>
          </p:cNvPr>
          <p:cNvSpPr txBox="1"/>
          <p:nvPr/>
        </p:nvSpPr>
        <p:spPr>
          <a:xfrm>
            <a:off x="2209800" y="2921000"/>
            <a:ext cx="152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1A6E8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A9D54-9F7A-7272-9FF5-899B3672DD43}"/>
              </a:ext>
            </a:extLst>
          </p:cNvPr>
          <p:cNvSpPr/>
          <p:nvPr/>
        </p:nvSpPr>
        <p:spPr>
          <a:xfrm>
            <a:off x="2425700" y="2387600"/>
            <a:ext cx="1625600" cy="13462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D192C-656D-174F-1A47-1D05FEAB1185}"/>
              </a:ext>
            </a:extLst>
          </p:cNvPr>
          <p:cNvSpPr txBox="1"/>
          <p:nvPr/>
        </p:nvSpPr>
        <p:spPr>
          <a:xfrm>
            <a:off x="2552700" y="2667000"/>
            <a:ext cx="137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ECF1F7"/>
                </a:solidFill>
                <a:latin typeface="Aptos" panose="020B0004020202020204" pitchFamily="34" charset="0"/>
              </a:rPr>
              <a:t>PCM WAV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EA95BC-1055-BBEC-5C18-F76F00B9B5D8}"/>
              </a:ext>
            </a:extLst>
          </p:cNvPr>
          <p:cNvSpPr txBox="1"/>
          <p:nvPr/>
        </p:nvSpPr>
        <p:spPr>
          <a:xfrm>
            <a:off x="2552700" y="31242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mono / 48 kHz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69C095-EC01-FBBE-0204-3A0BE79D28CD}"/>
              </a:ext>
            </a:extLst>
          </p:cNvPr>
          <p:cNvCxnSpPr/>
          <p:nvPr/>
        </p:nvCxnSpPr>
        <p:spPr>
          <a:xfrm>
            <a:off x="4051300" y="3060700"/>
            <a:ext cx="228600" cy="0"/>
          </a:xfrm>
          <a:prstGeom prst="line">
            <a:avLst/>
          </a:prstGeom>
          <a:ln w="25400">
            <a:solidFill>
              <a:srgbClr val="31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837A54-7FB3-BA75-FAF1-B432BD3CC0BB}"/>
              </a:ext>
            </a:extLst>
          </p:cNvPr>
          <p:cNvSpPr txBox="1"/>
          <p:nvPr/>
        </p:nvSpPr>
        <p:spPr>
          <a:xfrm>
            <a:off x="4127500" y="2921000"/>
            <a:ext cx="152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1A6E8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869DA6-5A78-E6EC-C020-C30B77A0A462}"/>
              </a:ext>
            </a:extLst>
          </p:cNvPr>
          <p:cNvSpPr/>
          <p:nvPr/>
        </p:nvSpPr>
        <p:spPr>
          <a:xfrm>
            <a:off x="4343400" y="2387600"/>
            <a:ext cx="1625600" cy="13462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1C8A05-DECE-674F-7B07-0B6E5CC115DE}"/>
              </a:ext>
            </a:extLst>
          </p:cNvPr>
          <p:cNvSpPr txBox="1"/>
          <p:nvPr/>
        </p:nvSpPr>
        <p:spPr>
          <a:xfrm>
            <a:off x="4470400" y="2667000"/>
            <a:ext cx="137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ECF1F7"/>
                </a:solidFill>
                <a:latin typeface="Aptos" panose="020B0004020202020204" pitchFamily="34" charset="0"/>
              </a:rPr>
              <a:t>GNU Radio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1C326E-63E9-9BFA-6EDF-83FFE2244AB3}"/>
              </a:ext>
            </a:extLst>
          </p:cNvPr>
          <p:cNvSpPr txBox="1"/>
          <p:nvPr/>
        </p:nvSpPr>
        <p:spPr>
          <a:xfrm>
            <a:off x="4470400" y="31242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FSK / 9600 baud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D8F04A-1942-9984-9B7C-55F6435674DA}"/>
              </a:ext>
            </a:extLst>
          </p:cNvPr>
          <p:cNvCxnSpPr/>
          <p:nvPr/>
        </p:nvCxnSpPr>
        <p:spPr>
          <a:xfrm>
            <a:off x="5969000" y="3060700"/>
            <a:ext cx="228600" cy="0"/>
          </a:xfrm>
          <a:prstGeom prst="line">
            <a:avLst/>
          </a:prstGeom>
          <a:ln w="25400">
            <a:solidFill>
              <a:srgbClr val="31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A9D2DC-6B90-5987-E110-3FB45EF22CEA}"/>
              </a:ext>
            </a:extLst>
          </p:cNvPr>
          <p:cNvSpPr txBox="1"/>
          <p:nvPr/>
        </p:nvSpPr>
        <p:spPr>
          <a:xfrm>
            <a:off x="6045200" y="2921000"/>
            <a:ext cx="152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1A6E8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EE3CD7-E397-94C7-BBF7-5606160B0964}"/>
              </a:ext>
            </a:extLst>
          </p:cNvPr>
          <p:cNvSpPr/>
          <p:nvPr/>
        </p:nvSpPr>
        <p:spPr>
          <a:xfrm>
            <a:off x="6261100" y="2387600"/>
            <a:ext cx="1625600" cy="13462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DC1E36-C5DE-7129-B345-6D9D70F25D88}"/>
              </a:ext>
            </a:extLst>
          </p:cNvPr>
          <p:cNvSpPr txBox="1"/>
          <p:nvPr/>
        </p:nvSpPr>
        <p:spPr>
          <a:xfrm>
            <a:off x="6388100" y="2667000"/>
            <a:ext cx="137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ECF1F7"/>
                </a:solidFill>
                <a:latin typeface="Aptos" panose="020B0004020202020204" pitchFamily="34" charset="0"/>
              </a:rPr>
              <a:t>AX.25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1E852B-8575-09D3-2052-D358BF8440A5}"/>
              </a:ext>
            </a:extLst>
          </p:cNvPr>
          <p:cNvSpPr txBox="1"/>
          <p:nvPr/>
        </p:nvSpPr>
        <p:spPr>
          <a:xfrm>
            <a:off x="6388100" y="31242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G3RUH + HDLC + CRC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A744E8-A300-79F7-748F-C8B99371A927}"/>
              </a:ext>
            </a:extLst>
          </p:cNvPr>
          <p:cNvCxnSpPr/>
          <p:nvPr/>
        </p:nvCxnSpPr>
        <p:spPr>
          <a:xfrm>
            <a:off x="7886700" y="3060700"/>
            <a:ext cx="228600" cy="0"/>
          </a:xfrm>
          <a:prstGeom prst="line">
            <a:avLst/>
          </a:prstGeom>
          <a:ln w="25400">
            <a:solidFill>
              <a:srgbClr val="31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ABAF5F1-1BF8-C1F3-D08C-ED317EE975EF}"/>
              </a:ext>
            </a:extLst>
          </p:cNvPr>
          <p:cNvSpPr txBox="1"/>
          <p:nvPr/>
        </p:nvSpPr>
        <p:spPr>
          <a:xfrm>
            <a:off x="7962900" y="2921000"/>
            <a:ext cx="152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1A6E8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5EDAAA-B84A-6338-032F-46C76C0CED89}"/>
              </a:ext>
            </a:extLst>
          </p:cNvPr>
          <p:cNvSpPr/>
          <p:nvPr/>
        </p:nvSpPr>
        <p:spPr>
          <a:xfrm>
            <a:off x="8178800" y="2387600"/>
            <a:ext cx="1625600" cy="13462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446384-E9D0-BC0F-D525-4CA8A2F22655}"/>
              </a:ext>
            </a:extLst>
          </p:cNvPr>
          <p:cNvSpPr txBox="1"/>
          <p:nvPr/>
        </p:nvSpPr>
        <p:spPr>
          <a:xfrm>
            <a:off x="8305800" y="2667000"/>
            <a:ext cx="137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ECF1F7"/>
                </a:solidFill>
                <a:latin typeface="Aptos" panose="020B0004020202020204" pitchFamily="34" charset="0"/>
              </a:rPr>
              <a:t>KOYO Decoder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180556-79AE-C0FB-C116-DDC49C8884C9}"/>
              </a:ext>
            </a:extLst>
          </p:cNvPr>
          <p:cNvSpPr txBox="1"/>
          <p:nvPr/>
        </p:nvSpPr>
        <p:spPr>
          <a:xfrm>
            <a:off x="8305800" y="3124200"/>
            <a:ext cx="1371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263-byte frames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5BC67ED-CD9A-34C7-7FF3-FC9645428DA2}"/>
              </a:ext>
            </a:extLst>
          </p:cNvPr>
          <p:cNvCxnSpPr/>
          <p:nvPr/>
        </p:nvCxnSpPr>
        <p:spPr>
          <a:xfrm>
            <a:off x="9804400" y="3060700"/>
            <a:ext cx="228600" cy="0"/>
          </a:xfrm>
          <a:prstGeom prst="line">
            <a:avLst/>
          </a:prstGeom>
          <a:ln w="25400">
            <a:solidFill>
              <a:srgbClr val="31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FFF642E-7527-C008-3745-4C57B9A5E9B2}"/>
              </a:ext>
            </a:extLst>
          </p:cNvPr>
          <p:cNvSpPr txBox="1"/>
          <p:nvPr/>
        </p:nvSpPr>
        <p:spPr>
          <a:xfrm>
            <a:off x="9880600" y="2921000"/>
            <a:ext cx="152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1A6E8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CA899C-FE8E-4268-5B68-9C7CF0B01585}"/>
              </a:ext>
            </a:extLst>
          </p:cNvPr>
          <p:cNvSpPr/>
          <p:nvPr/>
        </p:nvSpPr>
        <p:spPr>
          <a:xfrm>
            <a:off x="10096500" y="2387600"/>
            <a:ext cx="1625600" cy="13462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203DFA-ABE2-A546-E829-71A6C6819416}"/>
              </a:ext>
            </a:extLst>
          </p:cNvPr>
          <p:cNvSpPr txBox="1"/>
          <p:nvPr/>
        </p:nvSpPr>
        <p:spPr>
          <a:xfrm>
            <a:off x="10223500" y="2667000"/>
            <a:ext cx="1371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ECF1F7"/>
                </a:solidFill>
                <a:latin typeface="Aptos" panose="020B0004020202020204" pitchFamily="34" charset="0"/>
              </a:rPr>
              <a:t>Influx + Grafana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1FB7E2-A543-8328-8CA6-72694EA76E14}"/>
              </a:ext>
            </a:extLst>
          </p:cNvPr>
          <p:cNvSpPr txBox="1"/>
          <p:nvPr/>
        </p:nvSpPr>
        <p:spPr>
          <a:xfrm>
            <a:off x="10223500" y="3124200"/>
            <a:ext cx="1371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channel / value feedback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9778E1-5E59-5FDB-F769-13AE8182BFA6}"/>
              </a:ext>
            </a:extLst>
          </p:cNvPr>
          <p:cNvSpPr txBox="1"/>
          <p:nvPr/>
        </p:nvSpPr>
        <p:spPr>
          <a:xfrm>
            <a:off x="508000" y="41910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9BA6B5"/>
                </a:solidFill>
                <a:latin typeface="Aptos" panose="020B0004020202020204" pitchFamily="34" charset="0"/>
              </a:rPr>
              <a:t>Decoder 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76DA75-43C7-BE22-E273-D96A0459E3AE}"/>
              </a:ext>
            </a:extLst>
          </p:cNvPr>
          <p:cNvSpPr txBox="1"/>
          <p:nvPr/>
        </p:nvSpPr>
        <p:spPr>
          <a:xfrm>
            <a:off x="508000" y="4521200"/>
            <a:ext cx="10985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ECF1F7"/>
                </a:solidFill>
                <a:latin typeface="Aptos" panose="020B0004020202020204" pitchFamily="34" charset="0"/>
              </a:rPr>
              <a:t>The OGG recording is the source. SatNOGS demodulated frames are used only as an independent validation control.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31CF98-AAE9-E86F-B32A-03C11C37C948}"/>
              </a:ext>
            </a:extLst>
          </p:cNvPr>
          <p:cNvSpPr txBox="1"/>
          <p:nvPr/>
        </p:nvSpPr>
        <p:spPr>
          <a:xfrm>
            <a:off x="508000" y="5486400"/>
            <a:ext cx="10985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69929"/>
                </a:solidFill>
                <a:latin typeface="Aptos" panose="020B0004020202020204" pitchFamily="34" charset="0"/>
              </a:rPr>
              <a:t>Store-and-forward: newest available upload, not continuous live RF.</a:t>
            </a:r>
          </a:p>
        </p:txBody>
      </p:sp>
    </p:spTree>
    <p:extLst>
      <p:ext uri="{BB962C8B-B14F-4D97-AF65-F5344CB8AC3E}">
        <p14:creationId xmlns:p14="http://schemas.microsoft.com/office/powerpoint/2010/main" val="1502158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CCA5D1-36F1-5F5A-1F7C-BFBB4C1056C2}"/>
              </a:ext>
            </a:extLst>
          </p:cNvPr>
          <p:cNvSpPr txBox="1"/>
          <p:nvPr/>
        </p:nvSpPr>
        <p:spPr>
          <a:xfrm>
            <a:off x="533400" y="304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Aptos" panose="020B0004020202020204" pitchFamily="34" charset="0"/>
              </a:rPr>
              <a:t>KOYO BEACON 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C19F5-3C55-2FA8-97EF-A543637F9C5F}"/>
              </a:ext>
            </a:extLst>
          </p:cNvPr>
          <p:cNvSpPr txBox="1"/>
          <p:nvPr/>
        </p:nvSpPr>
        <p:spPr>
          <a:xfrm>
            <a:off x="5334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ECF1F7"/>
                </a:solidFill>
                <a:latin typeface="Aptos Display" panose="020B0004020202020204" pitchFamily="34" charset="0"/>
              </a:rPr>
              <a:t>Mission Data Coverage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E30F84-7D62-DE6D-025B-BA40B8DCCE49}"/>
              </a:ext>
            </a:extLst>
          </p:cNvPr>
          <p:cNvCxnSpPr/>
          <p:nvPr/>
        </p:nvCxnSpPr>
        <p:spPr>
          <a:xfrm>
            <a:off x="533400" y="1295400"/>
            <a:ext cx="111252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B0F1765-B6DC-C448-7286-3F1422545ADE}"/>
              </a:ext>
            </a:extLst>
          </p:cNvPr>
          <p:cNvSpPr txBox="1"/>
          <p:nvPr/>
        </p:nvSpPr>
        <p:spPr>
          <a:xfrm>
            <a:off x="11277600" y="64135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4FCC5-0F1F-4185-60DF-B6A54697FA12}"/>
              </a:ext>
            </a:extLst>
          </p:cNvPr>
          <p:cNvSpPr/>
          <p:nvPr/>
        </p:nvSpPr>
        <p:spPr>
          <a:xfrm>
            <a:off x="584200" y="1701800"/>
            <a:ext cx="3429000" cy="14224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C8E39-A0DA-6979-897C-8DBFA22D5130}"/>
              </a:ext>
            </a:extLst>
          </p:cNvPr>
          <p:cNvSpPr txBox="1"/>
          <p:nvPr/>
        </p:nvSpPr>
        <p:spPr>
          <a:xfrm>
            <a:off x="838200" y="1955800"/>
            <a:ext cx="292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31CC70"/>
                </a:solidFill>
                <a:latin typeface="Aptos Display" panose="020B0004020202020204" pitchFamily="34" charset="0"/>
              </a:rPr>
              <a:t>55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D9E54-11B6-9622-810A-A80576705644}"/>
              </a:ext>
            </a:extLst>
          </p:cNvPr>
          <p:cNvSpPr txBox="1"/>
          <p:nvPr/>
        </p:nvSpPr>
        <p:spPr>
          <a:xfrm>
            <a:off x="838200" y="25654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9BA6B5"/>
                </a:solidFill>
                <a:latin typeface="Aptos" panose="020B0004020202020204" pitchFamily="34" charset="0"/>
              </a:rPr>
              <a:t>UTC days with frames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FE7740-29E7-60BE-E07C-8D2AB6A80FFA}"/>
              </a:ext>
            </a:extLst>
          </p:cNvPr>
          <p:cNvSpPr/>
          <p:nvPr/>
        </p:nvSpPr>
        <p:spPr>
          <a:xfrm>
            <a:off x="4381500" y="1701800"/>
            <a:ext cx="3429000" cy="14224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D5A5E-E21B-0603-A5D5-2603116123A3}"/>
              </a:ext>
            </a:extLst>
          </p:cNvPr>
          <p:cNvSpPr txBox="1"/>
          <p:nvPr/>
        </p:nvSpPr>
        <p:spPr>
          <a:xfrm>
            <a:off x="4635500" y="1955800"/>
            <a:ext cx="292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31A6E8"/>
                </a:solidFill>
                <a:latin typeface="Aptos Display" panose="020B0004020202020204" pitchFamily="34" charset="0"/>
              </a:rPr>
              <a:t>1,055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D730AD-DD3F-2C4D-7936-12A5A03C4176}"/>
              </a:ext>
            </a:extLst>
          </p:cNvPr>
          <p:cNvSpPr txBox="1"/>
          <p:nvPr/>
        </p:nvSpPr>
        <p:spPr>
          <a:xfrm>
            <a:off x="4635500" y="25654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9BA6B5"/>
                </a:solidFill>
                <a:latin typeface="Aptos" panose="020B0004020202020204" pitchFamily="34" charset="0"/>
              </a:rPr>
              <a:t>SatNOGS observations / 114 stations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B8533B-AF1A-ED2D-E2B5-83DFC9DCB7A1}"/>
              </a:ext>
            </a:extLst>
          </p:cNvPr>
          <p:cNvSpPr/>
          <p:nvPr/>
        </p:nvSpPr>
        <p:spPr>
          <a:xfrm>
            <a:off x="8178800" y="1701800"/>
            <a:ext cx="3429000" cy="14224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6F08E9-E20F-C7FC-FE62-AAF26590E927}"/>
              </a:ext>
            </a:extLst>
          </p:cNvPr>
          <p:cNvSpPr txBox="1"/>
          <p:nvPr/>
        </p:nvSpPr>
        <p:spPr>
          <a:xfrm>
            <a:off x="8432800" y="1955800"/>
            <a:ext cx="292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69929"/>
                </a:solidFill>
                <a:latin typeface="Aptos Display" panose="020B0004020202020204" pitchFamily="34" charset="0"/>
              </a:rPr>
              <a:t>17,155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629142-9A0E-3DD5-30CF-34962A0C5D6A}"/>
              </a:ext>
            </a:extLst>
          </p:cNvPr>
          <p:cNvSpPr txBox="1"/>
          <p:nvPr/>
        </p:nvSpPr>
        <p:spPr>
          <a:xfrm>
            <a:off x="8432800" y="25654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9BA6B5"/>
                </a:solidFill>
                <a:latin typeface="Aptos" panose="020B0004020202020204" pitchFamily="34" charset="0"/>
              </a:rPr>
              <a:t>decoded frames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0A2D2F-1B5F-08A8-8EC7-0DFA28E1574B}"/>
              </a:ext>
            </a:extLst>
          </p:cNvPr>
          <p:cNvSpPr txBox="1"/>
          <p:nvPr/>
        </p:nvSpPr>
        <p:spPr>
          <a:xfrm>
            <a:off x="609600" y="34798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ECF1F7"/>
                </a:solidFill>
                <a:latin typeface="Consolas" panose="020B0609020204030204" pitchFamily="49" charset="0"/>
              </a:rPr>
              <a:t>2026-07-07  to  2026-08-30 UTC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9D5A9-A415-6F01-216E-9A10DB833AD6}"/>
              </a:ext>
            </a:extLst>
          </p:cNvPr>
          <p:cNvSpPr txBox="1"/>
          <p:nvPr/>
        </p:nvSpPr>
        <p:spPr>
          <a:xfrm>
            <a:off x="609600" y="39116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9BA6B5"/>
                </a:solidFill>
                <a:latin typeface="Aptos" panose="020B0004020202020204" pitchFamily="34" charset="0"/>
              </a:rPr>
              <a:t>Daily decoded frame coverage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ECBDEB-B943-2BFE-1A6E-F2B5B5160F48}"/>
              </a:ext>
            </a:extLst>
          </p:cNvPr>
          <p:cNvSpPr/>
          <p:nvPr/>
        </p:nvSpPr>
        <p:spPr>
          <a:xfrm>
            <a:off x="609600" y="4787617"/>
            <a:ext cx="120650" cy="1181383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59F38F-A4D5-CC4F-5EAD-930F2F7A857C}"/>
              </a:ext>
            </a:extLst>
          </p:cNvPr>
          <p:cNvSpPr/>
          <p:nvPr/>
        </p:nvSpPr>
        <p:spPr>
          <a:xfrm>
            <a:off x="796290" y="5672029"/>
            <a:ext cx="120650" cy="29697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F9783B-48EA-9AD6-B352-82F13752D9EB}"/>
              </a:ext>
            </a:extLst>
          </p:cNvPr>
          <p:cNvSpPr/>
          <p:nvPr/>
        </p:nvSpPr>
        <p:spPr>
          <a:xfrm>
            <a:off x="982980" y="5373731"/>
            <a:ext cx="120650" cy="595269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B5DB1C-2A45-78A1-C5A7-26119CA345CB}"/>
              </a:ext>
            </a:extLst>
          </p:cNvPr>
          <p:cNvSpPr/>
          <p:nvPr/>
        </p:nvSpPr>
        <p:spPr>
          <a:xfrm>
            <a:off x="1169670" y="5546229"/>
            <a:ext cx="120650" cy="42277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76E4C9-BF7D-D009-D81D-A298AD01A8F9}"/>
              </a:ext>
            </a:extLst>
          </p:cNvPr>
          <p:cNvSpPr/>
          <p:nvPr/>
        </p:nvSpPr>
        <p:spPr>
          <a:xfrm>
            <a:off x="1356360" y="5722539"/>
            <a:ext cx="120650" cy="24646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2B0F13-8232-01E0-C84E-9C1582B59142}"/>
              </a:ext>
            </a:extLst>
          </p:cNvPr>
          <p:cNvSpPr/>
          <p:nvPr/>
        </p:nvSpPr>
        <p:spPr>
          <a:xfrm>
            <a:off x="1543050" y="5747318"/>
            <a:ext cx="120650" cy="221682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B5D1DA-C5A5-1E88-2906-E9A5AF757BCF}"/>
              </a:ext>
            </a:extLst>
          </p:cNvPr>
          <p:cNvSpPr/>
          <p:nvPr/>
        </p:nvSpPr>
        <p:spPr>
          <a:xfrm>
            <a:off x="1729740" y="4152900"/>
            <a:ext cx="120650" cy="1816100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6A983B-9AA4-3A1D-9981-7D40401C5C3F}"/>
              </a:ext>
            </a:extLst>
          </p:cNvPr>
          <p:cNvSpPr/>
          <p:nvPr/>
        </p:nvSpPr>
        <p:spPr>
          <a:xfrm>
            <a:off x="1916430" y="5490953"/>
            <a:ext cx="120650" cy="478047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EB4316-BA34-8ADA-4864-28BA64B51C54}"/>
              </a:ext>
            </a:extLst>
          </p:cNvPr>
          <p:cNvSpPr/>
          <p:nvPr/>
        </p:nvSpPr>
        <p:spPr>
          <a:xfrm>
            <a:off x="2103120" y="5689183"/>
            <a:ext cx="120650" cy="279817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79CE9E-DCE9-2E71-F645-E06620DD25D0}"/>
              </a:ext>
            </a:extLst>
          </p:cNvPr>
          <p:cNvSpPr/>
          <p:nvPr/>
        </p:nvSpPr>
        <p:spPr>
          <a:xfrm>
            <a:off x="2289810" y="5675841"/>
            <a:ext cx="120650" cy="293159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33784C-F168-1429-203C-9A5BF20B5B13}"/>
              </a:ext>
            </a:extLst>
          </p:cNvPr>
          <p:cNvSpPr/>
          <p:nvPr/>
        </p:nvSpPr>
        <p:spPr>
          <a:xfrm>
            <a:off x="2476500" y="4720906"/>
            <a:ext cx="120650" cy="124809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B955CF-AE33-855F-D515-EA7ADD31E93F}"/>
              </a:ext>
            </a:extLst>
          </p:cNvPr>
          <p:cNvSpPr/>
          <p:nvPr/>
        </p:nvSpPr>
        <p:spPr>
          <a:xfrm>
            <a:off x="2663190" y="5720633"/>
            <a:ext cx="120650" cy="248367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95848D-287C-2689-86AB-1EAFFE97902A}"/>
              </a:ext>
            </a:extLst>
          </p:cNvPr>
          <p:cNvSpPr/>
          <p:nvPr/>
        </p:nvSpPr>
        <p:spPr>
          <a:xfrm>
            <a:off x="2849880" y="5567196"/>
            <a:ext cx="120650" cy="40180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FB5B77-DEE9-8117-F77C-481543435C3F}"/>
              </a:ext>
            </a:extLst>
          </p:cNvPr>
          <p:cNvSpPr/>
          <p:nvPr/>
        </p:nvSpPr>
        <p:spPr>
          <a:xfrm>
            <a:off x="3036570" y="5402322"/>
            <a:ext cx="120650" cy="566678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C01E1C-41D8-11D8-69F1-29778872E044}"/>
              </a:ext>
            </a:extLst>
          </p:cNvPr>
          <p:cNvSpPr/>
          <p:nvPr/>
        </p:nvSpPr>
        <p:spPr>
          <a:xfrm>
            <a:off x="3223260" y="5542417"/>
            <a:ext cx="120650" cy="426583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5D102F-0725-859A-2E0E-CBA1E2D30AA2}"/>
              </a:ext>
            </a:extLst>
          </p:cNvPr>
          <p:cNvSpPr/>
          <p:nvPr/>
        </p:nvSpPr>
        <p:spPr>
          <a:xfrm>
            <a:off x="3409950" y="5612941"/>
            <a:ext cx="120650" cy="356059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443B1-8617-1D3E-FD7F-AA686191C789}"/>
              </a:ext>
            </a:extLst>
          </p:cNvPr>
          <p:cNvSpPr/>
          <p:nvPr/>
        </p:nvSpPr>
        <p:spPr>
          <a:xfrm>
            <a:off x="3596640" y="5613894"/>
            <a:ext cx="120650" cy="355106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62FCE7-3C53-A4CD-8A4E-158267A713D6}"/>
              </a:ext>
            </a:extLst>
          </p:cNvPr>
          <p:cNvSpPr/>
          <p:nvPr/>
        </p:nvSpPr>
        <p:spPr>
          <a:xfrm>
            <a:off x="3783330" y="5621518"/>
            <a:ext cx="120650" cy="347482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17ED9D-2CE9-A309-FF46-CA4693094BE6}"/>
              </a:ext>
            </a:extLst>
          </p:cNvPr>
          <p:cNvSpPr/>
          <p:nvPr/>
        </p:nvSpPr>
        <p:spPr>
          <a:xfrm>
            <a:off x="3970020" y="5592928"/>
            <a:ext cx="120650" cy="376072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E07CE8-2B33-27BF-CA9F-950A9D0605D2}"/>
              </a:ext>
            </a:extLst>
          </p:cNvPr>
          <p:cNvSpPr/>
          <p:nvPr/>
        </p:nvSpPr>
        <p:spPr>
          <a:xfrm>
            <a:off x="4156710" y="5756849"/>
            <a:ext cx="120650" cy="21215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13734B-5A26-DDC0-85A0-A51A597DC2F7}"/>
              </a:ext>
            </a:extLst>
          </p:cNvPr>
          <p:cNvSpPr/>
          <p:nvPr/>
        </p:nvSpPr>
        <p:spPr>
          <a:xfrm>
            <a:off x="4343400" y="5733976"/>
            <a:ext cx="120650" cy="23502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36E92E-D0F2-A4B6-50FE-6451F185C6D0}"/>
              </a:ext>
            </a:extLst>
          </p:cNvPr>
          <p:cNvSpPr/>
          <p:nvPr/>
        </p:nvSpPr>
        <p:spPr>
          <a:xfrm>
            <a:off x="4530090" y="5757802"/>
            <a:ext cx="120650" cy="211198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D272D3-FABB-A60A-6BE7-4B43324EC025}"/>
              </a:ext>
            </a:extLst>
          </p:cNvPr>
          <p:cNvSpPr/>
          <p:nvPr/>
        </p:nvSpPr>
        <p:spPr>
          <a:xfrm>
            <a:off x="4716780" y="5624378"/>
            <a:ext cx="120650" cy="344622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859710F-A105-80BE-95D9-858C52F36A34}"/>
              </a:ext>
            </a:extLst>
          </p:cNvPr>
          <p:cNvSpPr/>
          <p:nvPr/>
        </p:nvSpPr>
        <p:spPr>
          <a:xfrm>
            <a:off x="4903470" y="5738741"/>
            <a:ext cx="120650" cy="230259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FDF9596-7730-9DD5-78AA-86478C2CA00B}"/>
              </a:ext>
            </a:extLst>
          </p:cNvPr>
          <p:cNvSpPr/>
          <p:nvPr/>
        </p:nvSpPr>
        <p:spPr>
          <a:xfrm>
            <a:off x="5090160" y="5729211"/>
            <a:ext cx="120650" cy="239789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E6C040-1C15-C611-31F9-B66A66A7BC5B}"/>
              </a:ext>
            </a:extLst>
          </p:cNvPr>
          <p:cNvSpPr/>
          <p:nvPr/>
        </p:nvSpPr>
        <p:spPr>
          <a:xfrm>
            <a:off x="5276850" y="5608176"/>
            <a:ext cx="120650" cy="36082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8BAC25-1DC7-BB1B-9AFE-84B6504AF24B}"/>
              </a:ext>
            </a:extLst>
          </p:cNvPr>
          <p:cNvSpPr/>
          <p:nvPr/>
        </p:nvSpPr>
        <p:spPr>
          <a:xfrm>
            <a:off x="5463540" y="5690136"/>
            <a:ext cx="120650" cy="27886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13D93DE-44E2-6544-34D5-88717338BA07}"/>
              </a:ext>
            </a:extLst>
          </p:cNvPr>
          <p:cNvSpPr/>
          <p:nvPr/>
        </p:nvSpPr>
        <p:spPr>
          <a:xfrm>
            <a:off x="5650230" y="5807359"/>
            <a:ext cx="120650" cy="16164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16672F-127F-EE9F-A203-6DA59DC83A13}"/>
              </a:ext>
            </a:extLst>
          </p:cNvPr>
          <p:cNvSpPr/>
          <p:nvPr/>
        </p:nvSpPr>
        <p:spPr>
          <a:xfrm>
            <a:off x="5836920" y="5526215"/>
            <a:ext cx="120650" cy="442785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8E82CB-3BA2-D01C-9E96-F6C1E916AD61}"/>
              </a:ext>
            </a:extLst>
          </p:cNvPr>
          <p:cNvSpPr/>
          <p:nvPr/>
        </p:nvSpPr>
        <p:spPr>
          <a:xfrm>
            <a:off x="6023610" y="5535746"/>
            <a:ext cx="120650" cy="43325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3CEB5B-7CCC-E339-B823-73E2FD6AC25C}"/>
              </a:ext>
            </a:extLst>
          </p:cNvPr>
          <p:cNvSpPr/>
          <p:nvPr/>
        </p:nvSpPr>
        <p:spPr>
          <a:xfrm>
            <a:off x="6210300" y="5765426"/>
            <a:ext cx="120650" cy="20357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124D8B-0786-076B-DA14-4C16CCB45516}"/>
              </a:ext>
            </a:extLst>
          </p:cNvPr>
          <p:cNvSpPr/>
          <p:nvPr/>
        </p:nvSpPr>
        <p:spPr>
          <a:xfrm>
            <a:off x="6396990" y="5608176"/>
            <a:ext cx="120650" cy="36082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3C248D-4C2E-A7C8-8982-0EEC63F5A495}"/>
              </a:ext>
            </a:extLst>
          </p:cNvPr>
          <p:cNvSpPr/>
          <p:nvPr/>
        </p:nvSpPr>
        <p:spPr>
          <a:xfrm>
            <a:off x="6583680" y="5605317"/>
            <a:ext cx="120650" cy="363683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85AC33-BBB6-D5D8-5604-DC9FE8B383F5}"/>
              </a:ext>
            </a:extLst>
          </p:cNvPr>
          <p:cNvSpPr/>
          <p:nvPr/>
        </p:nvSpPr>
        <p:spPr>
          <a:xfrm>
            <a:off x="6770370" y="5707291"/>
            <a:ext cx="120650" cy="261709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95C8AC-105E-2A69-759A-F610BFD9641A}"/>
              </a:ext>
            </a:extLst>
          </p:cNvPr>
          <p:cNvSpPr/>
          <p:nvPr/>
        </p:nvSpPr>
        <p:spPr>
          <a:xfrm>
            <a:off x="6957060" y="5502390"/>
            <a:ext cx="120650" cy="466610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EA05D2A-E3D1-3096-6BFE-503281FA4B49}"/>
              </a:ext>
            </a:extLst>
          </p:cNvPr>
          <p:cNvSpPr/>
          <p:nvPr/>
        </p:nvSpPr>
        <p:spPr>
          <a:xfrm>
            <a:off x="7143750" y="5537652"/>
            <a:ext cx="120650" cy="431348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5276F6D-A614-C484-7071-5595C20BEA7B}"/>
              </a:ext>
            </a:extLst>
          </p:cNvPr>
          <p:cNvSpPr/>
          <p:nvPr/>
        </p:nvSpPr>
        <p:spPr>
          <a:xfrm>
            <a:off x="7330440" y="5592928"/>
            <a:ext cx="120650" cy="376072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C1B0285-BBF0-3DAA-322B-A4AB52DAE731}"/>
              </a:ext>
            </a:extLst>
          </p:cNvPr>
          <p:cNvSpPr/>
          <p:nvPr/>
        </p:nvSpPr>
        <p:spPr>
          <a:xfrm>
            <a:off x="7517130" y="5797829"/>
            <a:ext cx="120650" cy="17117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95696C-9049-F6F8-7A9D-C190553674F7}"/>
              </a:ext>
            </a:extLst>
          </p:cNvPr>
          <p:cNvSpPr/>
          <p:nvPr/>
        </p:nvSpPr>
        <p:spPr>
          <a:xfrm>
            <a:off x="7703820" y="5612941"/>
            <a:ext cx="120650" cy="356059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247C9CF-EB5E-454D-E3A7-DD92FB44A2A4}"/>
              </a:ext>
            </a:extLst>
          </p:cNvPr>
          <p:cNvSpPr/>
          <p:nvPr/>
        </p:nvSpPr>
        <p:spPr>
          <a:xfrm>
            <a:off x="7890510" y="5719680"/>
            <a:ext cx="120650" cy="249320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83B1EA-B56F-63DA-55B7-E7BF5B43F4C3}"/>
              </a:ext>
            </a:extLst>
          </p:cNvPr>
          <p:cNvSpPr/>
          <p:nvPr/>
        </p:nvSpPr>
        <p:spPr>
          <a:xfrm>
            <a:off x="8077200" y="5650109"/>
            <a:ext cx="120650" cy="31889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9190D7B-A27B-4EF8-1A69-4E00D112EE06}"/>
              </a:ext>
            </a:extLst>
          </p:cNvPr>
          <p:cNvSpPr/>
          <p:nvPr/>
        </p:nvSpPr>
        <p:spPr>
          <a:xfrm>
            <a:off x="8263890" y="5693949"/>
            <a:ext cx="120650" cy="27505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114F48E-B9BC-8FD3-54B4-AC2AC750C7FD}"/>
              </a:ext>
            </a:extLst>
          </p:cNvPr>
          <p:cNvSpPr/>
          <p:nvPr/>
        </p:nvSpPr>
        <p:spPr>
          <a:xfrm>
            <a:off x="8450580" y="5808312"/>
            <a:ext cx="120650" cy="160688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657F3E0-8F87-20EA-4E0E-45CFAACC0E40}"/>
              </a:ext>
            </a:extLst>
          </p:cNvPr>
          <p:cNvSpPr/>
          <p:nvPr/>
        </p:nvSpPr>
        <p:spPr>
          <a:xfrm>
            <a:off x="8637270" y="5784486"/>
            <a:ext cx="120650" cy="18451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B30F916-4014-9993-9CDF-5E5D857E1810}"/>
              </a:ext>
            </a:extLst>
          </p:cNvPr>
          <p:cNvSpPr/>
          <p:nvPr/>
        </p:nvSpPr>
        <p:spPr>
          <a:xfrm>
            <a:off x="8823960" y="5641532"/>
            <a:ext cx="120650" cy="327468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A2F3C97-9E9D-8630-2A08-344695ACD80A}"/>
              </a:ext>
            </a:extLst>
          </p:cNvPr>
          <p:cNvSpPr/>
          <p:nvPr/>
        </p:nvSpPr>
        <p:spPr>
          <a:xfrm>
            <a:off x="9010650" y="5522403"/>
            <a:ext cx="120650" cy="446597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626033-CC7F-6487-BDDD-37D440781490}"/>
              </a:ext>
            </a:extLst>
          </p:cNvPr>
          <p:cNvSpPr/>
          <p:nvPr/>
        </p:nvSpPr>
        <p:spPr>
          <a:xfrm>
            <a:off x="9197340" y="5639626"/>
            <a:ext cx="120650" cy="32937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E50CD13-101F-B304-CEDD-4F6D250C1516}"/>
              </a:ext>
            </a:extLst>
          </p:cNvPr>
          <p:cNvSpPr/>
          <p:nvPr/>
        </p:nvSpPr>
        <p:spPr>
          <a:xfrm>
            <a:off x="9384030" y="5671076"/>
            <a:ext cx="120650" cy="29792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5AC86B-1773-0452-9528-7D7CB8BCACE1}"/>
              </a:ext>
            </a:extLst>
          </p:cNvPr>
          <p:cNvSpPr/>
          <p:nvPr/>
        </p:nvSpPr>
        <p:spPr>
          <a:xfrm>
            <a:off x="9570720" y="5432818"/>
            <a:ext cx="120650" cy="536182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5F47FE6-FD4B-906F-C2B4-583613401EA0}"/>
              </a:ext>
            </a:extLst>
          </p:cNvPr>
          <p:cNvSpPr/>
          <p:nvPr/>
        </p:nvSpPr>
        <p:spPr>
          <a:xfrm>
            <a:off x="9757410" y="5609129"/>
            <a:ext cx="120650" cy="35987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EF49D9E-E661-10A5-8821-571B5A1E47B8}"/>
              </a:ext>
            </a:extLst>
          </p:cNvPr>
          <p:cNvSpPr/>
          <p:nvPr/>
        </p:nvSpPr>
        <p:spPr>
          <a:xfrm>
            <a:off x="9944100" y="5127849"/>
            <a:ext cx="120650" cy="84115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CA7EE5D-E68E-21B7-8E3C-8E73AFC3EAC4}"/>
              </a:ext>
            </a:extLst>
          </p:cNvPr>
          <p:cNvSpPr/>
          <p:nvPr/>
        </p:nvSpPr>
        <p:spPr>
          <a:xfrm>
            <a:off x="10130790" y="5444255"/>
            <a:ext cx="120650" cy="524745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493A803-61A9-213C-58DB-CE6B523AB248}"/>
              </a:ext>
            </a:extLst>
          </p:cNvPr>
          <p:cNvSpPr/>
          <p:nvPr/>
        </p:nvSpPr>
        <p:spPr>
          <a:xfrm>
            <a:off x="10317480" y="5652015"/>
            <a:ext cx="120650" cy="316985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2F238E0-3FC4-A305-AAAC-A1BB76B2E4DC}"/>
              </a:ext>
            </a:extLst>
          </p:cNvPr>
          <p:cNvSpPr/>
          <p:nvPr/>
        </p:nvSpPr>
        <p:spPr>
          <a:xfrm>
            <a:off x="10504170" y="5818796"/>
            <a:ext cx="120650" cy="150204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3B1F558-107C-B8C8-F2F5-D39057A315FF}"/>
              </a:ext>
            </a:extLst>
          </p:cNvPr>
          <p:cNvSpPr/>
          <p:nvPr/>
        </p:nvSpPr>
        <p:spPr>
          <a:xfrm>
            <a:off x="10690860" y="5650109"/>
            <a:ext cx="120650" cy="318891"/>
          </a:xfrm>
          <a:prstGeom prst="rect">
            <a:avLst/>
          </a:prstGeom>
          <a:solidFill>
            <a:srgbClr val="31A6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0AEE336-5512-2C7C-B20C-380B2DE017DF}"/>
              </a:ext>
            </a:extLst>
          </p:cNvPr>
          <p:cNvCxnSpPr/>
          <p:nvPr/>
        </p:nvCxnSpPr>
        <p:spPr>
          <a:xfrm>
            <a:off x="609600" y="5969000"/>
            <a:ext cx="108966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D6FC532-7EB3-C4F8-1C0C-1E61CDDAE40E}"/>
              </a:ext>
            </a:extLst>
          </p:cNvPr>
          <p:cNvSpPr txBox="1"/>
          <p:nvPr/>
        </p:nvSpPr>
        <p:spPr>
          <a:xfrm>
            <a:off x="609600" y="60960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JUL 07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4F62C3B-0134-CA1B-611D-2C1653382DB2}"/>
              </a:ext>
            </a:extLst>
          </p:cNvPr>
          <p:cNvSpPr txBox="1"/>
          <p:nvPr/>
        </p:nvSpPr>
        <p:spPr>
          <a:xfrm>
            <a:off x="5257800" y="60960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AUG 01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57935D-13E5-74A1-D286-8483735A8D7A}"/>
              </a:ext>
            </a:extLst>
          </p:cNvPr>
          <p:cNvSpPr txBox="1"/>
          <p:nvPr/>
        </p:nvSpPr>
        <p:spPr>
          <a:xfrm>
            <a:off x="10236200" y="60960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AUG 30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DD9BB7-A210-C2A6-005B-95094858F5DB}"/>
              </a:ext>
            </a:extLst>
          </p:cNvPr>
          <p:cNvSpPr txBox="1"/>
          <p:nvPr/>
        </p:nvSpPr>
        <p:spPr>
          <a:xfrm>
            <a:off x="609600" y="64516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69929"/>
                </a:solidFill>
                <a:latin typeface="Aptos" panose="020B0004020202020204" pitchFamily="34" charset="0"/>
              </a:rPr>
              <a:t>The 5-row audio table is a controlled end-to-end sample, not the full history.</a:t>
            </a:r>
          </a:p>
        </p:txBody>
      </p:sp>
    </p:spTree>
    <p:extLst>
      <p:ext uri="{BB962C8B-B14F-4D97-AF65-F5344CB8AC3E}">
        <p14:creationId xmlns:p14="http://schemas.microsoft.com/office/powerpoint/2010/main" val="1672253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06EB0-9C08-14AA-564F-56F5A951CADF}"/>
              </a:ext>
            </a:extLst>
          </p:cNvPr>
          <p:cNvSpPr txBox="1"/>
          <p:nvPr/>
        </p:nvSpPr>
        <p:spPr>
          <a:xfrm>
            <a:off x="533400" y="304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Aptos" panose="020B0004020202020204" pitchFamily="34" charset="0"/>
              </a:rPr>
              <a:t>KOYO BEACON 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B21F4-58A3-3546-925C-0F64DFBC3084}"/>
              </a:ext>
            </a:extLst>
          </p:cNvPr>
          <p:cNvSpPr txBox="1"/>
          <p:nvPr/>
        </p:nvSpPr>
        <p:spPr>
          <a:xfrm>
            <a:off x="5334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ECF1F7"/>
                </a:solidFill>
                <a:latin typeface="Aptos Display" panose="020B0004020202020204" pitchFamily="34" charset="0"/>
              </a:rPr>
              <a:t>GNU Radio Receive Flowgraph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691249-95AA-F2AA-4839-FEF725F0AEFC}"/>
              </a:ext>
            </a:extLst>
          </p:cNvPr>
          <p:cNvCxnSpPr/>
          <p:nvPr/>
        </p:nvCxnSpPr>
        <p:spPr>
          <a:xfrm>
            <a:off x="533400" y="1295400"/>
            <a:ext cx="111252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E01E686-5B87-AD1D-07B5-D41AF7B684E4}"/>
              </a:ext>
            </a:extLst>
          </p:cNvPr>
          <p:cNvSpPr txBox="1"/>
          <p:nvPr/>
        </p:nvSpPr>
        <p:spPr>
          <a:xfrm>
            <a:off x="11277600" y="64135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A2093F-FA39-5C1F-21CE-94061584FC52}"/>
              </a:ext>
            </a:extLst>
          </p:cNvPr>
          <p:cNvSpPr/>
          <p:nvPr/>
        </p:nvSpPr>
        <p:spPr>
          <a:xfrm>
            <a:off x="698500" y="2159000"/>
            <a:ext cx="2286000" cy="1473200"/>
          </a:xfrm>
          <a:prstGeom prst="rect">
            <a:avLst/>
          </a:prstGeom>
          <a:solidFill>
            <a:srgbClr val="191F29"/>
          </a:solidFill>
          <a:ln w="12700">
            <a:solidFill>
              <a:srgbClr val="31A6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06A77B-1412-83B8-7CA3-A1172BBA029B}"/>
              </a:ext>
            </a:extLst>
          </p:cNvPr>
          <p:cNvSpPr txBox="1"/>
          <p:nvPr/>
        </p:nvSpPr>
        <p:spPr>
          <a:xfrm>
            <a:off x="876300" y="24765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CF1F7"/>
                </a:solidFill>
                <a:latin typeface="Aptos" panose="020B0004020202020204" pitchFamily="34" charset="0"/>
              </a:rPr>
              <a:t>WAV File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EA8E4-04C0-5DD6-1077-AA591EB6BEC8}"/>
              </a:ext>
            </a:extLst>
          </p:cNvPr>
          <p:cNvSpPr txBox="1"/>
          <p:nvPr/>
        </p:nvSpPr>
        <p:spPr>
          <a:xfrm>
            <a:off x="876300" y="2946400"/>
            <a:ext cx="1930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48 kHz mono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A99E8C-E366-A39C-F7D4-15819F1D0AF4}"/>
              </a:ext>
            </a:extLst>
          </p:cNvPr>
          <p:cNvCxnSpPr/>
          <p:nvPr/>
        </p:nvCxnSpPr>
        <p:spPr>
          <a:xfrm>
            <a:off x="2984500" y="2895600"/>
            <a:ext cx="431800" cy="0"/>
          </a:xfrm>
          <a:prstGeom prst="line">
            <a:avLst/>
          </a:prstGeom>
          <a:ln w="25400">
            <a:solidFill>
              <a:srgbClr val="31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6D0C33C-0F36-6C94-F8D7-C69258049231}"/>
              </a:ext>
            </a:extLst>
          </p:cNvPr>
          <p:cNvSpPr txBox="1"/>
          <p:nvPr/>
        </p:nvSpPr>
        <p:spPr>
          <a:xfrm>
            <a:off x="3175000" y="2755900"/>
            <a:ext cx="17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1A6E8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8048-554B-8552-2514-DA022E273647}"/>
              </a:ext>
            </a:extLst>
          </p:cNvPr>
          <p:cNvSpPr/>
          <p:nvPr/>
        </p:nvSpPr>
        <p:spPr>
          <a:xfrm>
            <a:off x="3517900" y="2159000"/>
            <a:ext cx="2286000" cy="1473200"/>
          </a:xfrm>
          <a:prstGeom prst="rect">
            <a:avLst/>
          </a:prstGeom>
          <a:solidFill>
            <a:srgbClr val="191F29"/>
          </a:solidFill>
          <a:ln w="12700">
            <a:solidFill>
              <a:srgbClr val="31A6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F9E3B-86B6-E2E5-B7D8-59A6CC19AA29}"/>
              </a:ext>
            </a:extLst>
          </p:cNvPr>
          <p:cNvSpPr txBox="1"/>
          <p:nvPr/>
        </p:nvSpPr>
        <p:spPr>
          <a:xfrm>
            <a:off x="3695700" y="24765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CF1F7"/>
                </a:solidFill>
                <a:latin typeface="Aptos" panose="020B0004020202020204" pitchFamily="34" charset="0"/>
              </a:rPr>
              <a:t>FSK Demodulator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96A9F-8774-1911-4A82-CE0774513843}"/>
              </a:ext>
            </a:extLst>
          </p:cNvPr>
          <p:cNvSpPr txBox="1"/>
          <p:nvPr/>
        </p:nvSpPr>
        <p:spPr>
          <a:xfrm>
            <a:off x="3695700" y="2946400"/>
            <a:ext cx="1930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9600 baud / clk_bw 0.15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0675A8-4BCE-045F-0763-0EE9FDDBFE56}"/>
              </a:ext>
            </a:extLst>
          </p:cNvPr>
          <p:cNvCxnSpPr/>
          <p:nvPr/>
        </p:nvCxnSpPr>
        <p:spPr>
          <a:xfrm>
            <a:off x="5803900" y="2895600"/>
            <a:ext cx="431800" cy="0"/>
          </a:xfrm>
          <a:prstGeom prst="line">
            <a:avLst/>
          </a:prstGeom>
          <a:ln w="25400">
            <a:solidFill>
              <a:srgbClr val="31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BDCEE71-6169-B519-4D06-3BB10B38FE11}"/>
              </a:ext>
            </a:extLst>
          </p:cNvPr>
          <p:cNvSpPr txBox="1"/>
          <p:nvPr/>
        </p:nvSpPr>
        <p:spPr>
          <a:xfrm>
            <a:off x="5994400" y="2755900"/>
            <a:ext cx="17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1A6E8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B3AFB0-2584-A7E3-0FE8-FDAADBE44709}"/>
              </a:ext>
            </a:extLst>
          </p:cNvPr>
          <p:cNvSpPr/>
          <p:nvPr/>
        </p:nvSpPr>
        <p:spPr>
          <a:xfrm>
            <a:off x="6337300" y="2159000"/>
            <a:ext cx="2286000" cy="1473200"/>
          </a:xfrm>
          <a:prstGeom prst="rect">
            <a:avLst/>
          </a:prstGeom>
          <a:solidFill>
            <a:srgbClr val="191F29"/>
          </a:solidFill>
          <a:ln w="12700">
            <a:solidFill>
              <a:srgbClr val="31CC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860E2-AA47-E171-394C-95698B5C877E}"/>
              </a:ext>
            </a:extLst>
          </p:cNvPr>
          <p:cNvSpPr txBox="1"/>
          <p:nvPr/>
        </p:nvSpPr>
        <p:spPr>
          <a:xfrm>
            <a:off x="6515100" y="24765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CF1F7"/>
                </a:solidFill>
                <a:latin typeface="Aptos" panose="020B0004020202020204" pitchFamily="34" charset="0"/>
              </a:rPr>
              <a:t>AX.25 Deframer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6EA86-04BD-417A-435F-0F499C1BE4D6}"/>
              </a:ext>
            </a:extLst>
          </p:cNvPr>
          <p:cNvSpPr txBox="1"/>
          <p:nvPr/>
        </p:nvSpPr>
        <p:spPr>
          <a:xfrm>
            <a:off x="6515100" y="2946400"/>
            <a:ext cx="1930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NRZI + G3RUH + HDLC + CRC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D71694-4896-70F5-84D3-19829852414F}"/>
              </a:ext>
            </a:extLst>
          </p:cNvPr>
          <p:cNvCxnSpPr/>
          <p:nvPr/>
        </p:nvCxnSpPr>
        <p:spPr>
          <a:xfrm>
            <a:off x="8623300" y="2895600"/>
            <a:ext cx="431800" cy="0"/>
          </a:xfrm>
          <a:prstGeom prst="line">
            <a:avLst/>
          </a:prstGeom>
          <a:ln w="25400">
            <a:solidFill>
              <a:srgbClr val="31A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FE67F-DB39-8385-8C67-09F623BF68D7}"/>
              </a:ext>
            </a:extLst>
          </p:cNvPr>
          <p:cNvSpPr txBox="1"/>
          <p:nvPr/>
        </p:nvSpPr>
        <p:spPr>
          <a:xfrm>
            <a:off x="8813800" y="2755900"/>
            <a:ext cx="17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1A6E8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CC9A9B-2DD7-1DAF-86A0-AE6B013046AB}"/>
              </a:ext>
            </a:extLst>
          </p:cNvPr>
          <p:cNvSpPr/>
          <p:nvPr/>
        </p:nvSpPr>
        <p:spPr>
          <a:xfrm>
            <a:off x="9156700" y="2159000"/>
            <a:ext cx="2286000" cy="1473200"/>
          </a:xfrm>
          <a:prstGeom prst="rect">
            <a:avLst/>
          </a:prstGeom>
          <a:solidFill>
            <a:srgbClr val="191F29"/>
          </a:solidFill>
          <a:ln w="12700">
            <a:solidFill>
              <a:srgbClr val="31A6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E53CFD-A03A-BCE8-B627-90BA20EC03C5}"/>
              </a:ext>
            </a:extLst>
          </p:cNvPr>
          <p:cNvSpPr txBox="1"/>
          <p:nvPr/>
        </p:nvSpPr>
        <p:spPr>
          <a:xfrm>
            <a:off x="9334500" y="2476500"/>
            <a:ext cx="1930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CF1F7"/>
                </a:solidFill>
                <a:latin typeface="Aptos" panose="020B0004020202020204" pitchFamily="34" charset="0"/>
              </a:rPr>
              <a:t>KISS File Sink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ABC045-A082-9DB1-7337-C02A4A8F67B8}"/>
              </a:ext>
            </a:extLst>
          </p:cNvPr>
          <p:cNvSpPr txBox="1"/>
          <p:nvPr/>
        </p:nvSpPr>
        <p:spPr>
          <a:xfrm>
            <a:off x="9334500" y="2946400"/>
            <a:ext cx="1930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validated frame 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0EFFAE-BF7C-4612-1A08-FE8A963B6C0B}"/>
              </a:ext>
            </a:extLst>
          </p:cNvPr>
          <p:cNvSpPr txBox="1"/>
          <p:nvPr/>
        </p:nvSpPr>
        <p:spPr>
          <a:xfrm>
            <a:off x="711200" y="41402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31A6E8"/>
                </a:solidFill>
                <a:latin typeface="Aptos" panose="020B0004020202020204" pitchFamily="34" charset="0"/>
              </a:rPr>
              <a:t>Editable flowgraph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A16C75-C570-67EB-51A5-9B5B0ED96299}"/>
              </a:ext>
            </a:extLst>
          </p:cNvPr>
          <p:cNvSpPr txBox="1"/>
          <p:nvPr/>
        </p:nvSpPr>
        <p:spPr>
          <a:xfrm>
            <a:off x="711200" y="4470400"/>
            <a:ext cx="533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700">
                <a:solidFill>
                  <a:srgbClr val="ECF1F7"/>
                </a:solidFill>
                <a:latin typeface="Consolas" panose="020B0609020204030204" pitchFamily="49" charset="0"/>
              </a:rPr>
              <a:t>gnuradio/koyo_audio_rx.grc</a:t>
            </a:r>
            <a:endParaRPr lang="en-US" sz="1700">
              <a:solidFill>
                <a:srgbClr val="ECF1F7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F825BD-B6CF-E9C7-9DD7-8F795792CF3A}"/>
              </a:ext>
            </a:extLst>
          </p:cNvPr>
          <p:cNvSpPr txBox="1"/>
          <p:nvPr/>
        </p:nvSpPr>
        <p:spPr>
          <a:xfrm>
            <a:off x="711200" y="5156200"/>
            <a:ext cx="10731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CF1F7"/>
                </a:solidFill>
                <a:latin typeface="Aptos" panose="020B0004020202020204" pitchFamily="34" charset="0"/>
              </a:rPr>
              <a:t>Observed malformed or short PDUs stay diagnostic. Only CRC-valid 263-byte KOYO frames reach telemetry decoding.</a:t>
            </a:r>
          </a:p>
        </p:txBody>
      </p:sp>
    </p:spTree>
    <p:extLst>
      <p:ext uri="{BB962C8B-B14F-4D97-AF65-F5344CB8AC3E}">
        <p14:creationId xmlns:p14="http://schemas.microsoft.com/office/powerpoint/2010/main" val="191226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F5FFF-AF7D-BEEC-C538-7B59A9C75673}"/>
              </a:ext>
            </a:extLst>
          </p:cNvPr>
          <p:cNvSpPr txBox="1"/>
          <p:nvPr/>
        </p:nvSpPr>
        <p:spPr>
          <a:xfrm>
            <a:off x="533400" y="304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Aptos" panose="020B0004020202020204" pitchFamily="34" charset="0"/>
              </a:rPr>
              <a:t>KOYO BEACON 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D5109-F718-CE4B-3AE3-1EF9B422123A}"/>
              </a:ext>
            </a:extLst>
          </p:cNvPr>
          <p:cNvSpPr txBox="1"/>
          <p:nvPr/>
        </p:nvSpPr>
        <p:spPr>
          <a:xfrm>
            <a:off x="5334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ECF1F7"/>
                </a:solidFill>
                <a:latin typeface="Aptos Display" panose="020B0004020202020204" pitchFamily="34" charset="0"/>
              </a:rPr>
              <a:t>GNU Radio Companion - Actual Flowgraph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998E31-DCA2-8101-554D-82ECE5BF8C6E}"/>
              </a:ext>
            </a:extLst>
          </p:cNvPr>
          <p:cNvCxnSpPr/>
          <p:nvPr/>
        </p:nvCxnSpPr>
        <p:spPr>
          <a:xfrm>
            <a:off x="533400" y="1295400"/>
            <a:ext cx="111252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B6A0054-13D7-32AA-50B2-DF0D92393C23}"/>
              </a:ext>
            </a:extLst>
          </p:cNvPr>
          <p:cNvSpPr txBox="1"/>
          <p:nvPr/>
        </p:nvSpPr>
        <p:spPr>
          <a:xfrm>
            <a:off x="11277600" y="64135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FA2B01-F2A9-64DB-5E2C-0EDAD2AD5A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74800"/>
            <a:ext cx="11125200" cy="4597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BBDABB-BEE7-33F9-5A4E-42E4EDB7979C}"/>
              </a:ext>
            </a:extLst>
          </p:cNvPr>
          <p:cNvSpPr txBox="1"/>
          <p:nvPr/>
        </p:nvSpPr>
        <p:spPr>
          <a:xfrm>
            <a:off x="558800" y="63500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9BA6B5"/>
                </a:solidFill>
                <a:latin typeface="Aptos" panose="020B0004020202020204" pitchFamily="34" charset="0"/>
              </a:rPr>
              <a:t>Captured from the installed radioconda GNU Radio Companion; the same .grc compiled and produced a byte-exact control match.</a:t>
            </a:r>
          </a:p>
        </p:txBody>
      </p:sp>
    </p:spTree>
    <p:extLst>
      <p:ext uri="{BB962C8B-B14F-4D97-AF65-F5344CB8AC3E}">
        <p14:creationId xmlns:p14="http://schemas.microsoft.com/office/powerpoint/2010/main" val="418905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0284ED-D292-6E7B-7F88-D119CEDDF4D6}"/>
              </a:ext>
            </a:extLst>
          </p:cNvPr>
          <p:cNvSpPr txBox="1"/>
          <p:nvPr/>
        </p:nvSpPr>
        <p:spPr>
          <a:xfrm>
            <a:off x="533400" y="304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Aptos" panose="020B0004020202020204" pitchFamily="34" charset="0"/>
              </a:rPr>
              <a:t>KOYO BEACON 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ACBB2-00A8-4241-1CAB-1E44FE8BFAA0}"/>
              </a:ext>
            </a:extLst>
          </p:cNvPr>
          <p:cNvSpPr txBox="1"/>
          <p:nvPr/>
        </p:nvSpPr>
        <p:spPr>
          <a:xfrm>
            <a:off x="5334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ECF1F7"/>
                </a:solidFill>
                <a:latin typeface="Aptos Display" panose="020B0004020202020204" pitchFamily="34" charset="0"/>
              </a:rPr>
              <a:t>Audio Validation Across Stations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F7BC6D-1EFE-8AF6-1C4B-5F4C45E56CB1}"/>
              </a:ext>
            </a:extLst>
          </p:cNvPr>
          <p:cNvCxnSpPr/>
          <p:nvPr/>
        </p:nvCxnSpPr>
        <p:spPr>
          <a:xfrm>
            <a:off x="533400" y="1295400"/>
            <a:ext cx="111252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8024C9-6A31-43C7-5840-625D94FBAE97}"/>
              </a:ext>
            </a:extLst>
          </p:cNvPr>
          <p:cNvSpPr txBox="1"/>
          <p:nvPr/>
        </p:nvSpPr>
        <p:spPr>
          <a:xfrm>
            <a:off x="11277600" y="64135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64633-52F6-7AA6-896E-8A8CE7F8685E}"/>
              </a:ext>
            </a:extLst>
          </p:cNvPr>
          <p:cNvSpPr txBox="1"/>
          <p:nvPr/>
        </p:nvSpPr>
        <p:spPr>
          <a:xfrm>
            <a:off x="635000" y="17780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BA6B5"/>
                </a:solidFill>
                <a:latin typeface="Consolas" panose="020B0609020204030204" pitchFamily="49" charset="0"/>
              </a:rPr>
              <a:t>OBSERVATION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2C9A9-32E2-DB25-54A6-6F51EBC9C546}"/>
              </a:ext>
            </a:extLst>
          </p:cNvPr>
          <p:cNvSpPr txBox="1"/>
          <p:nvPr/>
        </p:nvSpPr>
        <p:spPr>
          <a:xfrm>
            <a:off x="2794000" y="17780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BA6B5"/>
                </a:solidFill>
                <a:latin typeface="Consolas" panose="020B0609020204030204" pitchFamily="49" charset="0"/>
              </a:rPr>
              <a:t>STATION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99E02-1316-D330-83B5-734867EBF25B}"/>
              </a:ext>
            </a:extLst>
          </p:cNvPr>
          <p:cNvSpPr txBox="1"/>
          <p:nvPr/>
        </p:nvSpPr>
        <p:spPr>
          <a:xfrm>
            <a:off x="5778500" y="17780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BA6B5"/>
                </a:solidFill>
                <a:latin typeface="Consolas" panose="020B0609020204030204" pitchFamily="49" charset="0"/>
              </a:rPr>
              <a:t>OFFICIAL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B0B8E-1D45-503C-B569-6276FFD41FC6}"/>
              </a:ext>
            </a:extLst>
          </p:cNvPr>
          <p:cNvSpPr txBox="1"/>
          <p:nvPr/>
        </p:nvSpPr>
        <p:spPr>
          <a:xfrm>
            <a:off x="6985000" y="17780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BA6B5"/>
                </a:solidFill>
                <a:latin typeface="Consolas" panose="020B0609020204030204" pitchFamily="49" charset="0"/>
              </a:rPr>
              <a:t>LOCAL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E9C6A-1474-7AC3-B7E8-FD479EF7202B}"/>
              </a:ext>
            </a:extLst>
          </p:cNvPr>
          <p:cNvSpPr txBox="1"/>
          <p:nvPr/>
        </p:nvSpPr>
        <p:spPr>
          <a:xfrm>
            <a:off x="7937500" y="17780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BA6B5"/>
                </a:solidFill>
                <a:latin typeface="Consolas" panose="020B0609020204030204" pitchFamily="49" charset="0"/>
              </a:rPr>
              <a:t>EXACT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7A63E8-47C7-2312-D9BC-CB0C5C50F997}"/>
              </a:ext>
            </a:extLst>
          </p:cNvPr>
          <p:cNvSpPr txBox="1"/>
          <p:nvPr/>
        </p:nvSpPr>
        <p:spPr>
          <a:xfrm>
            <a:off x="8953500" y="17780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BA6B5"/>
                </a:solidFill>
                <a:latin typeface="Consolas" panose="020B0609020204030204" pitchFamily="49" charset="0"/>
              </a:rPr>
              <a:t>RECOVERY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132C5C-CE6B-B5F2-D22B-8699BC6AF839}"/>
              </a:ext>
            </a:extLst>
          </p:cNvPr>
          <p:cNvSpPr txBox="1"/>
          <p:nvPr/>
        </p:nvSpPr>
        <p:spPr>
          <a:xfrm>
            <a:off x="10414000" y="17780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BA6B5"/>
                </a:solidFill>
                <a:latin typeface="Consolas" panose="020B0609020204030204" pitchFamily="49" charset="0"/>
              </a:rPr>
              <a:t>RESULT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DD297F-14A4-F6E0-57BB-C09785C48765}"/>
              </a:ext>
            </a:extLst>
          </p:cNvPr>
          <p:cNvCxnSpPr/>
          <p:nvPr/>
        </p:nvCxnSpPr>
        <p:spPr>
          <a:xfrm>
            <a:off x="609600" y="2082800"/>
            <a:ext cx="109474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E3C8BF2-8107-204E-ABB2-266B1038D225}"/>
              </a:ext>
            </a:extLst>
          </p:cNvPr>
          <p:cNvSpPr/>
          <p:nvPr/>
        </p:nvSpPr>
        <p:spPr>
          <a:xfrm>
            <a:off x="584200" y="2222500"/>
            <a:ext cx="11023600" cy="533400"/>
          </a:xfrm>
          <a:prstGeom prst="rect">
            <a:avLst/>
          </a:prstGeom>
          <a:solidFill>
            <a:srgbClr val="12171F"/>
          </a:solidFill>
          <a:ln w="12700">
            <a:solidFill>
              <a:srgbClr val="1217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6DF46-DFB3-B2D7-1806-FB5FFD20A937}"/>
              </a:ext>
            </a:extLst>
          </p:cNvPr>
          <p:cNvSpPr txBox="1"/>
          <p:nvPr/>
        </p:nvSpPr>
        <p:spPr>
          <a:xfrm>
            <a:off x="635000" y="2336800"/>
            <a:ext cx="184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14526577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D77FD1-DF40-B732-32A1-47FD34580D9D}"/>
              </a:ext>
            </a:extLst>
          </p:cNvPr>
          <p:cNvSpPr txBox="1"/>
          <p:nvPr/>
        </p:nvSpPr>
        <p:spPr>
          <a:xfrm>
            <a:off x="2794000" y="23368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Aptos" panose="020B0004020202020204" pitchFamily="34" charset="0"/>
              </a:rPr>
              <a:t>MAUSyagi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05B11-E547-4E07-38F2-A6034C4884AE}"/>
              </a:ext>
            </a:extLst>
          </p:cNvPr>
          <p:cNvSpPr txBox="1"/>
          <p:nvPr/>
        </p:nvSpPr>
        <p:spPr>
          <a:xfrm>
            <a:off x="5778500" y="23368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71773B-804D-2670-D553-F46A801C8405}"/>
              </a:ext>
            </a:extLst>
          </p:cNvPr>
          <p:cNvSpPr txBox="1"/>
          <p:nvPr/>
        </p:nvSpPr>
        <p:spPr>
          <a:xfrm>
            <a:off x="6985000" y="23368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A6E8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819090-CDC6-6068-6886-FD988ABFCF27}"/>
              </a:ext>
            </a:extLst>
          </p:cNvPr>
          <p:cNvSpPr txBox="1"/>
          <p:nvPr/>
        </p:nvSpPr>
        <p:spPr>
          <a:xfrm>
            <a:off x="7937500" y="23368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69929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19AAE-6A04-BC16-B78B-A6E0ECD871E2}"/>
              </a:ext>
            </a:extLst>
          </p:cNvPr>
          <p:cNvSpPr txBox="1"/>
          <p:nvPr/>
        </p:nvSpPr>
        <p:spPr>
          <a:xfrm>
            <a:off x="8953500" y="23368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ECF1F7"/>
                </a:solidFill>
                <a:latin typeface="Consolas" panose="020B0609020204030204" pitchFamily="49" charset="0"/>
              </a:rPr>
              <a:t>2.9%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8F680A-6748-A4F4-7782-BFCEC6ADE1E5}"/>
              </a:ext>
            </a:extLst>
          </p:cNvPr>
          <p:cNvSpPr txBox="1"/>
          <p:nvPr/>
        </p:nvSpPr>
        <p:spPr>
          <a:xfrm>
            <a:off x="10414000" y="23368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CC70"/>
                </a:solidFill>
                <a:latin typeface="Consolas" panose="020B0609020204030204" pitchFamily="49" charset="0"/>
              </a:rPr>
              <a:t>PASS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2F658E-8247-B32A-0591-C0AACD7B92B4}"/>
              </a:ext>
            </a:extLst>
          </p:cNvPr>
          <p:cNvSpPr txBox="1"/>
          <p:nvPr/>
        </p:nvSpPr>
        <p:spPr>
          <a:xfrm>
            <a:off x="635000" y="3022600"/>
            <a:ext cx="184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14637273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959C01-96B7-95A5-1B96-8321D66B5036}"/>
              </a:ext>
            </a:extLst>
          </p:cNvPr>
          <p:cNvSpPr txBox="1"/>
          <p:nvPr/>
        </p:nvSpPr>
        <p:spPr>
          <a:xfrm>
            <a:off x="2794000" y="30226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Aptos" panose="020B0004020202020204" pitchFamily="34" charset="0"/>
              </a:rPr>
              <a:t>EA3AGB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6D3CF3-5DBB-A151-057E-21AEF4D9772B}"/>
              </a:ext>
            </a:extLst>
          </p:cNvPr>
          <p:cNvSpPr txBox="1"/>
          <p:nvPr/>
        </p:nvSpPr>
        <p:spPr>
          <a:xfrm>
            <a:off x="5778500" y="30226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C7C21B-93B5-8E14-612B-552B2D3B8825}"/>
              </a:ext>
            </a:extLst>
          </p:cNvPr>
          <p:cNvSpPr txBox="1"/>
          <p:nvPr/>
        </p:nvSpPr>
        <p:spPr>
          <a:xfrm>
            <a:off x="6985000" y="30226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A6E8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7053BA-91D3-1A25-DD37-8C8D0AC5F4C2}"/>
              </a:ext>
            </a:extLst>
          </p:cNvPr>
          <p:cNvSpPr txBox="1"/>
          <p:nvPr/>
        </p:nvSpPr>
        <p:spPr>
          <a:xfrm>
            <a:off x="7937500" y="30226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69929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88DDD-5054-191C-1F48-39B57384D0FA}"/>
              </a:ext>
            </a:extLst>
          </p:cNvPr>
          <p:cNvSpPr txBox="1"/>
          <p:nvPr/>
        </p:nvSpPr>
        <p:spPr>
          <a:xfrm>
            <a:off x="8953500" y="30226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ECF1F7"/>
                </a:solidFill>
                <a:latin typeface="Consolas" panose="020B0609020204030204" pitchFamily="49" charset="0"/>
              </a:rPr>
              <a:t>33.3%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AD4E7E-D881-5EB7-8508-51DA4A598356}"/>
              </a:ext>
            </a:extLst>
          </p:cNvPr>
          <p:cNvSpPr txBox="1"/>
          <p:nvPr/>
        </p:nvSpPr>
        <p:spPr>
          <a:xfrm>
            <a:off x="10414000" y="30226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CC70"/>
                </a:solidFill>
                <a:latin typeface="Consolas" panose="020B0609020204030204" pitchFamily="49" charset="0"/>
              </a:rPr>
              <a:t>PASS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786667-94D3-FDE5-86EB-CBC411B60481}"/>
              </a:ext>
            </a:extLst>
          </p:cNvPr>
          <p:cNvSpPr/>
          <p:nvPr/>
        </p:nvSpPr>
        <p:spPr>
          <a:xfrm>
            <a:off x="584200" y="3594100"/>
            <a:ext cx="11023600" cy="533400"/>
          </a:xfrm>
          <a:prstGeom prst="rect">
            <a:avLst/>
          </a:prstGeom>
          <a:solidFill>
            <a:srgbClr val="12171F"/>
          </a:solidFill>
          <a:ln w="12700">
            <a:solidFill>
              <a:srgbClr val="1217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A961F7-6702-5F38-8060-BE42E1C1CB5D}"/>
              </a:ext>
            </a:extLst>
          </p:cNvPr>
          <p:cNvSpPr txBox="1"/>
          <p:nvPr/>
        </p:nvSpPr>
        <p:spPr>
          <a:xfrm>
            <a:off x="635000" y="3708400"/>
            <a:ext cx="184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14909294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B317DB-860D-4F29-E312-C5B370495BD4}"/>
              </a:ext>
            </a:extLst>
          </p:cNvPr>
          <p:cNvSpPr txBox="1"/>
          <p:nvPr/>
        </p:nvSpPr>
        <p:spPr>
          <a:xfrm>
            <a:off x="2794000" y="37084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Aptos" panose="020B0004020202020204" pitchFamily="34" charset="0"/>
              </a:rPr>
              <a:t>MAUSyagi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3BD55D-E6DC-F155-51A9-CC0F0D3328B3}"/>
              </a:ext>
            </a:extLst>
          </p:cNvPr>
          <p:cNvSpPr txBox="1"/>
          <p:nvPr/>
        </p:nvSpPr>
        <p:spPr>
          <a:xfrm>
            <a:off x="5778500" y="37084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31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DB8786-A4DE-6D61-F4E8-FEAABFBDB314}"/>
              </a:ext>
            </a:extLst>
          </p:cNvPr>
          <p:cNvSpPr txBox="1"/>
          <p:nvPr/>
        </p:nvSpPr>
        <p:spPr>
          <a:xfrm>
            <a:off x="6985000" y="37084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A6E8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3A8F2A-EC27-7210-A28B-0E9B5BC2A3E8}"/>
              </a:ext>
            </a:extLst>
          </p:cNvPr>
          <p:cNvSpPr txBox="1"/>
          <p:nvPr/>
        </p:nvSpPr>
        <p:spPr>
          <a:xfrm>
            <a:off x="7937500" y="37084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69929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990F69-AE9E-FCF2-BE94-8656D3F08D25}"/>
              </a:ext>
            </a:extLst>
          </p:cNvPr>
          <p:cNvSpPr txBox="1"/>
          <p:nvPr/>
        </p:nvSpPr>
        <p:spPr>
          <a:xfrm>
            <a:off x="8953500" y="37084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ECF1F7"/>
                </a:solidFill>
                <a:latin typeface="Consolas" panose="020B0609020204030204" pitchFamily="49" charset="0"/>
              </a:rPr>
              <a:t>45.2%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B55FB-D075-6BD6-94CE-ED901ABF52D1}"/>
              </a:ext>
            </a:extLst>
          </p:cNvPr>
          <p:cNvSpPr txBox="1"/>
          <p:nvPr/>
        </p:nvSpPr>
        <p:spPr>
          <a:xfrm>
            <a:off x="10414000" y="37084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CC70"/>
                </a:solidFill>
                <a:latin typeface="Consolas" panose="020B0609020204030204" pitchFamily="49" charset="0"/>
              </a:rPr>
              <a:t>PASS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F75775-86F2-7956-48BB-FAF0E63D6B25}"/>
              </a:ext>
            </a:extLst>
          </p:cNvPr>
          <p:cNvSpPr txBox="1"/>
          <p:nvPr/>
        </p:nvSpPr>
        <p:spPr>
          <a:xfrm>
            <a:off x="635000" y="4394200"/>
            <a:ext cx="184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14909617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1FA272-40DE-4546-9077-E38EA8C3C623}"/>
              </a:ext>
            </a:extLst>
          </p:cNvPr>
          <p:cNvSpPr txBox="1"/>
          <p:nvPr/>
        </p:nvSpPr>
        <p:spPr>
          <a:xfrm>
            <a:off x="2794000" y="43942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Aptos" panose="020B0004020202020204" pitchFamily="34" charset="0"/>
              </a:rPr>
              <a:t>W6MSU UHF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FE310-6D0C-8C9D-01AB-AD1B8BF6BD67}"/>
              </a:ext>
            </a:extLst>
          </p:cNvPr>
          <p:cNvSpPr txBox="1"/>
          <p:nvPr/>
        </p:nvSpPr>
        <p:spPr>
          <a:xfrm>
            <a:off x="5778500" y="43942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D5EFE4-A721-8928-8F39-00AD18321C42}"/>
              </a:ext>
            </a:extLst>
          </p:cNvPr>
          <p:cNvSpPr txBox="1"/>
          <p:nvPr/>
        </p:nvSpPr>
        <p:spPr>
          <a:xfrm>
            <a:off x="6985000" y="43942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A6E8"/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78ED9C-D33A-1DCE-E52A-4EA0553C5B1B}"/>
              </a:ext>
            </a:extLst>
          </p:cNvPr>
          <p:cNvSpPr txBox="1"/>
          <p:nvPr/>
        </p:nvSpPr>
        <p:spPr>
          <a:xfrm>
            <a:off x="7937500" y="43942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69929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B28D0F-CDAF-AE29-96EE-6AEA65F1D2FE}"/>
              </a:ext>
            </a:extLst>
          </p:cNvPr>
          <p:cNvSpPr txBox="1"/>
          <p:nvPr/>
        </p:nvSpPr>
        <p:spPr>
          <a:xfrm>
            <a:off x="8953500" y="43942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ECF1F7"/>
                </a:solidFill>
                <a:latin typeface="Consolas" panose="020B0609020204030204" pitchFamily="49" charset="0"/>
              </a:rPr>
              <a:t>75.0%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678EAD-3071-BF33-DAD5-B350C4C1BC2D}"/>
              </a:ext>
            </a:extLst>
          </p:cNvPr>
          <p:cNvSpPr txBox="1"/>
          <p:nvPr/>
        </p:nvSpPr>
        <p:spPr>
          <a:xfrm>
            <a:off x="10414000" y="43942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CC70"/>
                </a:solidFill>
                <a:latin typeface="Consolas" panose="020B0609020204030204" pitchFamily="49" charset="0"/>
              </a:rPr>
              <a:t>PASS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590D18-1B1A-B189-E729-C7A0C2E2D578}"/>
              </a:ext>
            </a:extLst>
          </p:cNvPr>
          <p:cNvSpPr/>
          <p:nvPr/>
        </p:nvSpPr>
        <p:spPr>
          <a:xfrm>
            <a:off x="584200" y="4965700"/>
            <a:ext cx="11023600" cy="533400"/>
          </a:xfrm>
          <a:prstGeom prst="rect">
            <a:avLst/>
          </a:prstGeom>
          <a:solidFill>
            <a:srgbClr val="12171F"/>
          </a:solidFill>
          <a:ln w="12700">
            <a:solidFill>
              <a:srgbClr val="1217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3A5A84-13C9-4578-4593-4A60C3026356}"/>
              </a:ext>
            </a:extLst>
          </p:cNvPr>
          <p:cNvSpPr txBox="1"/>
          <p:nvPr/>
        </p:nvSpPr>
        <p:spPr>
          <a:xfrm>
            <a:off x="635000" y="5080000"/>
            <a:ext cx="184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14909703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F721DF-9EE0-03BF-02DE-EEBC1125D053}"/>
              </a:ext>
            </a:extLst>
          </p:cNvPr>
          <p:cNvSpPr txBox="1"/>
          <p:nvPr/>
        </p:nvSpPr>
        <p:spPr>
          <a:xfrm>
            <a:off x="2794000" y="50800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Aptos" panose="020B0004020202020204" pitchFamily="34" charset="0"/>
              </a:rPr>
              <a:t>MAUSyagi-AK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E924CC-F6F6-19A8-DA2A-9B304DD5F7A3}"/>
              </a:ext>
            </a:extLst>
          </p:cNvPr>
          <p:cNvSpPr txBox="1"/>
          <p:nvPr/>
        </p:nvSpPr>
        <p:spPr>
          <a:xfrm>
            <a:off x="5778500" y="50800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ECF1F7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F8F802-FAFD-F2AA-04A7-69EF54E0FE6A}"/>
              </a:ext>
            </a:extLst>
          </p:cNvPr>
          <p:cNvSpPr txBox="1"/>
          <p:nvPr/>
        </p:nvSpPr>
        <p:spPr>
          <a:xfrm>
            <a:off x="6985000" y="50800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A6E8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D81080-75D5-FF5C-744D-13EF75F36D91}"/>
              </a:ext>
            </a:extLst>
          </p:cNvPr>
          <p:cNvSpPr txBox="1"/>
          <p:nvPr/>
        </p:nvSpPr>
        <p:spPr>
          <a:xfrm>
            <a:off x="7937500" y="50800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69929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500026-6F73-1972-63E2-48653F9361F5}"/>
              </a:ext>
            </a:extLst>
          </p:cNvPr>
          <p:cNvSpPr txBox="1"/>
          <p:nvPr/>
        </p:nvSpPr>
        <p:spPr>
          <a:xfrm>
            <a:off x="8953500" y="50800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ECF1F7"/>
                </a:solidFill>
                <a:latin typeface="Consolas" panose="020B0609020204030204" pitchFamily="49" charset="0"/>
              </a:rPr>
              <a:t>100.0%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F52192-2A9E-72E6-03D0-349B3AC21943}"/>
              </a:ext>
            </a:extLst>
          </p:cNvPr>
          <p:cNvSpPr txBox="1"/>
          <p:nvPr/>
        </p:nvSpPr>
        <p:spPr>
          <a:xfrm>
            <a:off x="10414000" y="50800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1CC70"/>
                </a:solidFill>
                <a:latin typeface="Consolas" panose="020B0609020204030204" pitchFamily="49" charset="0"/>
              </a:rPr>
              <a:t>PASS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F300A4-C3D1-A18F-024D-4A7A9EEFF71C}"/>
              </a:ext>
            </a:extLst>
          </p:cNvPr>
          <p:cNvSpPr txBox="1"/>
          <p:nvPr/>
        </p:nvSpPr>
        <p:spPr>
          <a:xfrm>
            <a:off x="635000" y="57150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69929"/>
                </a:solidFill>
                <a:latin typeface="Aptos" panose="020B0004020202020204" pitchFamily="34" charset="0"/>
              </a:rPr>
              <a:t>Overall exact recovery: 20 / 74 = 27%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D6EBD3-0ACA-A6B3-A6DB-BBA744B1AE4A}"/>
              </a:ext>
            </a:extLst>
          </p:cNvPr>
          <p:cNvSpPr txBox="1"/>
          <p:nvPr/>
        </p:nvSpPr>
        <p:spPr>
          <a:xfrm>
            <a:off x="635000" y="6070600"/>
            <a:ext cx="1066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9BA6B5"/>
                </a:solidFill>
                <a:latin typeface="Aptos" panose="020B0004020202020204" pitchFamily="34" charset="0"/>
              </a:rPr>
              <a:t>Not decoded = not recovered from OGG by current settings, or rejected diagnostic PDU; it does not automatically mean an invalid spacecraft frame.</a:t>
            </a:r>
          </a:p>
        </p:txBody>
      </p:sp>
    </p:spTree>
    <p:extLst>
      <p:ext uri="{BB962C8B-B14F-4D97-AF65-F5344CB8AC3E}">
        <p14:creationId xmlns:p14="http://schemas.microsoft.com/office/powerpoint/2010/main" val="320090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21C1AA-49AE-C6B0-1094-BB6CB3284164}"/>
              </a:ext>
            </a:extLst>
          </p:cNvPr>
          <p:cNvSpPr txBox="1"/>
          <p:nvPr/>
        </p:nvSpPr>
        <p:spPr>
          <a:xfrm>
            <a:off x="533400" y="304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Aptos" panose="020B0004020202020204" pitchFamily="34" charset="0"/>
              </a:rPr>
              <a:t>KOYO BEACON 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780C8-378F-DA82-DE37-B8F6CCB0FBE4}"/>
              </a:ext>
            </a:extLst>
          </p:cNvPr>
          <p:cNvSpPr txBox="1"/>
          <p:nvPr/>
        </p:nvSpPr>
        <p:spPr>
          <a:xfrm>
            <a:off x="5334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ECF1F7"/>
                </a:solidFill>
                <a:latin typeface="Aptos Display" panose="020B0004020202020204" pitchFamily="34" charset="0"/>
              </a:rPr>
              <a:t>Operational Dashboard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357790-19DD-F2AF-EB2C-81199175627F}"/>
              </a:ext>
            </a:extLst>
          </p:cNvPr>
          <p:cNvCxnSpPr/>
          <p:nvPr/>
        </p:nvCxnSpPr>
        <p:spPr>
          <a:xfrm>
            <a:off x="533400" y="1295400"/>
            <a:ext cx="111252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09A7BB-E676-2492-0FF3-B6AD19F78737}"/>
              </a:ext>
            </a:extLst>
          </p:cNvPr>
          <p:cNvSpPr txBox="1"/>
          <p:nvPr/>
        </p:nvSpPr>
        <p:spPr>
          <a:xfrm>
            <a:off x="11277600" y="64135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07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152D4-A28D-DA57-59BE-AFD3948C13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74800"/>
            <a:ext cx="11125200" cy="4673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02E7C9-7975-2C9A-4786-8E29C8BF82E3}"/>
              </a:ext>
            </a:extLst>
          </p:cNvPr>
          <p:cNvSpPr txBox="1"/>
          <p:nvPr/>
        </p:nvSpPr>
        <p:spPr>
          <a:xfrm>
            <a:off x="558800" y="6375400"/>
            <a:ext cx="1079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9BA6B5"/>
                </a:solidFill>
                <a:latin typeface="Aptos" panose="020B0004020202020204" pitchFamily="34" charset="0"/>
              </a:rPr>
              <a:t>43 panels  |  decoder status + raw HEX  |  confirmed, candidate, and NOT DECODED states remain explicit</a:t>
            </a:r>
          </a:p>
        </p:txBody>
      </p:sp>
    </p:spTree>
    <p:extLst>
      <p:ext uri="{BB962C8B-B14F-4D97-AF65-F5344CB8AC3E}">
        <p14:creationId xmlns:p14="http://schemas.microsoft.com/office/powerpoint/2010/main" val="1674160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01FD0E-1598-64BC-67C9-0D6F51EAD629}"/>
              </a:ext>
            </a:extLst>
          </p:cNvPr>
          <p:cNvSpPr txBox="1"/>
          <p:nvPr/>
        </p:nvSpPr>
        <p:spPr>
          <a:xfrm>
            <a:off x="533400" y="304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Aptos" panose="020B0004020202020204" pitchFamily="34" charset="0"/>
              </a:rPr>
              <a:t>KOYO BEACON DECODER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27B2E-5F5F-B664-0A6D-EC0A0BD5CD2F}"/>
              </a:ext>
            </a:extLst>
          </p:cNvPr>
          <p:cNvSpPr txBox="1"/>
          <p:nvPr/>
        </p:nvSpPr>
        <p:spPr>
          <a:xfrm>
            <a:off x="5334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ECF1F7"/>
                </a:solidFill>
                <a:latin typeface="Aptos Display" panose="020B0004020202020204" pitchFamily="34" charset="0"/>
              </a:rPr>
              <a:t>Morning Demo and Next Step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224862-F18E-AE7F-ECF4-A7087E7C398F}"/>
              </a:ext>
            </a:extLst>
          </p:cNvPr>
          <p:cNvCxnSpPr/>
          <p:nvPr/>
        </p:nvCxnSpPr>
        <p:spPr>
          <a:xfrm>
            <a:off x="533400" y="1295400"/>
            <a:ext cx="11125200" cy="0"/>
          </a:xfrm>
          <a:prstGeom prst="line">
            <a:avLst/>
          </a:prstGeom>
          <a:ln w="12700">
            <a:solidFill>
              <a:srgbClr val="313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685FE5-F04F-47EE-E232-E393CD051691}"/>
              </a:ext>
            </a:extLst>
          </p:cNvPr>
          <p:cNvSpPr txBox="1"/>
          <p:nvPr/>
        </p:nvSpPr>
        <p:spPr>
          <a:xfrm>
            <a:off x="11277600" y="64135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9BA6B5"/>
                </a:solidFill>
                <a:latin typeface="Consolas" panose="020B0609020204030204" pitchFamily="49" charset="0"/>
              </a:rPr>
              <a:t>08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3910C-CD00-295F-0C0E-783CF55368FD}"/>
              </a:ext>
            </a:extLst>
          </p:cNvPr>
          <p:cNvSpPr txBox="1"/>
          <p:nvPr/>
        </p:nvSpPr>
        <p:spPr>
          <a:xfrm>
            <a:off x="609600" y="1727200"/>
            <a:ext cx="317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1A6E8"/>
                </a:solidFill>
                <a:latin typeface="Consolas" panose="020B0609020204030204" pitchFamily="49" charset="0"/>
              </a:rPr>
              <a:t>ONE-COMMAND DEMO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41EB0-88DB-8745-671E-CBEA4314C513}"/>
              </a:ext>
            </a:extLst>
          </p:cNvPr>
          <p:cNvSpPr/>
          <p:nvPr/>
        </p:nvSpPr>
        <p:spPr>
          <a:xfrm>
            <a:off x="584200" y="2108200"/>
            <a:ext cx="11023600" cy="838200"/>
          </a:xfrm>
          <a:prstGeom prst="rect">
            <a:avLst/>
          </a:prstGeom>
          <a:solidFill>
            <a:srgbClr val="12171F"/>
          </a:solidFill>
          <a:ln w="12700">
            <a:solidFill>
              <a:srgbClr val="313B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B65E2-66B9-40A4-8763-F39C048F5F62}"/>
              </a:ext>
            </a:extLst>
          </p:cNvPr>
          <p:cNvSpPr txBox="1"/>
          <p:nvPr/>
        </p:nvSpPr>
        <p:spPr>
          <a:xfrm>
            <a:off x="838200" y="2387600"/>
            <a:ext cx="1051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CF1F7"/>
                </a:solidFill>
                <a:latin typeface="Consolas" panose="020B0609020204030204" pitchFamily="49" charset="0"/>
              </a:rPr>
              <a:t>powershell -ExecutionPolicy Bypass -File .\\local-stack\\live_refresh.ps1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0CEFA-9D46-2ABC-07FC-86EE72AA9EE1}"/>
              </a:ext>
            </a:extLst>
          </p:cNvPr>
          <p:cNvSpPr txBox="1"/>
          <p:nvPr/>
        </p:nvSpPr>
        <p:spPr>
          <a:xfrm>
            <a:off x="609600" y="347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ECF1F7"/>
                </a:solidFill>
                <a:latin typeface="Aptos" panose="020B0004020202020204" pitchFamily="34" charset="0"/>
              </a:rPr>
              <a:t>What it demonstrates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929E2-6AE3-E66B-032F-70B5005C51B0}"/>
              </a:ext>
            </a:extLst>
          </p:cNvPr>
          <p:cNvSpPr txBox="1"/>
          <p:nvPr/>
        </p:nvSpPr>
        <p:spPr>
          <a:xfrm>
            <a:off x="711200" y="3987800"/>
            <a:ext cx="5207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ECF1F7"/>
                </a:solidFill>
                <a:latin typeface="Aptos" panose="020B0004020202020204" pitchFamily="34" charset="0"/>
              </a:rPr>
              <a:t>1. Fetch newest uploaded SatNOGS OGG
2. Decode locally with GNU Radio
3. Keep CRC-valid 263-byte frames
4. Push telemetry to InfluxDB and Grafana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33A02-DE7D-AAB7-9BB6-A6F2992D2EEE}"/>
              </a:ext>
            </a:extLst>
          </p:cNvPr>
          <p:cNvSpPr txBox="1"/>
          <p:nvPr/>
        </p:nvSpPr>
        <p:spPr>
          <a:xfrm>
            <a:off x="6553200" y="347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ECF1F7"/>
                </a:solidFill>
                <a:latin typeface="Aptos" panose="020B0004020202020204" pitchFamily="34" charset="0"/>
              </a:rPr>
              <a:t>Current boundary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9EAA9A-4B5C-C22F-E196-37619E31ED4E}"/>
              </a:ext>
            </a:extLst>
          </p:cNvPr>
          <p:cNvSpPr txBox="1"/>
          <p:nvPr/>
        </p:nvSpPr>
        <p:spPr>
          <a:xfrm>
            <a:off x="6654800" y="3987800"/>
            <a:ext cx="4699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ECF1F7"/>
                </a:solidFill>
                <a:latin typeface="Aptos" panose="020B0004020202020204" pitchFamily="34" charset="0"/>
              </a:rPr>
              <a:t>SatNOGS is store-and-forward.
Unconfirmed engineering mappings stay candidate.
Next: validate remaining fields against an authorized reference.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D84A3-853B-980F-E53B-6FA248B24E2D}"/>
              </a:ext>
            </a:extLst>
          </p:cNvPr>
          <p:cNvSpPr txBox="1"/>
          <p:nvPr/>
        </p:nvSpPr>
        <p:spPr>
          <a:xfrm>
            <a:off x="609600" y="5892800"/>
            <a:ext cx="1066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31CC70"/>
                </a:solidFill>
                <a:latin typeface="Aptos" panose="020B0004020202020204" pitchFamily="34" charset="0"/>
              </a:rPr>
              <a:t>Result: reproducible audio-to-dashboard chain with traceable validation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574367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Custom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Thitsanapat S</dc:creator>
  <cp:lastModifiedBy>Thitsanapat S</cp:lastModifiedBy>
  <cp:revision>1</cp:revision>
  <dcterms:created xsi:type="dcterms:W3CDTF">2026-08-30T21:59:18Z</dcterms:created>
  <dcterms:modified xsi:type="dcterms:W3CDTF">2026-08-30T21:59:18Z</dcterms:modified>
</cp:coreProperties>
</file>