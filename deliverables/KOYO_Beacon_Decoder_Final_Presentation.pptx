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7" d="100"/>
          <a:sy n="47" d="100"/>
        </p:scale>
        <p:origin x="1027"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B91B4A-FDA4-4095-A658-18650CFB65A4}" type="datetimeFigureOut">
              <a:rPr lang="en-US" smtClean="0"/>
              <a:t>8/31/2026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32EA52-7DCD-4D83-BB6B-07BF28EEB216}" type="slidenum">
              <a:rPr lang="en-US" smtClean="0"/>
              <a:t>‹#›</a:t>
            </a:fld>
            <a:endParaRPr lang="en-US"/>
          </a:p>
        </p:txBody>
      </p:sp>
    </p:spTree>
    <p:extLst>
      <p:ext uri="{BB962C8B-B14F-4D97-AF65-F5344CB8AC3E}">
        <p14:creationId xmlns:p14="http://schemas.microsoft.com/office/powerpoint/2010/main" val="4213505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สวัสดีครับ วันนี้ผมจะนำเสนอโปรเจกต์ </a:t>
            </a:r>
            <a:r>
              <a:rPr lang="en-US"/>
              <a:t>KOYO Beacon Decoder </a:t>
            </a:r>
            <a:r>
              <a:rPr lang="th-TH"/>
              <a:t>งานนี้มีเป้าหมายคือรับไฟล์เสียงสัญญาณดาวเทียมจาก </a:t>
            </a:r>
            <a:r>
              <a:rPr lang="en-US"/>
              <a:t>SatNOGS </a:t>
            </a:r>
            <a:r>
              <a:rPr lang="th-TH"/>
              <a:t>แล้วถอดสัญญาณด้วย </a:t>
            </a:r>
            <a:r>
              <a:rPr lang="en-US"/>
              <a:t>GNU Radio </a:t>
            </a:r>
            <a:r>
              <a:rPr lang="th-TH"/>
              <a:t>ของเราเองจนได้เฟรมที่ตรวจ </a:t>
            </a:r>
            <a:r>
              <a:rPr lang="en-US"/>
              <a:t>CRC </a:t>
            </a:r>
            <a:r>
              <a:rPr lang="th-TH"/>
              <a:t>ผ่าน จากนั้นจึงแปลงข้อมูลเป็น </a:t>
            </a:r>
            <a:r>
              <a:rPr lang="en-US"/>
              <a:t>telemetry </a:t>
            </a:r>
            <a:r>
              <a:rPr lang="th-TH"/>
              <a:t>และแสดงผลใน </a:t>
            </a:r>
            <a:r>
              <a:rPr lang="en-US"/>
              <a:t>Grafana </a:t>
            </a:r>
            <a:r>
              <a:rPr lang="th-TH"/>
              <a:t>ผลหลักคือ </a:t>
            </a:r>
            <a:r>
              <a:rPr lang="en-US"/>
              <a:t>observation </a:t>
            </a:r>
            <a:r>
              <a:rPr lang="th-TH"/>
              <a:t>ที่เลือกทดสอบทั้งห้ารายการผ่านเกณฑ์ มีเฟรม </a:t>
            </a:r>
            <a:r>
              <a:rPr lang="en-US"/>
              <a:t>KOYO </a:t>
            </a:r>
            <a:r>
              <a:rPr lang="th-TH"/>
              <a:t>ที่ถูกต้องจากการถอดเสียงในเครื่อง 22 เฟรม และตรงกับ </a:t>
            </a:r>
            <a:r>
              <a:rPr lang="en-US"/>
              <a:t>control frame </a:t>
            </a:r>
            <a:r>
              <a:rPr lang="th-TH"/>
              <a:t>ของ </a:t>
            </a:r>
            <a:r>
              <a:rPr lang="en-US"/>
              <a:t>SatNOGS </a:t>
            </a:r>
            <a:r>
              <a:rPr lang="th-TH"/>
              <a:t>แบบ </a:t>
            </a:r>
            <a:r>
              <a:rPr lang="en-US"/>
              <a:t>byte-for-byte 20 </a:t>
            </a:r>
            <a:r>
              <a:rPr lang="th-TH"/>
              <a:t>เฟรม สิ่งสำคัญคือผมแยกให้ชัดระหว่างข้อมูลที่ยืนยันแล้ว ข้อมูล </a:t>
            </a:r>
            <a:r>
              <a:rPr lang="en-US"/>
              <a:t>candidate </a:t>
            </a:r>
            <a:r>
              <a:rPr lang="th-TH"/>
              <a:t>และข้อมูลที่ยัง </a:t>
            </a:r>
            <a:r>
              <a:rPr lang="en-US"/>
              <a:t>NOT DECODED </a:t>
            </a:r>
            <a:r>
              <a:rPr lang="th-TH"/>
              <a:t>เพื่อไม่สร้างค่าที่ไม่มีหลักฐาน
### </a:t>
            </a:r>
            <a:r>
              <a:rPr lang="en-US"/>
              <a:t>English backup
Good morning. This project implements a KOYO beacon decoder from SatNOGS audio to operational telemetry. The recording is demodulated locally with GNU Radio, checked as G3RUH AX.25, filtered to CRC-valid KOYO frames, decoded, and displayed in Grafana. All five selected observations passed the strict test. The local pipeline produced 22 valid KOYO frames, including 20 byte-exact matches against SatNOGS control frames. Confirmed, candidate, and not-decoded fields are kept explicitly separate.
### Key result
`5/5 PASS | 22 valid local frames | 20 byte-exact matches`</a:t>
            </a:r>
          </a:p>
        </p:txBody>
      </p:sp>
      <p:sp>
        <p:nvSpPr>
          <p:cNvPr id="4" name="Slide Number Placeholder 3"/>
          <p:cNvSpPr>
            <a:spLocks noGrp="1"/>
          </p:cNvSpPr>
          <p:nvPr>
            <p:ph type="sldNum" sz="quarter" idx="5"/>
          </p:nvPr>
        </p:nvSpPr>
        <p:spPr/>
        <p:txBody>
          <a:bodyPr/>
          <a:lstStyle/>
          <a:p>
            <a:fld id="{BA32EA52-7DCD-4D83-BB6B-07BF28EEB216}" type="slidenum">
              <a:rPr lang="en-US" smtClean="0"/>
              <a:t>1</a:t>
            </a:fld>
            <a:endParaRPr lang="en-US"/>
          </a:p>
        </p:txBody>
      </p:sp>
    </p:spTree>
    <p:extLst>
      <p:ext uri="{BB962C8B-B14F-4D97-AF65-F5344CB8AC3E}">
        <p14:creationId xmlns:p14="http://schemas.microsoft.com/office/powerpoint/2010/main" val="20173014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ปัญหาที่ต้องแก้มีสามส่วนครับ หนึ่ง ต้องพิสูจน์ว่าเราเริ่มจากเสียง </a:t>
            </a:r>
            <a:r>
              <a:rPr lang="en-US"/>
              <a:t>OGG </a:t>
            </a:r>
            <a:r>
              <a:rPr lang="th-TH"/>
              <a:t>จริง ไม่ได้เอา </a:t>
            </a:r>
            <a:r>
              <a:rPr lang="en-US"/>
              <a:t>HEX </a:t>
            </a:r>
            <a:r>
              <a:rPr lang="th-TH"/>
              <a:t>ที่ </a:t>
            </a:r>
            <a:r>
              <a:rPr lang="en-US"/>
              <a:t>SatNOGS </a:t>
            </a:r>
            <a:r>
              <a:rPr lang="th-TH"/>
              <a:t>ถอดไว้แล้วมาแสดงอย่างเดียว สอง ต้องมีหลักฐานว่าเฟรมที่เราถอดได้ถูกต้อง จึงใช้การเปรียบเทียบแบบ </a:t>
            </a:r>
            <a:r>
              <a:rPr lang="en-US"/>
              <a:t>byte-exact </a:t>
            </a:r>
            <a:r>
              <a:rPr lang="th-TH"/>
              <a:t>กับ </a:t>
            </a:r>
            <a:r>
              <a:rPr lang="en-US"/>
              <a:t>control </a:t>
            </a:r>
            <a:r>
              <a:rPr lang="th-TH"/>
              <a:t>ของ </a:t>
            </a:r>
            <a:r>
              <a:rPr lang="en-US"/>
              <a:t>observation </a:t>
            </a:r>
            <a:r>
              <a:rPr lang="th-TH"/>
              <a:t>เดียวกัน สาม ต้องนำผลไปใช้งานต่อได้ผ่าน </a:t>
            </a:r>
            <a:r>
              <a:rPr lang="en-US"/>
              <a:t>dashboard </a:t>
            </a:r>
            <a:r>
              <a:rPr lang="th-TH"/>
              <a:t>เกณฑ์ </a:t>
            </a:r>
            <a:r>
              <a:rPr lang="en-US"/>
              <a:t>PASS </a:t>
            </a:r>
            <a:r>
              <a:rPr lang="th-TH"/>
              <a:t>ของแต่ละ </a:t>
            </a:r>
            <a:r>
              <a:rPr lang="en-US"/>
              <a:t>observation </a:t>
            </a:r>
            <a:r>
              <a:rPr lang="th-TH"/>
              <a:t>จึงกำหนดว่าต้องได้อย่างน้อยหนึ่งเฟรม </a:t>
            </a:r>
            <a:r>
              <a:rPr lang="en-US"/>
              <a:t>KOYO </a:t>
            </a:r>
            <a:r>
              <a:rPr lang="th-TH"/>
              <a:t>ความยาว 263 </a:t>
            </a:r>
            <a:r>
              <a:rPr lang="en-US"/>
              <a:t>bytes </a:t>
            </a:r>
            <a:r>
              <a:rPr lang="th-TH"/>
              <a:t>ที่ผ่าน </a:t>
            </a:r>
            <a:r>
              <a:rPr lang="en-US"/>
              <a:t>CRC </a:t>
            </a:r>
            <a:r>
              <a:rPr lang="th-TH"/>
              <a:t>และต้องมีอย่างน้อยหนึ่งเฟรมตรงกับ </a:t>
            </a:r>
            <a:r>
              <a:rPr lang="en-US"/>
              <a:t>control </a:t>
            </a:r>
            <a:r>
              <a:rPr lang="th-TH"/>
              <a:t>ทุก </a:t>
            </a:r>
            <a:r>
              <a:rPr lang="en-US"/>
              <a:t>byte </a:t>
            </a:r>
            <a:r>
              <a:rPr lang="th-TH"/>
              <a:t>ผลส่งมอบคือ </a:t>
            </a:r>
            <a:r>
              <a:rPr lang="en-US"/>
              <a:t>GNU Radio flowgraph, </a:t>
            </a:r>
            <a:r>
              <a:rPr lang="th-TH"/>
              <a:t>คำสั่งเดโมเส้นทางเดียว, ตาราง </a:t>
            </a:r>
            <a:r>
              <a:rPr lang="en-US"/>
              <a:t>validation, historical coverage </a:t>
            </a:r>
            <a:r>
              <a:rPr lang="th-TH"/>
              <a:t>และ </a:t>
            </a:r>
            <a:r>
              <a:rPr lang="en-US"/>
              <a:t>full telemetry dashboard
### English backup
The project has three acceptance goals. First, prove that the decoder starts from OGG audio rather than pre-decoded HEX. Second, verify correctness with a byte-exact control from the same observation. Third, make the output operational through a dashboard. An observation passes only when the local chain produces at least one CRC-valid 263-byte KOYO frame and at least one byte-exact control match. The deliverables are the GNU Radio flowgraph, one-command demo, validation evidence, historical coverage, and the telemetry dashboard.
### Key result
The success criterion is reproducible and stricter than visual similarity.</a:t>
            </a:r>
          </a:p>
        </p:txBody>
      </p:sp>
      <p:sp>
        <p:nvSpPr>
          <p:cNvPr id="4" name="Slide Number Placeholder 3"/>
          <p:cNvSpPr>
            <a:spLocks noGrp="1"/>
          </p:cNvSpPr>
          <p:nvPr>
            <p:ph type="sldNum" sz="quarter" idx="5"/>
          </p:nvPr>
        </p:nvSpPr>
        <p:spPr/>
        <p:txBody>
          <a:bodyPr/>
          <a:lstStyle/>
          <a:p>
            <a:fld id="{BA32EA52-7DCD-4D83-BB6B-07BF28EEB216}" type="slidenum">
              <a:rPr lang="en-US" smtClean="0"/>
              <a:t>2</a:t>
            </a:fld>
            <a:endParaRPr lang="en-US"/>
          </a:p>
        </p:txBody>
      </p:sp>
    </p:spTree>
    <p:extLst>
      <p:ext uri="{BB962C8B-B14F-4D97-AF65-F5344CB8AC3E}">
        <p14:creationId xmlns:p14="http://schemas.microsoft.com/office/powerpoint/2010/main" val="1951703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สไลด์นี้อธิบายคำหลักเพื่อให้เห็นภาพรวมครับ </a:t>
            </a:r>
            <a:r>
              <a:rPr lang="en-US"/>
              <a:t>Beacon </a:t>
            </a:r>
            <a:r>
              <a:rPr lang="th-TH"/>
              <a:t>คือข้อความสั้นที่ดาวเทียมส่งสถานะเป็นระยะ </a:t>
            </a:r>
            <a:r>
              <a:rPr lang="en-US"/>
              <a:t>OGG </a:t>
            </a:r>
            <a:r>
              <a:rPr lang="th-TH"/>
              <a:t>คือเสียงที่สถานีภาคพื้นบันทึกไว้ </a:t>
            </a:r>
            <a:r>
              <a:rPr lang="en-US"/>
              <a:t>Demodulation </a:t>
            </a:r>
            <a:r>
              <a:rPr lang="th-TH"/>
              <a:t>คือการเปลี่ยนเสียง </a:t>
            </a:r>
            <a:r>
              <a:rPr lang="en-US"/>
              <a:t>FSK </a:t>
            </a:r>
            <a:r>
              <a:rPr lang="th-TH"/>
              <a:t>กลับเป็นบิต </a:t>
            </a:r>
            <a:r>
              <a:rPr lang="en-US"/>
              <a:t>AX.25 </a:t>
            </a:r>
            <a:r>
              <a:rPr lang="th-TH"/>
              <a:t>หรือ </a:t>
            </a:r>
            <a:r>
              <a:rPr lang="en-US"/>
              <a:t>HDLC </a:t>
            </a:r>
            <a:r>
              <a:rPr lang="th-TH"/>
              <a:t>คือรูปแบบเฟรมที่กำหนดขอบเขต ที่อยู่ และ </a:t>
            </a:r>
            <a:r>
              <a:rPr lang="en-US"/>
              <a:t>CRC </a:t>
            </a:r>
            <a:r>
              <a:rPr lang="th-TH"/>
              <a:t>ส่วน </a:t>
            </a:r>
            <a:r>
              <a:rPr lang="en-US"/>
              <a:t>telemetry decoder </a:t>
            </a:r>
            <a:r>
              <a:rPr lang="th-TH"/>
              <a:t>คือการแปล </a:t>
            </a:r>
            <a:r>
              <a:rPr lang="en-US"/>
              <a:t>payload bytes </a:t>
            </a:r>
            <a:r>
              <a:rPr lang="th-TH"/>
              <a:t>เป็นเวลา อุณหภูมิ </a:t>
            </a:r>
            <a:r>
              <a:rPr lang="en-US"/>
              <a:t>counter </a:t>
            </a:r>
            <a:r>
              <a:rPr lang="th-TH"/>
              <a:t>และสถานะต่าง ๆ สุดท้าย </a:t>
            </a:r>
            <a:r>
              <a:rPr lang="en-US"/>
              <a:t>dashboard </a:t>
            </a:r>
            <a:r>
              <a:rPr lang="th-TH"/>
              <a:t>ไม่ได้เป็นตัว </a:t>
            </a:r>
            <a:r>
              <a:rPr lang="en-US"/>
              <a:t>decoder </a:t>
            </a:r>
            <a:r>
              <a:rPr lang="th-TH"/>
              <a:t>แต่เป็นชั้นแสดงผล ดังนั้นถ้าเสียงยังถอดไม่ได้ </a:t>
            </a:r>
            <a:r>
              <a:rPr lang="en-US"/>
              <a:t>dashboard </a:t>
            </a:r>
            <a:r>
              <a:rPr lang="th-TH"/>
              <a:t>ก็ไม่ควรแสดงค่าปลอม ความเข้าใจนี้เป็นเหตุผลที่ระบบแยกทุกขั้นและเก็บผลลัพธ์ตรวจสอบได้
### </a:t>
            </a:r>
            <a:r>
              <a:rPr lang="en-US"/>
              <a:t>English backup
A beacon is a periodic spacecraft status message. OGG is the recorded ground-station audio. Demodulation converts FSK audio back into bits. AX.25 and HDLC define frame boundaries, addressing, and CRC. The telemetry decoder interprets payload bytes as time, temperatures, counters, and status values. Grafana is only the presentation layer; it must never create telemetry that the upstream decoder did not produce.
### Key result
Audio decoding and telemetry visualization are separate responsibilities.</a:t>
            </a:r>
          </a:p>
        </p:txBody>
      </p:sp>
      <p:sp>
        <p:nvSpPr>
          <p:cNvPr id="4" name="Slide Number Placeholder 3"/>
          <p:cNvSpPr>
            <a:spLocks noGrp="1"/>
          </p:cNvSpPr>
          <p:nvPr>
            <p:ph type="sldNum" sz="quarter" idx="5"/>
          </p:nvPr>
        </p:nvSpPr>
        <p:spPr/>
        <p:txBody>
          <a:bodyPr/>
          <a:lstStyle/>
          <a:p>
            <a:fld id="{BA32EA52-7DCD-4D83-BB6B-07BF28EEB216}" type="slidenum">
              <a:rPr lang="en-US" smtClean="0"/>
              <a:t>3</a:t>
            </a:fld>
            <a:endParaRPr lang="en-US"/>
          </a:p>
        </p:txBody>
      </p:sp>
    </p:spTree>
    <p:extLst>
      <p:ext uri="{BB962C8B-B14F-4D97-AF65-F5344CB8AC3E}">
        <p14:creationId xmlns:p14="http://schemas.microsoft.com/office/powerpoint/2010/main" val="29089076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เส้นทางข้อมูลมีหกขั้นครับ เริ่มจากดาวน์โหลด </a:t>
            </a:r>
            <a:r>
              <a:rPr lang="en-US"/>
              <a:t>SatNOGS OGG </a:t>
            </a:r>
            <a:r>
              <a:rPr lang="th-TH"/>
              <a:t>พร้อม </a:t>
            </a:r>
            <a:r>
              <a:rPr lang="en-US"/>
              <a:t>metadata </a:t>
            </a:r>
            <a:r>
              <a:rPr lang="th-TH"/>
              <a:t>ของ </a:t>
            </a:r>
            <a:r>
              <a:rPr lang="en-US"/>
              <a:t>observation </a:t>
            </a:r>
            <a:r>
              <a:rPr lang="th-TH"/>
              <a:t>จากนั้นแปลงเป็น </a:t>
            </a:r>
            <a:r>
              <a:rPr lang="en-US"/>
              <a:t>mono PCM WAV </a:t>
            </a:r>
            <a:r>
              <a:rPr lang="th-TH"/>
              <a:t>ที่ 48 </a:t>
            </a:r>
            <a:r>
              <a:rPr lang="en-US"/>
              <a:t>kilohertz </a:t>
            </a:r>
            <a:r>
              <a:rPr lang="th-TH"/>
              <a:t>เพื่อให้ </a:t>
            </a:r>
            <a:r>
              <a:rPr lang="en-US"/>
              <a:t>GNU Radio </a:t>
            </a:r>
            <a:r>
              <a:rPr lang="th-TH"/>
              <a:t>อ่านได้แบบคงที่ </a:t>
            </a:r>
            <a:r>
              <a:rPr lang="en-US"/>
              <a:t>GNU Radio demodulate FSK 9600 baud </a:t>
            </a:r>
            <a:r>
              <a:rPr lang="th-TH"/>
              <a:t>และ </a:t>
            </a:r>
            <a:r>
              <a:rPr lang="en-US"/>
              <a:t>AX.25 deframer </a:t>
            </a:r>
            <a:r>
              <a:rPr lang="th-TH"/>
              <a:t>ทำ </a:t>
            </a:r>
            <a:r>
              <a:rPr lang="en-US"/>
              <a:t>NRZI, G3RUH descrambling, HDLC framing, bit de-stuffing </a:t>
            </a:r>
            <a:r>
              <a:rPr lang="th-TH"/>
              <a:t>และ </a:t>
            </a:r>
            <a:r>
              <a:rPr lang="en-US"/>
              <a:t>CRC </a:t>
            </a:r>
            <a:r>
              <a:rPr lang="th-TH"/>
              <a:t>เฟรมที่ผ่านจะออกเป็น </a:t>
            </a:r>
            <a:r>
              <a:rPr lang="en-US"/>
              <a:t>KISS </a:t>
            </a:r>
            <a:r>
              <a:rPr lang="th-TH"/>
              <a:t>แล้วตัวกรองของ </a:t>
            </a:r>
            <a:r>
              <a:rPr lang="en-US"/>
              <a:t>KOYO </a:t>
            </a:r>
            <a:r>
              <a:rPr lang="th-TH"/>
              <a:t>จะรับเฉพาะ </a:t>
            </a:r>
            <a:r>
              <a:rPr lang="en-US"/>
              <a:t>path </a:t>
            </a:r>
            <a:r>
              <a:rPr lang="th-TH"/>
              <a:t>และความยาวที่คาดไว้ หลังจากนั้น </a:t>
            </a:r>
            <a:r>
              <a:rPr lang="en-US"/>
              <a:t>decoder </a:t>
            </a:r>
            <a:r>
              <a:rPr lang="th-TH"/>
              <a:t>สร้าง </a:t>
            </a:r>
            <a:r>
              <a:rPr lang="en-US"/>
              <a:t>telemetry </a:t>
            </a:r>
            <a:r>
              <a:rPr lang="th-TH"/>
              <a:t>และเขียนลง </a:t>
            </a:r>
            <a:r>
              <a:rPr lang="en-US"/>
              <a:t>InfluxDB </a:t>
            </a:r>
            <a:r>
              <a:rPr lang="th-TH"/>
              <a:t>เพื่อให้ </a:t>
            </a:r>
            <a:r>
              <a:rPr lang="en-US"/>
              <a:t>Grafana query </a:t>
            </a:r>
            <a:r>
              <a:rPr lang="th-TH"/>
              <a:t>ข้อควรจำคือ </a:t>
            </a:r>
            <a:r>
              <a:rPr lang="en-US"/>
              <a:t>SatNOGS control frame </a:t>
            </a:r>
            <a:r>
              <a:rPr lang="th-TH"/>
              <a:t>อยู่ข้างเส้นทางหลัก ใช้ตรวจคำตอบเท่านั้น ไม่ได้ใช้เป็น </a:t>
            </a:r>
            <a:r>
              <a:rPr lang="en-US"/>
              <a:t>input </a:t>
            </a:r>
            <a:r>
              <a:rPr lang="th-TH"/>
              <a:t>ของ </a:t>
            </a:r>
            <a:r>
              <a:rPr lang="en-US"/>
              <a:t>decoder
### English backup
The pipeline has six stages: SatNOGS OGG acquisition, 48-kilohertz mono PCM conversion, GNU Radio FSK demodulation, G3RUH AX.25 and CRC validation, KOYO telemetry decoding, and InfluxDB/Grafana output. SatNOGS demodulated frames are placed beside this pipeline as validation controls only. They are never used as the local decoder input.
### Key result
`OGG -&gt; WAV -&gt; GNU Radio -&gt; AX.25/KISS -&gt; KOYO decoder -&gt; InfluxDB/Grafana`</a:t>
            </a:r>
          </a:p>
        </p:txBody>
      </p:sp>
      <p:sp>
        <p:nvSpPr>
          <p:cNvPr id="4" name="Slide Number Placeholder 3"/>
          <p:cNvSpPr>
            <a:spLocks noGrp="1"/>
          </p:cNvSpPr>
          <p:nvPr>
            <p:ph type="sldNum" sz="quarter" idx="5"/>
          </p:nvPr>
        </p:nvSpPr>
        <p:spPr/>
        <p:txBody>
          <a:bodyPr/>
          <a:lstStyle/>
          <a:p>
            <a:fld id="{BA32EA52-7DCD-4D83-BB6B-07BF28EEB216}" type="slidenum">
              <a:rPr lang="en-US" smtClean="0"/>
              <a:t>4</a:t>
            </a:fld>
            <a:endParaRPr lang="en-US"/>
          </a:p>
        </p:txBody>
      </p:sp>
    </p:spTree>
    <p:extLst>
      <p:ext uri="{BB962C8B-B14F-4D97-AF65-F5344CB8AC3E}">
        <p14:creationId xmlns:p14="http://schemas.microsoft.com/office/powerpoint/2010/main" val="23578171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ขั้นแรกคือเลือก </a:t>
            </a:r>
            <a:r>
              <a:rPr lang="en-US"/>
              <a:t>observation </a:t>
            </a:r>
            <a:r>
              <a:rPr lang="th-TH"/>
              <a:t>ที่มี </a:t>
            </a:r>
            <a:r>
              <a:rPr lang="en-US"/>
              <a:t>audio </a:t>
            </a:r>
            <a:r>
              <a:rPr lang="th-TH"/>
              <a:t>และข้อมูล </a:t>
            </a:r>
            <a:r>
              <a:rPr lang="en-US"/>
              <a:t>demodulated </a:t>
            </a:r>
            <a:r>
              <a:rPr lang="th-TH"/>
              <a:t>สำหรับใช้เป็น </a:t>
            </a:r>
            <a:r>
              <a:rPr lang="en-US"/>
              <a:t>control </a:t>
            </a:r>
            <a:r>
              <a:rPr lang="th-TH"/>
              <a:t>ตัวอย่างเดโมคือ </a:t>
            </a:r>
            <a:r>
              <a:rPr lang="en-US"/>
              <a:t>observation 14909703 </a:t>
            </a:r>
            <a:r>
              <a:rPr lang="th-TH"/>
              <a:t>จากสถานี </a:t>
            </a:r>
            <a:r>
              <a:rPr lang="en-US"/>
              <a:t>MAUSyagi-AK </a:t>
            </a:r>
            <a:r>
              <a:rPr lang="th-TH"/>
              <a:t>เริ่มบันทึกเวลา 18:43:47 </a:t>
            </a:r>
            <a:r>
              <a:rPr lang="en-US"/>
              <a:t>UTC </a:t>
            </a:r>
            <a:r>
              <a:rPr lang="th-TH"/>
              <a:t>ไฟล์ </a:t>
            </a:r>
            <a:r>
              <a:rPr lang="en-US"/>
              <a:t>OGG </a:t>
            </a:r>
            <a:r>
              <a:rPr lang="th-TH"/>
              <a:t>มีขนาดประมาณ 10.4 </a:t>
            </a:r>
            <a:r>
              <a:rPr lang="en-US"/>
              <a:t>megabytes </a:t>
            </a:r>
            <a:r>
              <a:rPr lang="th-TH"/>
              <a:t>และยาวประมาณ 9 นาที 10 วินาที ระบบเก็บ </a:t>
            </a:r>
            <a:r>
              <a:rPr lang="en-US"/>
              <a:t>observation ID, </a:t>
            </a:r>
            <a:r>
              <a:rPr lang="th-TH"/>
              <a:t>เวลา และสถานีไว้กับผลการถอด เพื่อย้อนตรวจได้ว่าแต่ละค่าใน </a:t>
            </a:r>
            <a:r>
              <a:rPr lang="en-US"/>
              <a:t>dashboard </a:t>
            </a:r>
            <a:r>
              <a:rPr lang="th-TH"/>
              <a:t>มาจาก </a:t>
            </a:r>
            <a:r>
              <a:rPr lang="en-US"/>
              <a:t>pass </a:t>
            </a:r>
            <a:r>
              <a:rPr lang="th-TH"/>
              <a:t>ไหน คำว่า </a:t>
            </a:r>
            <a:r>
              <a:rPr lang="en-US"/>
              <a:t>latest </a:t>
            </a:r>
            <a:r>
              <a:rPr lang="th-TH"/>
              <a:t>ในระบบนี้หมายถึง </a:t>
            </a:r>
            <a:r>
              <a:rPr lang="en-US"/>
              <a:t>observation </a:t>
            </a:r>
            <a:r>
              <a:rPr lang="th-TH"/>
              <a:t>ล่าสุดที่ถูกอัปโหลดมายัง </a:t>
            </a:r>
            <a:r>
              <a:rPr lang="en-US"/>
              <a:t>SatNOGS </a:t>
            </a:r>
            <a:r>
              <a:rPr lang="th-TH"/>
              <a:t>เพราะ </a:t>
            </a:r>
            <a:r>
              <a:rPr lang="en-US"/>
              <a:t>SatNOGS </a:t>
            </a:r>
            <a:r>
              <a:rPr lang="th-TH"/>
              <a:t>เป็น </a:t>
            </a:r>
            <a:r>
              <a:rPr lang="en-US"/>
              <a:t>store-and-forward </a:t>
            </a:r>
            <a:r>
              <a:rPr lang="th-TH"/>
              <a:t>ไม่ใช่ </a:t>
            </a:r>
            <a:r>
              <a:rPr lang="en-US"/>
              <a:t>stream RF </a:t>
            </a:r>
            <a:r>
              <a:rPr lang="th-TH"/>
              <a:t>แบบต่อเนื่อง
### </a:t>
            </a:r>
            <a:r>
              <a:rPr lang="en-US"/>
              <a:t>English backup
The acquisition stage selects an observation with both audio and a demodulated control. The demonstration uses observation 14909703 from MAUSyagi-AK, starting at 18:43:47 UTC. Its OGG file is about 10.4 megabytes and about nine minutes ten seconds long. Observation ID, station, and time are preserved for traceability. Here, latest means the newest uploaded SatNOGS observation, not continuous live RF.
### Key result
Observation `14909703` was acquired with traceable source metadata.</a:t>
            </a:r>
          </a:p>
        </p:txBody>
      </p:sp>
      <p:sp>
        <p:nvSpPr>
          <p:cNvPr id="4" name="Slide Number Placeholder 3"/>
          <p:cNvSpPr>
            <a:spLocks noGrp="1"/>
          </p:cNvSpPr>
          <p:nvPr>
            <p:ph type="sldNum" sz="quarter" idx="5"/>
          </p:nvPr>
        </p:nvSpPr>
        <p:spPr/>
        <p:txBody>
          <a:bodyPr/>
          <a:lstStyle/>
          <a:p>
            <a:fld id="{BA32EA52-7DCD-4D83-BB6B-07BF28EEB216}" type="slidenum">
              <a:rPr lang="en-US" smtClean="0"/>
              <a:t>5</a:t>
            </a:fld>
            <a:endParaRPr lang="en-US"/>
          </a:p>
        </p:txBody>
      </p:sp>
    </p:spTree>
    <p:extLst>
      <p:ext uri="{BB962C8B-B14F-4D97-AF65-F5344CB8AC3E}">
        <p14:creationId xmlns:p14="http://schemas.microsoft.com/office/powerpoint/2010/main" val="13460424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a:t>
            </a:r>
            <a:r>
              <a:rPr lang="en-US"/>
              <a:t>OGG </a:t>
            </a:r>
            <a:r>
              <a:rPr lang="th-TH"/>
              <a:t>เป็นไฟล์บีบอัดและรูปแบบ </a:t>
            </a:r>
            <a:r>
              <a:rPr lang="en-US"/>
              <a:t>sample </a:t>
            </a:r>
            <a:r>
              <a:rPr lang="th-TH"/>
              <a:t>ภายในอาจไม่เหมาะกับ </a:t>
            </a:r>
            <a:r>
              <a:rPr lang="en-US"/>
              <a:t>flowgraph </a:t>
            </a:r>
            <a:r>
              <a:rPr lang="th-TH"/>
              <a:t>โดยตรง ระบบจึงใช้ </a:t>
            </a:r>
            <a:r>
              <a:rPr lang="en-US"/>
              <a:t>FFmpeg </a:t>
            </a:r>
            <a:r>
              <a:rPr lang="th-TH"/>
              <a:t>แปลงเป็น </a:t>
            </a:r>
            <a:r>
              <a:rPr lang="en-US"/>
              <a:t>WAV </a:t>
            </a:r>
            <a:r>
              <a:rPr lang="th-TH"/>
              <a:t>แบบ </a:t>
            </a:r>
            <a:r>
              <a:rPr lang="en-US"/>
              <a:t>mono, 48 kilohertz, signed 16-bit PCM </a:t>
            </a:r>
            <a:r>
              <a:rPr lang="th-TH"/>
              <a:t>สำหรับ </a:t>
            </a:r>
            <a:r>
              <a:rPr lang="en-US"/>
              <a:t>observation </a:t>
            </a:r>
            <a:r>
              <a:rPr lang="th-TH"/>
              <a:t>เดโม ไฟล์ </a:t>
            </a:r>
            <a:r>
              <a:rPr lang="en-US"/>
              <a:t>WAV </a:t>
            </a:r>
            <a:r>
              <a:rPr lang="th-TH"/>
              <a:t>มีขนาดประมาณ 52.8 </a:t>
            </a:r>
            <a:r>
              <a:rPr lang="en-US"/>
              <a:t>megabytes </a:t>
            </a:r>
            <a:r>
              <a:rPr lang="th-TH"/>
              <a:t>จาก </a:t>
            </a:r>
            <a:r>
              <a:rPr lang="en-US"/>
              <a:t>OGG 10.4 megabytes </a:t>
            </a:r>
            <a:r>
              <a:rPr lang="th-TH"/>
              <a:t>ขนาดที่เพิ่มขึ้นเป็นเรื่องปกติเพราะ </a:t>
            </a:r>
            <a:r>
              <a:rPr lang="en-US"/>
              <a:t>WAV </a:t>
            </a:r>
            <a:r>
              <a:rPr lang="th-TH"/>
              <a:t>ไม่บีบอัด จุดสำคัญคือ </a:t>
            </a:r>
            <a:r>
              <a:rPr lang="en-US"/>
              <a:t>sample rate 48 kilohertz </a:t>
            </a:r>
            <a:r>
              <a:rPr lang="th-TH"/>
              <a:t>หารด้วย </a:t>
            </a:r>
            <a:r>
              <a:rPr lang="en-US"/>
              <a:t>symbol rate 9600 </a:t>
            </a:r>
            <a:r>
              <a:rPr lang="th-TH"/>
              <a:t>ได้ 5 </a:t>
            </a:r>
            <a:r>
              <a:rPr lang="en-US"/>
              <a:t>samples per symbol </a:t>
            </a:r>
            <a:r>
              <a:rPr lang="th-TH"/>
              <a:t>ซึ่งเหมาะกับ </a:t>
            </a:r>
            <a:r>
              <a:rPr lang="en-US"/>
              <a:t>clock recovery </a:t>
            </a:r>
            <a:r>
              <a:rPr lang="th-TH"/>
              <a:t>ผลลัพธ์ขั้นนี้คือไฟล์เสียง </a:t>
            </a:r>
            <a:r>
              <a:rPr lang="en-US"/>
              <a:t>input </a:t>
            </a:r>
            <a:r>
              <a:rPr lang="th-TH"/>
              <a:t>ที่แน่นอนและทำซ้ำได้สำหรับ </a:t>
            </a:r>
            <a:r>
              <a:rPr lang="en-US"/>
              <a:t>GNU Radio
### English backup
The compressed OGG is converted with FFmpeg to mono, 48-kilohertz, signed 16-bit PCM WAV. For the demo observation, the WAV is about 52.8 megabytes compared with the 10.4-megabyte OGG, which is expected for uncompressed audio. A 48-kilohertz sample rate gives five samples per 9600-baud symbol. The result is a deterministic GNU Radio input.
### Key result
`10.4 MB OGG -&gt; 52.8 MB WAV | mono | 48 kHz | PCM16`</a:t>
            </a:r>
          </a:p>
        </p:txBody>
      </p:sp>
      <p:sp>
        <p:nvSpPr>
          <p:cNvPr id="4" name="Slide Number Placeholder 3"/>
          <p:cNvSpPr>
            <a:spLocks noGrp="1"/>
          </p:cNvSpPr>
          <p:nvPr>
            <p:ph type="sldNum" sz="quarter" idx="5"/>
          </p:nvPr>
        </p:nvSpPr>
        <p:spPr/>
        <p:txBody>
          <a:bodyPr/>
          <a:lstStyle/>
          <a:p>
            <a:fld id="{BA32EA52-7DCD-4D83-BB6B-07BF28EEB216}" type="slidenum">
              <a:rPr lang="en-US" smtClean="0"/>
              <a:t>6</a:t>
            </a:fld>
            <a:endParaRPr lang="en-US"/>
          </a:p>
        </p:txBody>
      </p:sp>
    </p:spTree>
    <p:extLst>
      <p:ext uri="{BB962C8B-B14F-4D97-AF65-F5344CB8AC3E}">
        <p14:creationId xmlns:p14="http://schemas.microsoft.com/office/powerpoint/2010/main" val="35818777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ใน </a:t>
            </a:r>
            <a:r>
              <a:rPr lang="en-US"/>
              <a:t>GNU Radio </a:t>
            </a:r>
            <a:r>
              <a:rPr lang="th-TH"/>
              <a:t>ใช้ </a:t>
            </a:r>
            <a:r>
              <a:rPr lang="en-US"/>
              <a:t>chain </a:t>
            </a:r>
            <a:r>
              <a:rPr lang="th-TH"/>
              <a:t>สำหรับ </a:t>
            </a:r>
            <a:r>
              <a:rPr lang="en-US"/>
              <a:t>FSK 9600 baud </a:t>
            </a:r>
            <a:r>
              <a:rPr lang="th-TH"/>
              <a:t>ค่า </a:t>
            </a:r>
            <a:r>
              <a:rPr lang="en-US"/>
              <a:t>input 48 kilohertz, deviation 3 kilohertz </a:t>
            </a:r>
            <a:r>
              <a:rPr lang="th-TH"/>
              <a:t>และ </a:t>
            </a:r>
            <a:r>
              <a:rPr lang="en-US"/>
              <a:t>clock recovery bandwidth 0.15 </a:t>
            </a:r>
            <a:r>
              <a:rPr lang="th-TH"/>
              <a:t>หลัง </a:t>
            </a:r>
            <a:r>
              <a:rPr lang="en-US"/>
              <a:t>demodulation </a:t>
            </a:r>
            <a:r>
              <a:rPr lang="th-TH"/>
              <a:t>จะเข้าสู่ </a:t>
            </a:r>
            <a:r>
              <a:rPr lang="en-US"/>
              <a:t>AX.25 deframer </a:t>
            </a:r>
            <a:r>
              <a:rPr lang="th-TH"/>
              <a:t>ที่จัดการ </a:t>
            </a:r>
            <a:r>
              <a:rPr lang="en-US"/>
              <a:t>NRZI </a:t>
            </a:r>
            <a:r>
              <a:rPr lang="th-TH"/>
              <a:t>และ </a:t>
            </a:r>
            <a:r>
              <a:rPr lang="en-US"/>
              <a:t>G3RUH scrambling </a:t>
            </a:r>
            <a:r>
              <a:rPr lang="th-TH"/>
              <a:t>ตามสัญญาณ </a:t>
            </a:r>
            <a:r>
              <a:rPr lang="en-US"/>
              <a:t>UHF </a:t>
            </a:r>
            <a:r>
              <a:rPr lang="th-TH"/>
              <a:t>ของ </a:t>
            </a:r>
            <a:r>
              <a:rPr lang="en-US"/>
              <a:t>KOYO </a:t>
            </a:r>
            <a:r>
              <a:rPr lang="th-TH"/>
              <a:t>แล้วจึงค้นหา </a:t>
            </a:r>
            <a:r>
              <a:rPr lang="en-US"/>
              <a:t>HDLC flags, </a:t>
            </a:r>
            <a:r>
              <a:rPr lang="th-TH"/>
              <a:t>ลบ </a:t>
            </a:r>
            <a:r>
              <a:rPr lang="en-US"/>
              <a:t>stuffed bits </a:t>
            </a:r>
            <a:r>
              <a:rPr lang="th-TH"/>
              <a:t>และตรวจ </a:t>
            </a:r>
            <a:r>
              <a:rPr lang="en-US"/>
              <a:t>CRC </a:t>
            </a:r>
            <a:r>
              <a:rPr lang="th-TH"/>
              <a:t>ผลลัพธ์ถูกเขียนเป็น </a:t>
            </a:r>
            <a:r>
              <a:rPr lang="en-US"/>
              <a:t>KISS </a:t>
            </a:r>
            <a:r>
              <a:rPr lang="th-TH"/>
              <a:t>เพื่อให้ </a:t>
            </a:r>
            <a:r>
              <a:rPr lang="en-US"/>
              <a:t>Python </a:t>
            </a:r>
            <a:r>
              <a:rPr lang="th-TH"/>
              <a:t>อ่านต่อได้ </a:t>
            </a:r>
            <a:r>
              <a:rPr lang="en-US"/>
              <a:t>Flowgraph </a:t>
            </a:r>
            <a:r>
              <a:rPr lang="th-TH"/>
              <a:t>อยู่ในไฟล์ </a:t>
            </a:r>
            <a:r>
              <a:rPr lang="en-US"/>
              <a:t>koyo_audio_rx.grc </a:t>
            </a:r>
            <a:r>
              <a:rPr lang="th-TH"/>
              <a:t>และสามารถเปิดแก้ใน </a:t>
            </a:r>
            <a:r>
              <a:rPr lang="en-US"/>
              <a:t>GNU Radio Companion </a:t>
            </a:r>
            <a:r>
              <a:rPr lang="th-TH"/>
              <a:t>ได้ สำหรับ </a:t>
            </a:r>
            <a:r>
              <a:rPr lang="en-US"/>
              <a:t>observation </a:t>
            </a:r>
            <a:r>
              <a:rPr lang="th-TH"/>
              <a:t>เดโม </a:t>
            </a:r>
            <a:r>
              <a:rPr lang="en-US"/>
              <a:t>GNU Radio </a:t>
            </a:r>
            <a:r>
              <a:rPr lang="th-TH"/>
              <a:t>สร้าง </a:t>
            </a:r>
            <a:r>
              <a:rPr lang="en-US"/>
              <a:t>KISS output 6 </a:t>
            </a:r>
            <a:r>
              <a:rPr lang="th-TH"/>
              <a:t>เฟรม ก่อนผ่านตัวกรองเฉพาะของ </a:t>
            </a:r>
            <a:r>
              <a:rPr lang="en-US"/>
              <a:t>KOYO
### English backup
GNU Radio demodulates 9600-baud FSK from 48-kilohertz audio using a 3-kilohertz deviation and 0.15 clock-recovery bandwidth. The AX.25 deframer handles NRZI, G3RUH descrambling, HDLC flag detection, bit de-stuffing, and CRC. Output is written as KISS for the Python validation stage. The editable flowgraph is koyo_audio_rx.grc. The demo observation produced six captured KISS frames.
### Key result
GNU Radio produced `6 KISS frames` from the demo OGG-derived WAV.</a:t>
            </a:r>
          </a:p>
        </p:txBody>
      </p:sp>
      <p:sp>
        <p:nvSpPr>
          <p:cNvPr id="4" name="Slide Number Placeholder 3"/>
          <p:cNvSpPr>
            <a:spLocks noGrp="1"/>
          </p:cNvSpPr>
          <p:nvPr>
            <p:ph type="sldNum" sz="quarter" idx="5"/>
          </p:nvPr>
        </p:nvSpPr>
        <p:spPr/>
        <p:txBody>
          <a:bodyPr/>
          <a:lstStyle/>
          <a:p>
            <a:fld id="{BA32EA52-7DCD-4D83-BB6B-07BF28EEB216}" type="slidenum">
              <a:rPr lang="en-US" smtClean="0"/>
              <a:t>7</a:t>
            </a:fld>
            <a:endParaRPr lang="en-US"/>
          </a:p>
        </p:txBody>
      </p:sp>
    </p:spTree>
    <p:extLst>
      <p:ext uri="{BB962C8B-B14F-4D97-AF65-F5344CB8AC3E}">
        <p14:creationId xmlns:p14="http://schemas.microsoft.com/office/powerpoint/2010/main" val="22031694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ไม่ใช่ทุก </a:t>
            </a:r>
            <a:r>
              <a:rPr lang="en-US"/>
              <a:t>PDU </a:t>
            </a:r>
            <a:r>
              <a:rPr lang="th-TH"/>
              <a:t>ที่ออกจาก </a:t>
            </a:r>
            <a:r>
              <a:rPr lang="en-US"/>
              <a:t>chain </a:t>
            </a:r>
            <a:r>
              <a:rPr lang="th-TH"/>
              <a:t>จะเป็น </a:t>
            </a:r>
            <a:r>
              <a:rPr lang="en-US"/>
              <a:t>telemetry </a:t>
            </a:r>
            <a:r>
              <a:rPr lang="th-TH"/>
              <a:t>ที่ใช้ได้ ตัวกรองจึงตรวจสี่อย่าง ได้แก่ </a:t>
            </a:r>
            <a:r>
              <a:rPr lang="en-US"/>
              <a:t>CRC </a:t>
            </a:r>
            <a:r>
              <a:rPr lang="th-TH"/>
              <a:t>จาก </a:t>
            </a:r>
            <a:r>
              <a:rPr lang="en-US"/>
              <a:t>deframer, </a:t>
            </a:r>
            <a:r>
              <a:rPr lang="th-TH"/>
              <a:t>ความยาวเฟรม 263 </a:t>
            </a:r>
            <a:r>
              <a:rPr lang="en-US"/>
              <a:t>bytes, AX.25 path </a:t>
            </a:r>
            <a:r>
              <a:rPr lang="th-TH"/>
              <a:t>ที่คาดไว้คือ </a:t>
            </a:r>
            <a:r>
              <a:rPr lang="en-US"/>
              <a:t>KOYOSC </a:t>
            </a:r>
            <a:r>
              <a:rPr lang="th-TH"/>
              <a:t>ไป </a:t>
            </a:r>
            <a:r>
              <a:rPr lang="en-US"/>
              <a:t>GS-H20 </a:t>
            </a:r>
            <a:r>
              <a:rPr lang="th-TH"/>
              <a:t>และชนิดเฟรม </a:t>
            </a:r>
            <a:r>
              <a:rPr lang="en-US"/>
              <a:t>control 03 </a:t>
            </a:r>
            <a:r>
              <a:rPr lang="th-TH"/>
              <a:t>กับ </a:t>
            </a:r>
            <a:r>
              <a:rPr lang="en-US"/>
              <a:t>PID F0 </a:t>
            </a:r>
            <a:r>
              <a:rPr lang="th-TH"/>
              <a:t>เฟรมสั้นหรือ </a:t>
            </a:r>
            <a:r>
              <a:rPr lang="en-US"/>
              <a:t>path </a:t>
            </a:r>
            <a:r>
              <a:rPr lang="th-TH"/>
              <a:t>ไม่ตรงจะถูกเก็บเป็น </a:t>
            </a:r>
            <a:r>
              <a:rPr lang="en-US"/>
              <a:t>diagnostic </a:t>
            </a:r>
            <a:r>
              <a:rPr lang="th-TH"/>
              <a:t>แต่ไม่ส่งเข้า </a:t>
            </a:r>
            <a:r>
              <a:rPr lang="en-US"/>
              <a:t>telemetry decoder </a:t>
            </a:r>
            <a:r>
              <a:rPr lang="th-TH"/>
              <a:t>สำหรับ </a:t>
            </a:r>
            <a:r>
              <a:rPr lang="en-US"/>
              <a:t>observation 14909703 </a:t>
            </a:r>
            <a:r>
              <a:rPr lang="th-TH"/>
              <a:t>จาก </a:t>
            </a:r>
            <a:r>
              <a:rPr lang="en-US"/>
              <a:t>KISS 6 </a:t>
            </a:r>
            <a:r>
              <a:rPr lang="th-TH"/>
              <a:t>เฟรม เหลือ </a:t>
            </a:r>
            <a:r>
              <a:rPr lang="en-US"/>
              <a:t>valid KOYO 2 </a:t>
            </a:r>
            <a:r>
              <a:rPr lang="th-TH"/>
              <a:t>เฟรม และหนึ่งเฟรมตรงกับ </a:t>
            </a:r>
            <a:r>
              <a:rPr lang="en-US"/>
              <a:t>SatNOGS control </a:t>
            </a:r>
            <a:r>
              <a:rPr lang="th-TH"/>
              <a:t>แบบ </a:t>
            </a:r>
            <a:r>
              <a:rPr lang="en-US"/>
              <a:t>byte-for-byte </a:t>
            </a:r>
            <a:r>
              <a:rPr lang="th-TH"/>
              <a:t>นี่คือหลักฐานว่าลำดับบิตที่ได้จาก </a:t>
            </a:r>
            <a:r>
              <a:rPr lang="en-US"/>
              <a:t>audio </a:t>
            </a:r>
            <a:r>
              <a:rPr lang="th-TH"/>
              <a:t>ถูกต้องจริงอย่างน้อยหนึ่งเฟรม
### </a:t>
            </a:r>
            <a:r>
              <a:rPr lang="en-US"/>
              <a:t>English backup
Not every diagnostic PDU is valid telemetry. The filter requires deframer CRC success, the expected 263-byte frame length, the KOYOSC-to-GS-H20 AX.25 path, control 03, and PID F0. Short or mismatched frames are retained only as diagnostics. For observation 14909703, six KISS frames became two valid KOYO frames, with one byte-exact SatNOGS control match.
### Key result
`6 captured -&gt; 2 valid KOYO -&gt; 1 byte-exact control match`</a:t>
            </a:r>
          </a:p>
        </p:txBody>
      </p:sp>
      <p:sp>
        <p:nvSpPr>
          <p:cNvPr id="4" name="Slide Number Placeholder 3"/>
          <p:cNvSpPr>
            <a:spLocks noGrp="1"/>
          </p:cNvSpPr>
          <p:nvPr>
            <p:ph type="sldNum" sz="quarter" idx="5"/>
          </p:nvPr>
        </p:nvSpPr>
        <p:spPr/>
        <p:txBody>
          <a:bodyPr/>
          <a:lstStyle/>
          <a:p>
            <a:fld id="{BA32EA52-7DCD-4D83-BB6B-07BF28EEB216}" type="slidenum">
              <a:rPr lang="en-US" smtClean="0"/>
              <a:t>8</a:t>
            </a:fld>
            <a:endParaRPr lang="en-US"/>
          </a:p>
        </p:txBody>
      </p:sp>
    </p:spTree>
    <p:extLst>
      <p:ext uri="{BB962C8B-B14F-4D97-AF65-F5344CB8AC3E}">
        <p14:creationId xmlns:p14="http://schemas.microsoft.com/office/powerpoint/2010/main" val="3988038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เพื่อไม่ให้ผลขึ้นกับสถานีเดียว ผมทดสอบห้า </a:t>
            </a:r>
            <a:r>
              <a:rPr lang="en-US"/>
              <a:t>observations </a:t>
            </a:r>
            <a:r>
              <a:rPr lang="th-TH"/>
              <a:t>จากสี่สถานี ได้แก่ </a:t>
            </a:r>
            <a:r>
              <a:rPr lang="en-US"/>
              <a:t>MAUSyagi, EA3AGB, W6MSU UHF </a:t>
            </a:r>
            <a:r>
              <a:rPr lang="th-TH"/>
              <a:t>และ </a:t>
            </a:r>
            <a:r>
              <a:rPr lang="en-US"/>
              <a:t>MAUSyagi-AK </a:t>
            </a:r>
            <a:r>
              <a:rPr lang="th-TH"/>
              <a:t>ทุก </a:t>
            </a:r>
            <a:r>
              <a:rPr lang="en-US"/>
              <a:t>observation </a:t>
            </a:r>
            <a:r>
              <a:rPr lang="th-TH"/>
              <a:t>ผ่านเกณฑ์ว่าต้องมี </a:t>
            </a:r>
            <a:r>
              <a:rPr lang="en-US"/>
              <a:t>valid local frame </a:t>
            </a:r>
            <a:r>
              <a:rPr lang="th-TH"/>
              <a:t>และ </a:t>
            </a:r>
            <a:r>
              <a:rPr lang="en-US"/>
              <a:t>exact match </a:t>
            </a:r>
            <a:r>
              <a:rPr lang="th-TH"/>
              <a:t>อย่างน้อยหนึ่งเฟรม รวมได้ </a:t>
            </a:r>
            <a:r>
              <a:rPr lang="en-US"/>
              <a:t>local valid 22 </a:t>
            </a:r>
            <a:r>
              <a:rPr lang="th-TH"/>
              <a:t>เฟรม และ </a:t>
            </a:r>
            <a:r>
              <a:rPr lang="en-US"/>
              <a:t>exact match 20 </a:t>
            </a:r>
            <a:r>
              <a:rPr lang="th-TH"/>
              <a:t>เฟรม ตารางแสดง </a:t>
            </a:r>
            <a:r>
              <a:rPr lang="en-US"/>
              <a:t>recovery </a:t>
            </a:r>
            <a:r>
              <a:rPr lang="th-TH"/>
              <a:t>ของแต่ละ </a:t>
            </a:r>
            <a:r>
              <a:rPr lang="en-US"/>
              <a:t>pass </a:t>
            </a:r>
            <a:r>
              <a:rPr lang="th-TH"/>
              <a:t>ตั้งแต่ 2.9 ถึง 100 เปอร์เซ็นต์ ความแตกต่างนี้สะท้อนคุณภาพเสียง </a:t>
            </a:r>
            <a:r>
              <a:rPr lang="en-US"/>
              <a:t>SNR, tuning, Doppler </a:t>
            </a:r>
            <a:r>
              <a:rPr lang="th-TH"/>
              <a:t>และ </a:t>
            </a:r>
            <a:r>
              <a:rPr lang="en-US"/>
              <a:t>receiver configuration </a:t>
            </a:r>
            <a:r>
              <a:rPr lang="th-TH"/>
              <a:t>แต่การที่ทั้งห้ารายการมี </a:t>
            </a:r>
            <a:r>
              <a:rPr lang="en-US"/>
              <a:t>exact match </a:t>
            </a:r>
            <a:r>
              <a:rPr lang="th-TH"/>
              <a:t>แสดงว่า </a:t>
            </a:r>
            <a:r>
              <a:rPr lang="en-US"/>
              <a:t>chain </a:t>
            </a:r>
            <a:r>
              <a:rPr lang="th-TH"/>
              <a:t>ทำงานซ้ำได้ข้ามสถานี
### </a:t>
            </a:r>
            <a:r>
              <a:rPr lang="en-US"/>
              <a:t>English backup
To avoid a single-station result, five observations from four stations were tested: MAUSyagi, EA3AGB, W6MSU UHF, and MAUSyagi-AK. Every observation produced at least one valid local frame and one exact control match. The total was 22 valid local frames and 20 exact matches. Per-pass recovery ranges from 2.9 to 100 percent because SNR, tuning, Doppler, and receiver configuration vary.
### Key result
`5/5 observations passed across 4 receiving stations.`</a:t>
            </a:r>
          </a:p>
        </p:txBody>
      </p:sp>
      <p:sp>
        <p:nvSpPr>
          <p:cNvPr id="4" name="Slide Number Placeholder 3"/>
          <p:cNvSpPr>
            <a:spLocks noGrp="1"/>
          </p:cNvSpPr>
          <p:nvPr>
            <p:ph type="sldNum" sz="quarter" idx="5"/>
          </p:nvPr>
        </p:nvSpPr>
        <p:spPr/>
        <p:txBody>
          <a:bodyPr/>
          <a:lstStyle/>
          <a:p>
            <a:fld id="{BA32EA52-7DCD-4D83-BB6B-07BF28EEB216}" type="slidenum">
              <a:rPr lang="en-US" smtClean="0"/>
              <a:t>9</a:t>
            </a:fld>
            <a:endParaRPr lang="en-US"/>
          </a:p>
        </p:txBody>
      </p:sp>
    </p:spTree>
    <p:extLst>
      <p:ext uri="{BB962C8B-B14F-4D97-AF65-F5344CB8AC3E}">
        <p14:creationId xmlns:p14="http://schemas.microsoft.com/office/powerpoint/2010/main" val="41093717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ค่า </a:t>
            </a:r>
            <a:r>
              <a:rPr lang="en-US"/>
              <a:t>recovery </a:t>
            </a:r>
            <a:r>
              <a:rPr lang="th-TH"/>
              <a:t>รวมคือ </a:t>
            </a:r>
            <a:r>
              <a:rPr lang="en-US"/>
              <a:t>exact matches 20 </a:t>
            </a:r>
            <a:r>
              <a:rPr lang="th-TH"/>
              <a:t>หารด้วย </a:t>
            </a:r>
            <a:r>
              <a:rPr lang="en-US"/>
              <a:t>official control frames 74 </a:t>
            </a:r>
            <a:r>
              <a:rPr lang="th-TH"/>
              <a:t>เท่ากับ 27 เปอร์เซ็นต์ ตัวเลขนี้ไม่ใช่ </a:t>
            </a:r>
            <a:r>
              <a:rPr lang="en-US"/>
              <a:t>packet validity </a:t>
            </a:r>
            <a:r>
              <a:rPr lang="th-TH"/>
              <a:t>ของดาวเทียม และไม่ได้แปลว่า </a:t>
            </a:r>
            <a:r>
              <a:rPr lang="en-US"/>
              <a:t>decoder </a:t>
            </a:r>
            <a:r>
              <a:rPr lang="th-TH"/>
              <a:t>ผิด 73 เปอร์เซ็นต์ มันวัดว่าการตั้งค่า </a:t>
            </a:r>
            <a:r>
              <a:rPr lang="en-US"/>
              <a:t>demodulator </a:t>
            </a:r>
            <a:r>
              <a:rPr lang="th-TH"/>
              <a:t>ปัจจุบันสามารถสร้าง </a:t>
            </a:r>
            <a:r>
              <a:rPr lang="en-US"/>
              <a:t>control frame </a:t>
            </a:r>
            <a:r>
              <a:rPr lang="th-TH"/>
              <a:t>จากไฟล์ </a:t>
            </a:r>
            <a:r>
              <a:rPr lang="en-US"/>
              <a:t>OGG </a:t>
            </a:r>
            <a:r>
              <a:rPr lang="th-TH"/>
              <a:t>ซ้ำได้กี่เฟรม สาเหตุที่พลาดได้มีทั้ง </a:t>
            </a:r>
            <a:r>
              <a:rPr lang="en-US"/>
              <a:t>SNR </a:t>
            </a:r>
            <a:r>
              <a:rPr lang="th-TH"/>
              <a:t>ต่ำ ความถี่คลาด </a:t>
            </a:r>
            <a:r>
              <a:rPr lang="en-US"/>
              <a:t>Doppler gain </a:t>
            </a:r>
            <a:r>
              <a:rPr lang="th-TH"/>
              <a:t>และ </a:t>
            </a:r>
            <a:r>
              <a:rPr lang="en-US"/>
              <a:t>clock recovery </a:t>
            </a:r>
            <a:r>
              <a:rPr lang="th-TH"/>
              <a:t>คำว่า </a:t>
            </a:r>
            <a:r>
              <a:rPr lang="en-US"/>
              <a:t>Not decoded </a:t>
            </a:r>
            <a:r>
              <a:rPr lang="th-TH"/>
              <a:t>ใน </a:t>
            </a:r>
            <a:r>
              <a:rPr lang="en-US"/>
              <a:t>validation </a:t>
            </a:r>
            <a:r>
              <a:rPr lang="th-TH"/>
              <a:t>หมายถึง </a:t>
            </a:r>
            <a:r>
              <a:rPr lang="en-US"/>
              <a:t>local chain </a:t>
            </a:r>
            <a:r>
              <a:rPr lang="th-TH"/>
              <a:t>ไม่ได้ </a:t>
            </a:r>
            <a:r>
              <a:rPr lang="en-US"/>
              <a:t>exact match </a:t>
            </a:r>
            <a:r>
              <a:rPr lang="th-TH"/>
              <a:t>หรือ </a:t>
            </a:r>
            <a:r>
              <a:rPr lang="en-US"/>
              <a:t>diagnostic PDU </a:t>
            </a:r>
            <a:r>
              <a:rPr lang="th-TH"/>
              <a:t>ไม่ผ่านความยาวและ </a:t>
            </a:r>
            <a:r>
              <a:rPr lang="en-US"/>
              <a:t>path </a:t>
            </a:r>
            <a:r>
              <a:rPr lang="th-TH"/>
              <a:t>ส่วน </a:t>
            </a:r>
            <a:r>
              <a:rPr lang="en-US"/>
              <a:t>NOT DECODED </a:t>
            </a:r>
            <a:r>
              <a:rPr lang="th-TH"/>
              <a:t>ใน </a:t>
            </a:r>
            <a:r>
              <a:rPr lang="en-US"/>
              <a:t>dashboard </a:t>
            </a:r>
            <a:r>
              <a:rPr lang="th-TH"/>
              <a:t>หมายถึงยังไม่มี </a:t>
            </a:r>
            <a:r>
              <a:rPr lang="en-US"/>
              <a:t>authorized telemetry mapping </a:t>
            </a:r>
            <a:r>
              <a:rPr lang="th-TH"/>
              <a:t>เป็นคนละบริบทกัน
### </a:t>
            </a:r>
            <a:r>
              <a:rPr lang="en-US"/>
              <a:t>English backup
Overall exact recovery is 20 divided by 74 official control frames, or 27 percent. This is not spacecraft packet validity and does not mean that 73 percent of the decoder is wrong. It measures how many control frames the current local demodulator reproduces from OGG. Audio SNR, tuning, Doppler, gain, and clock recovery affect this value. In validation, not decoded means no local exact recovery. In the dashboard, NOT DECODED means no authorized telemetry mapping. These are different contexts.
### Key result
`27%` is local OGG recovery, not spacecraft health or total decoder accuracy.</a:t>
            </a:r>
          </a:p>
        </p:txBody>
      </p:sp>
      <p:sp>
        <p:nvSpPr>
          <p:cNvPr id="4" name="Slide Number Placeholder 3"/>
          <p:cNvSpPr>
            <a:spLocks noGrp="1"/>
          </p:cNvSpPr>
          <p:nvPr>
            <p:ph type="sldNum" sz="quarter" idx="5"/>
          </p:nvPr>
        </p:nvSpPr>
        <p:spPr/>
        <p:txBody>
          <a:bodyPr/>
          <a:lstStyle/>
          <a:p>
            <a:fld id="{BA32EA52-7DCD-4D83-BB6B-07BF28EEB216}" type="slidenum">
              <a:rPr lang="en-US" smtClean="0"/>
              <a:t>10</a:t>
            </a:fld>
            <a:endParaRPr lang="en-US"/>
          </a:p>
        </p:txBody>
      </p:sp>
    </p:spTree>
    <p:extLst>
      <p:ext uri="{BB962C8B-B14F-4D97-AF65-F5344CB8AC3E}">
        <p14:creationId xmlns:p14="http://schemas.microsoft.com/office/powerpoint/2010/main" val="152158518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ตาราง </a:t>
            </a:r>
            <a:r>
              <a:rPr lang="en-US"/>
              <a:t>validation </a:t>
            </a:r>
            <a:r>
              <a:rPr lang="th-TH"/>
              <a:t>ห้าแถวเป็นหลักฐานจากเสียงโดยตรง แต่ไม่ใช่ประวัติทั้งหมด ข้อมูล </a:t>
            </a:r>
            <a:r>
              <a:rPr lang="en-US"/>
              <a:t>historical </a:t>
            </a:r>
            <a:r>
              <a:rPr lang="th-TH"/>
              <a:t>จาก </a:t>
            </a:r>
            <a:r>
              <a:rPr lang="en-US"/>
              <a:t>SatNOGS demodulated frames </a:t>
            </a:r>
            <a:r>
              <a:rPr lang="th-TH"/>
              <a:t>ครอบคลุมวันที่ 7 กรกฎาคมถึง 30 สิงหาคม รวม 55 วัน, 17,155 เฟรม, 1,055 </a:t>
            </a:r>
            <a:r>
              <a:rPr lang="en-US"/>
              <a:t>observations </a:t>
            </a:r>
            <a:r>
              <a:rPr lang="th-TH"/>
              <a:t>และ 114 สถานี ตัวเลขนี้ใช้สร้างแนวโน้ม </a:t>
            </a:r>
            <a:r>
              <a:rPr lang="en-US"/>
              <a:t>telemetry </a:t>
            </a:r>
            <a:r>
              <a:rPr lang="th-TH"/>
              <a:t>และทดสอบ </a:t>
            </a:r>
            <a:r>
              <a:rPr lang="en-US"/>
              <a:t>dashboard </a:t>
            </a:r>
            <a:r>
              <a:rPr lang="th-TH"/>
              <a:t>ได้กว้างขึ้น แต่ต้องพูดให้ชัดว่า 17,155 เฟรมไม่ได้ถูกถอดจาก </a:t>
            </a:r>
            <a:r>
              <a:rPr lang="en-US"/>
              <a:t>OGG </a:t>
            </a:r>
            <a:r>
              <a:rPr lang="th-TH"/>
              <a:t>ด้วย </a:t>
            </a:r>
            <a:r>
              <a:rPr lang="en-US"/>
              <a:t>GNU Radio </a:t>
            </a:r>
            <a:r>
              <a:rPr lang="th-TH"/>
              <a:t>ของเราเองทั้งหมด การพิสูจน์ </a:t>
            </a:r>
            <a:r>
              <a:rPr lang="en-US"/>
              <a:t>OGG </a:t>
            </a:r>
            <a:r>
              <a:rPr lang="th-TH"/>
              <a:t>แบบ </a:t>
            </a:r>
            <a:r>
              <a:rPr lang="en-US"/>
              <a:t>byte-exact </a:t>
            </a:r>
            <a:r>
              <a:rPr lang="th-TH"/>
              <a:t>ปัจจุบันมีห้า </a:t>
            </a:r>
            <a:r>
              <a:rPr lang="en-US"/>
              <a:t>observations </a:t>
            </a:r>
            <a:r>
              <a:rPr lang="th-TH"/>
              <a:t>เพราะการแปลง </a:t>
            </a:r>
            <a:r>
              <a:rPr lang="en-US"/>
              <a:t>audio </a:t>
            </a:r>
            <a:r>
              <a:rPr lang="th-TH"/>
              <a:t>ทั้ง 1,464 </a:t>
            </a:r>
            <a:r>
              <a:rPr lang="en-US"/>
              <a:t>recordings </a:t>
            </a:r>
            <a:r>
              <a:rPr lang="th-TH"/>
              <a:t>จะใช้พื้นที่ </a:t>
            </a:r>
            <a:r>
              <a:rPr lang="en-US"/>
              <a:t>WAV </a:t>
            </a:r>
            <a:r>
              <a:rPr lang="th-TH"/>
              <a:t>ประมาณหลัก 100 </a:t>
            </a:r>
            <a:r>
              <a:rPr lang="en-US"/>
              <a:t>gigabytes
### English backup
The five-row validation table is direct audio evidence, not the full history. SatNOGS demodulated historical data covers 7 July through 30 August: 55 UTC days, 17,155 frames, 1,055 observations, and 114 stations. This history supports telemetry trends and dashboard testing. However, these 17,155 frames were not all re-demodulated locally from OGG. Direct byte-exact OGG validation currently covers five observations because processing all 1,464 recordings would require roughly 100 gigabytes of temporary WAV storage.
### Key result
Historical breadth and direct OGG proof are reported as separate datasets.</a:t>
            </a:r>
          </a:p>
        </p:txBody>
      </p:sp>
      <p:sp>
        <p:nvSpPr>
          <p:cNvPr id="4" name="Slide Number Placeholder 3"/>
          <p:cNvSpPr>
            <a:spLocks noGrp="1"/>
          </p:cNvSpPr>
          <p:nvPr>
            <p:ph type="sldNum" sz="quarter" idx="5"/>
          </p:nvPr>
        </p:nvSpPr>
        <p:spPr/>
        <p:txBody>
          <a:bodyPr/>
          <a:lstStyle/>
          <a:p>
            <a:fld id="{BA32EA52-7DCD-4D83-BB6B-07BF28EEB216}" type="slidenum">
              <a:rPr lang="en-US" smtClean="0"/>
              <a:t>11</a:t>
            </a:fld>
            <a:endParaRPr lang="en-US"/>
          </a:p>
        </p:txBody>
      </p:sp>
    </p:spTree>
    <p:extLst>
      <p:ext uri="{BB962C8B-B14F-4D97-AF65-F5344CB8AC3E}">
        <p14:creationId xmlns:p14="http://schemas.microsoft.com/office/powerpoint/2010/main" val="1345382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หลังได้เฟรมที่ </a:t>
            </a:r>
            <a:r>
              <a:rPr lang="en-US"/>
              <a:t>valid </a:t>
            </a:r>
            <a:r>
              <a:rPr lang="th-TH"/>
              <a:t>แล้ว </a:t>
            </a:r>
            <a:r>
              <a:rPr lang="en-US"/>
              <a:t>decoder </a:t>
            </a:r>
            <a:r>
              <a:rPr lang="th-TH"/>
              <a:t>จะแปลเฉพาะ </a:t>
            </a:r>
            <a:r>
              <a:rPr lang="en-US"/>
              <a:t>field </a:t>
            </a:r>
            <a:r>
              <a:rPr lang="th-TH"/>
              <a:t>ที่มีหลักฐานและติดป้าย </a:t>
            </a:r>
            <a:r>
              <a:rPr lang="en-US"/>
              <a:t>confidence </a:t>
            </a:r>
            <a:r>
              <a:rPr lang="th-TH"/>
              <a:t>ทุก </a:t>
            </a:r>
            <a:r>
              <a:rPr lang="en-US"/>
              <a:t>channel </a:t>
            </a:r>
            <a:r>
              <a:rPr lang="th-TH"/>
              <a:t>กลุ่ม </a:t>
            </a:r>
            <a:r>
              <a:rPr lang="en-US"/>
              <a:t>confirmed </a:t>
            </a:r>
            <a:r>
              <a:rPr lang="th-TH"/>
              <a:t>ได้แก่ </a:t>
            </a:r>
            <a:r>
              <a:rPr lang="en-US"/>
              <a:t>OBC time, boot counter, uptime, packet counter, battery temperatures, CDH </a:t>
            </a:r>
            <a:r>
              <a:rPr lang="th-TH"/>
              <a:t>และ </a:t>
            </a:r>
            <a:r>
              <a:rPr lang="en-US"/>
              <a:t>ADCS temperatures </a:t>
            </a:r>
            <a:r>
              <a:rPr lang="th-TH"/>
              <a:t>และ </a:t>
            </a:r>
            <a:r>
              <a:rPr lang="en-US"/>
              <a:t>health counters </a:t>
            </a:r>
            <a:r>
              <a:rPr lang="th-TH"/>
              <a:t>กลุ่ม </a:t>
            </a:r>
            <a:r>
              <a:rPr lang="en-US"/>
              <a:t>candidate </a:t>
            </a:r>
            <a:r>
              <a:rPr lang="th-TH"/>
              <a:t>ได้แก่ </a:t>
            </a:r>
            <a:r>
              <a:rPr lang="en-US"/>
              <a:t>solar voltage </a:t>
            </a:r>
            <a:r>
              <a:rPr lang="th-TH"/>
              <a:t>สอง </a:t>
            </a:r>
            <a:r>
              <a:rPr lang="en-US"/>
              <a:t>channel </a:t>
            </a:r>
            <a:r>
              <a:rPr lang="th-TH"/>
              <a:t>และ </a:t>
            </a:r>
            <a:r>
              <a:rPr lang="en-US"/>
              <a:t>COMM raw voltage </a:t>
            </a:r>
            <a:r>
              <a:rPr lang="th-TH"/>
              <a:t>ซึ่งมีพฤติกรรมสมเหตุผลแต่ </a:t>
            </a:r>
            <a:r>
              <a:rPr lang="en-US"/>
              <a:t>mapping </a:t>
            </a:r>
            <a:r>
              <a:rPr lang="th-TH"/>
              <a:t>หรือ </a:t>
            </a:r>
            <a:r>
              <a:rPr lang="en-US"/>
              <a:t>engineering scale </a:t>
            </a:r>
            <a:r>
              <a:rPr lang="th-TH"/>
              <a:t>ยังไม่ยืนยัน ส่วน </a:t>
            </a:r>
            <a:r>
              <a:rPr lang="en-US"/>
              <a:t>target fields </a:t>
            </a:r>
            <a:r>
              <a:rPr lang="th-TH"/>
              <a:t>อย่าง </a:t>
            </a:r>
            <a:r>
              <a:rPr lang="en-US"/>
              <a:t>spacecraft mode, battery voltage/current, solar currents </a:t>
            </a:r>
            <a:r>
              <a:rPr lang="th-TH"/>
              <a:t>และ </a:t>
            </a:r>
            <a:r>
              <a:rPr lang="en-US"/>
              <a:t>power distribution </a:t>
            </a:r>
            <a:r>
              <a:rPr lang="th-TH"/>
              <a:t>จะแสดง </a:t>
            </a:r>
            <a:r>
              <a:rPr lang="en-US"/>
              <a:t>NOT DECODED </a:t>
            </a:r>
            <a:r>
              <a:rPr lang="th-TH"/>
              <a:t>จนกว่าจะมีเอกสารที่ได้รับอนุญาต วิธีนี้ทำให้ </a:t>
            </a:r>
            <a:r>
              <a:rPr lang="en-US"/>
              <a:t>dashboard </a:t>
            </a:r>
            <a:r>
              <a:rPr lang="th-TH"/>
              <a:t>ครบโครงสร้างโดยไม่แต่งตัวเลข
### </a:t>
            </a:r>
            <a:r>
              <a:rPr lang="en-US"/>
              <a:t>English backup
After frame validation, every telemetry channel receives an explicit confidence state. Confirmed channels include OBC time, boot counter, uptime, packet counter, battery temperatures, CDH and ADCS temperatures, and health counters. Two solar-voltage channels and a raw COMM voltage remain candidates. Target fields such as spacecraft mode, battery voltage and current, solar currents, and power distribution remain NOT DECODED until an authorized mapping is available. This gives a complete layout without fabricated telemetry.
### Key result
`CONFIRMED`, `CANDIDATE`, and `NOT DECODED` are never mixed.</a:t>
            </a:r>
          </a:p>
        </p:txBody>
      </p:sp>
      <p:sp>
        <p:nvSpPr>
          <p:cNvPr id="4" name="Slide Number Placeholder 3"/>
          <p:cNvSpPr>
            <a:spLocks noGrp="1"/>
          </p:cNvSpPr>
          <p:nvPr>
            <p:ph type="sldNum" sz="quarter" idx="5"/>
          </p:nvPr>
        </p:nvSpPr>
        <p:spPr/>
        <p:txBody>
          <a:bodyPr/>
          <a:lstStyle/>
          <a:p>
            <a:fld id="{BA32EA52-7DCD-4D83-BB6B-07BF28EEB216}" type="slidenum">
              <a:rPr lang="en-US" smtClean="0"/>
              <a:t>12</a:t>
            </a:fld>
            <a:endParaRPr lang="en-US"/>
          </a:p>
        </p:txBody>
      </p:sp>
    </p:spTree>
    <p:extLst>
      <p:ext uri="{BB962C8B-B14F-4D97-AF65-F5344CB8AC3E}">
        <p14:creationId xmlns:p14="http://schemas.microsoft.com/office/powerpoint/2010/main" val="300713423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ข้อมูลถูกเขียนลง </a:t>
            </a:r>
            <a:r>
              <a:rPr lang="en-US"/>
              <a:t>InfluxDB </a:t>
            </a:r>
            <a:r>
              <a:rPr lang="th-TH"/>
              <a:t>สองแบบ แบบแรกคือ </a:t>
            </a:r>
            <a:r>
              <a:rPr lang="en-US"/>
              <a:t>beacon channel/value </a:t>
            </a:r>
            <a:r>
              <a:rPr lang="th-TH"/>
              <a:t>สำหรับกราฟตามเวลา พร้อม </a:t>
            </a:r>
            <a:r>
              <a:rPr lang="en-US"/>
              <a:t>tags </a:t>
            </a:r>
            <a:r>
              <a:rPr lang="th-TH"/>
              <a:t>เช่น </a:t>
            </a:r>
            <a:r>
              <a:rPr lang="en-US"/>
              <a:t>quality, unit, source </a:t>
            </a:r>
            <a:r>
              <a:rPr lang="th-TH"/>
              <a:t>และ </a:t>
            </a:r>
            <a:r>
              <a:rPr lang="en-US"/>
              <a:t>observation ID </a:t>
            </a:r>
            <a:r>
              <a:rPr lang="th-TH"/>
              <a:t>แบบที่สองคือ </a:t>
            </a:r>
            <a:r>
              <a:rPr lang="en-US"/>
              <a:t>decoder_run </a:t>
            </a:r>
            <a:r>
              <a:rPr lang="th-TH"/>
              <a:t>ซึ่งเก็บสถานะ </a:t>
            </a:r>
            <a:r>
              <a:rPr lang="en-US"/>
              <a:t>PASS, </a:t>
            </a:r>
            <a:r>
              <a:rPr lang="th-TH"/>
              <a:t>สถานี, จำนวน </a:t>
            </a:r>
            <a:r>
              <a:rPr lang="en-US"/>
              <a:t>KISS, valid frames, exact matches, recovery </a:t>
            </a:r>
            <a:r>
              <a:rPr lang="th-TH"/>
              <a:t>และ </a:t>
            </a:r>
            <a:r>
              <a:rPr lang="en-US"/>
              <a:t>raw HEX </a:t>
            </a:r>
            <a:r>
              <a:rPr lang="th-TH"/>
              <a:t>ล่าสุด </a:t>
            </a:r>
            <a:r>
              <a:rPr lang="en-US"/>
              <a:t>Grafana </a:t>
            </a:r>
            <a:r>
              <a:rPr lang="th-TH"/>
              <a:t>รุ่นเต็มมี 43 </a:t>
            </a:r>
            <a:r>
              <a:rPr lang="en-US"/>
              <a:t>panels </a:t>
            </a:r>
            <a:r>
              <a:rPr lang="th-TH"/>
              <a:t>ครอบคลุม </a:t>
            </a:r>
            <a:r>
              <a:rPr lang="en-US"/>
              <a:t>summary, orbit, decoder evidence, solar, battery, power distribution, comms, thermal, health, OBC </a:t>
            </a:r>
            <a:r>
              <a:rPr lang="th-TH"/>
              <a:t>และ </a:t>
            </a:r>
            <a:r>
              <a:rPr lang="en-US"/>
              <a:t>recent values </a:t>
            </a:r>
            <a:r>
              <a:rPr lang="th-TH"/>
              <a:t>มี </a:t>
            </a:r>
            <a:r>
              <a:rPr lang="en-US"/>
              <a:t>live Flux queries 22 targets </a:t>
            </a:r>
            <a:r>
              <a:rPr lang="th-TH"/>
              <a:t>และผ่าน </a:t>
            </a:r>
            <a:r>
              <a:rPr lang="en-US"/>
              <a:t>validator 22 </a:t>
            </a:r>
            <a:r>
              <a:rPr lang="th-TH"/>
              <a:t>จาก 22 ช่องที่ไม่มี </a:t>
            </a:r>
            <a:r>
              <a:rPr lang="en-US"/>
              <a:t>mapping </a:t>
            </a:r>
            <a:r>
              <a:rPr lang="th-TH"/>
              <a:t>จะยังปรากฏในตำแหน่งที่ควรอยู่ แต่แสดง </a:t>
            </a:r>
            <a:r>
              <a:rPr lang="en-US"/>
              <a:t>NOT DECODED </a:t>
            </a:r>
            <a:r>
              <a:rPr lang="th-TH"/>
              <a:t>สีส้ม
### </a:t>
            </a:r>
            <a:r>
              <a:rPr lang="en-US"/>
              <a:t>English backup
InfluxDB stores two operational views. The beacon measurement stores time-series channel/value feedback with quality, unit, source, and observation tags. The decoder_run measurement stores PASS status, station, KISS count, valid frames, exact matches, recovery, and latest raw HEX. The full Grafana dashboard contains 43 panels across summary, orbit, decoder evidence, electrical, battery, power, comms, thermal, health, OBC, and recent values. All 22 live Flux query targets pass validation.
### Key result
`43 panels | 22/22 live queries passed | no fabricated values`</a:t>
            </a:r>
          </a:p>
        </p:txBody>
      </p:sp>
      <p:sp>
        <p:nvSpPr>
          <p:cNvPr id="4" name="Slide Number Placeholder 3"/>
          <p:cNvSpPr>
            <a:spLocks noGrp="1"/>
          </p:cNvSpPr>
          <p:nvPr>
            <p:ph type="sldNum" sz="quarter" idx="5"/>
          </p:nvPr>
        </p:nvSpPr>
        <p:spPr/>
        <p:txBody>
          <a:bodyPr/>
          <a:lstStyle/>
          <a:p>
            <a:fld id="{BA32EA52-7DCD-4D83-BB6B-07BF28EEB216}" type="slidenum">
              <a:rPr lang="en-US" smtClean="0"/>
              <a:t>13</a:t>
            </a:fld>
            <a:endParaRPr lang="en-US"/>
          </a:p>
        </p:txBody>
      </p:sp>
    </p:spTree>
    <p:extLst>
      <p:ext uri="{BB962C8B-B14F-4D97-AF65-F5344CB8AC3E}">
        <p14:creationId xmlns:p14="http://schemas.microsoft.com/office/powerpoint/2010/main" val="40362710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เดโมใช้คำสั่งเดียว </a:t>
            </a:r>
            <a:r>
              <a:rPr lang="en-US"/>
              <a:t>live_refresh.ps1 </a:t>
            </a:r>
            <a:r>
              <a:rPr lang="th-TH"/>
              <a:t>ระบบจะเปิด </a:t>
            </a:r>
            <a:r>
              <a:rPr lang="en-US"/>
              <a:t>local InfluxDB </a:t>
            </a:r>
            <a:r>
              <a:rPr lang="th-TH"/>
              <a:t>และ </a:t>
            </a:r>
            <a:r>
              <a:rPr lang="en-US"/>
              <a:t>Grafana </a:t>
            </a:r>
            <a:r>
              <a:rPr lang="th-TH"/>
              <a:t>ถ้ายังไม่ทำงาน เลือก </a:t>
            </a:r>
            <a:r>
              <a:rPr lang="en-US"/>
              <a:t>observation </a:t>
            </a:r>
            <a:r>
              <a:rPr lang="th-TH"/>
              <a:t>หรือใช้ </a:t>
            </a:r>
            <a:r>
              <a:rPr lang="en-US"/>
              <a:t>ID </a:t>
            </a:r>
            <a:r>
              <a:rPr lang="th-TH"/>
              <a:t>ที่กำหนด ดาวน์โหลด </a:t>
            </a:r>
            <a:r>
              <a:rPr lang="en-US"/>
              <a:t>OGG </a:t>
            </a:r>
            <a:r>
              <a:rPr lang="th-TH"/>
              <a:t>แปลง </a:t>
            </a:r>
            <a:r>
              <a:rPr lang="en-US"/>
              <a:t>WAV </a:t>
            </a:r>
            <a:r>
              <a:rPr lang="th-TH"/>
              <a:t>เรียก </a:t>
            </a:r>
            <a:r>
              <a:rPr lang="en-US"/>
              <a:t>GNU Radio </a:t>
            </a:r>
            <a:r>
              <a:rPr lang="th-TH"/>
              <a:t>กรองเฟรม เปรียบเทียบ </a:t>
            </a:r>
            <a:r>
              <a:rPr lang="en-US"/>
              <a:t>control </a:t>
            </a:r>
            <a:r>
              <a:rPr lang="th-TH"/>
              <a:t>และ </a:t>
            </a:r>
            <a:r>
              <a:rPr lang="en-US"/>
              <a:t>push dashboard </a:t>
            </a:r>
            <a:r>
              <a:rPr lang="th-TH"/>
              <a:t>ผลการรันล่าสุดกับ </a:t>
            </a:r>
            <a:r>
              <a:rPr lang="en-US"/>
              <a:t>observation 14909703 </a:t>
            </a:r>
            <a:r>
              <a:rPr lang="th-TH"/>
              <a:t>คือ </a:t>
            </a:r>
            <a:r>
              <a:rPr lang="en-US"/>
              <a:t>captured KISS 6, valid KOYO 2, exact match 1 </a:t>
            </a:r>
            <a:r>
              <a:rPr lang="th-TH"/>
              <a:t>และ </a:t>
            </a:r>
            <a:r>
              <a:rPr lang="en-US"/>
              <a:t>InfluxDB </a:t>
            </a:r>
            <a:r>
              <a:rPr lang="th-TH"/>
              <a:t>ตอบ </a:t>
            </a:r>
            <a:r>
              <a:rPr lang="en-US"/>
              <a:t>HTTP 204 </a:t>
            </a:r>
            <a:r>
              <a:rPr lang="th-TH"/>
              <a:t>หลังจากนั้น </a:t>
            </a:r>
            <a:r>
              <a:rPr lang="en-US"/>
              <a:t>dashboard </a:t>
            </a:r>
            <a:r>
              <a:rPr lang="th-TH"/>
              <a:t>แสดง </a:t>
            </a:r>
            <a:r>
              <a:rPr lang="en-US"/>
              <a:t>PASS </a:t>
            </a:r>
            <a:r>
              <a:rPr lang="th-TH"/>
              <a:t>และ </a:t>
            </a:r>
            <a:r>
              <a:rPr lang="en-US"/>
              <a:t>raw HEX </a:t>
            </a:r>
            <a:r>
              <a:rPr lang="th-TH"/>
              <a:t>ของเฟรมล่าสุด เดโมนี้จึงพิสูจน์เส้นทาง </a:t>
            </a:r>
            <a:r>
              <a:rPr lang="en-US"/>
              <a:t>end-to-end </a:t>
            </a:r>
            <a:r>
              <a:rPr lang="th-TH"/>
              <a:t>แต่ </a:t>
            </a:r>
            <a:r>
              <a:rPr lang="en-US"/>
              <a:t>latest </a:t>
            </a:r>
            <a:r>
              <a:rPr lang="th-TH"/>
              <a:t>ยังหมายถึงไฟล์อัปโหลดล่าสุด ไม่ใช่ </a:t>
            </a:r>
            <a:r>
              <a:rPr lang="en-US"/>
              <a:t>live RF socket
### English backup
The live_refresh command runs the complete path. It starts local services if needed, selects an observation, downloads OGG, creates WAV, invokes GNU Radio, filters and compares frames, and pushes the result to the dashboard. The verified run for observation 14909703 produced six KISS frames, two valid KOYO frames, one exact match, and an HTTP 204 InfluxDB write. Grafana then displayed PASS and the latest raw HEX. Latest still means the newest uploaded file, not a live RF socket.
### Key result
The one-command demo completed from SatNOGS audio to Grafana with `HTTP 204`.</a:t>
            </a:r>
          </a:p>
        </p:txBody>
      </p:sp>
      <p:sp>
        <p:nvSpPr>
          <p:cNvPr id="4" name="Slide Number Placeholder 3"/>
          <p:cNvSpPr>
            <a:spLocks noGrp="1"/>
          </p:cNvSpPr>
          <p:nvPr>
            <p:ph type="sldNum" sz="quarter" idx="5"/>
          </p:nvPr>
        </p:nvSpPr>
        <p:spPr/>
        <p:txBody>
          <a:bodyPr/>
          <a:lstStyle/>
          <a:p>
            <a:fld id="{BA32EA52-7DCD-4D83-BB6B-07BF28EEB216}" type="slidenum">
              <a:rPr lang="en-US" smtClean="0"/>
              <a:t>14</a:t>
            </a:fld>
            <a:endParaRPr lang="en-US"/>
          </a:p>
        </p:txBody>
      </p:sp>
    </p:spTree>
    <p:extLst>
      <p:ext uri="{BB962C8B-B14F-4D97-AF65-F5344CB8AC3E}">
        <p14:creationId xmlns:p14="http://schemas.microsoft.com/office/powerpoint/2010/main" val="6806980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th-TH"/>
              <a:t>### สคริปต์ไทย
สรุปครับ งานนี้พิสูจน์ว่าเราสามารถเริ่มจาก </a:t>
            </a:r>
            <a:r>
              <a:rPr lang="en-US"/>
              <a:t>SatNOGS audio </a:t>
            </a:r>
            <a:r>
              <a:rPr lang="th-TH"/>
              <a:t>และถอดเป็นเฟรม </a:t>
            </a:r>
            <a:r>
              <a:rPr lang="en-US"/>
              <a:t>KOYO </a:t>
            </a:r>
            <a:r>
              <a:rPr lang="th-TH"/>
              <a:t>ที่ตรงกับ </a:t>
            </a:r>
            <a:r>
              <a:rPr lang="en-US"/>
              <a:t>control </a:t>
            </a:r>
            <a:r>
              <a:rPr lang="th-TH"/>
              <a:t>ได้จริง ระบบทำซ้ำได้ มี </a:t>
            </a:r>
            <a:r>
              <a:rPr lang="en-US"/>
              <a:t>flowgraph </a:t>
            </a:r>
            <a:r>
              <a:rPr lang="th-TH"/>
              <a:t>แก้ไขได้ มี </a:t>
            </a:r>
            <a:r>
              <a:rPr lang="en-US"/>
              <a:t>validation </a:t>
            </a:r>
            <a:r>
              <a:rPr lang="th-TH"/>
              <a:t>ข้ามสถานี และมี </a:t>
            </a:r>
            <a:r>
              <a:rPr lang="en-US"/>
              <a:t>dashboard </a:t>
            </a:r>
            <a:r>
              <a:rPr lang="th-TH"/>
              <a:t>ที่บอก </a:t>
            </a:r>
            <a:r>
              <a:rPr lang="en-US"/>
              <a:t>confidence </a:t>
            </a:r>
            <a:r>
              <a:rPr lang="th-TH"/>
              <a:t>ตรงไปตรงมา ข้อจำกัดคือ </a:t>
            </a:r>
            <a:r>
              <a:rPr lang="en-US"/>
              <a:t>recovery </a:t>
            </a:r>
            <a:r>
              <a:rPr lang="th-TH"/>
              <a:t>จาก </a:t>
            </a:r>
            <a:r>
              <a:rPr lang="en-US"/>
              <a:t>OGG </a:t>
            </a:r>
            <a:r>
              <a:rPr lang="th-TH"/>
              <a:t>รวมยัง 27 เปอร์เซ็นต์, </a:t>
            </a:r>
            <a:r>
              <a:rPr lang="en-US"/>
              <a:t>direct audio validation </a:t>
            </a:r>
            <a:r>
              <a:rPr lang="th-TH"/>
              <a:t>มีห้า </a:t>
            </a:r>
            <a:r>
              <a:rPr lang="en-US"/>
              <a:t>observations, SatNOGS </a:t>
            </a:r>
            <a:r>
              <a:rPr lang="th-TH"/>
              <a:t>ไม่ใช่ </a:t>
            </a:r>
            <a:r>
              <a:rPr lang="en-US"/>
              <a:t>RF live stream </a:t>
            </a:r>
            <a:r>
              <a:rPr lang="th-TH"/>
              <a:t>และ </a:t>
            </a:r>
            <a:r>
              <a:rPr lang="en-US"/>
              <a:t>telemetry mappings </a:t>
            </a:r>
            <a:r>
              <a:rPr lang="th-TH"/>
              <a:t>บางส่วนยัง </a:t>
            </a:r>
            <a:r>
              <a:rPr lang="en-US"/>
              <a:t>candidate </a:t>
            </a:r>
            <a:r>
              <a:rPr lang="th-TH"/>
              <a:t>หรือ </a:t>
            </a:r>
            <a:r>
              <a:rPr lang="en-US"/>
              <a:t>unavailable </a:t>
            </a:r>
            <a:r>
              <a:rPr lang="th-TH"/>
              <a:t>งานถัดไปคือปรับ </a:t>
            </a:r>
            <a:r>
              <a:rPr lang="en-US"/>
              <a:t>demodulator </a:t>
            </a:r>
            <a:r>
              <a:rPr lang="th-TH"/>
              <a:t>แบบ </a:t>
            </a:r>
            <a:r>
              <a:rPr lang="en-US"/>
              <a:t>adaptive, batch audio </a:t>
            </a:r>
            <a:r>
              <a:rPr lang="th-TH"/>
              <a:t>เพิ่มโดยไม่เก็บ </a:t>
            </a:r>
            <a:r>
              <a:rPr lang="en-US"/>
              <a:t>WAV </a:t>
            </a:r>
            <a:r>
              <a:rPr lang="th-TH"/>
              <a:t>ถาวร, ยืนยัน </a:t>
            </a:r>
            <a:r>
              <a:rPr lang="en-US"/>
              <a:t>field mappings </a:t>
            </a:r>
            <a:r>
              <a:rPr lang="th-TH"/>
              <a:t>จากแหล่งที่ได้รับอนุญาต และเพิ่ม </a:t>
            </a:r>
            <a:r>
              <a:rPr lang="en-US"/>
              <a:t>automated regression tests </a:t>
            </a:r>
            <a:r>
              <a:rPr lang="th-TH"/>
              <a:t>ก่อน </a:t>
            </a:r>
            <a:r>
              <a:rPr lang="en-US"/>
              <a:t>deployment
### English backup
In conclusion, the project proves a real SatNOGS-audio-to-KOYO-frame path with byte-exact control matches. It is reproducible, editable, validated across stations, and honest about telemetry confidence. Current limitations are 27-percent overall OGG recovery, five directly tested observations, store-and-forward rather than live RF, and remaining candidate or unavailable mappings. Next steps are adaptive demodulator tuning, streaming batch processing without permanent WAV files, authorized mapping validation, and broader automated regression tests.
### Key result
The decoder path is proven; the remaining work is recovery optimization and authorized mapping completion.</a:t>
            </a:r>
          </a:p>
        </p:txBody>
      </p:sp>
      <p:sp>
        <p:nvSpPr>
          <p:cNvPr id="4" name="Slide Number Placeholder 3"/>
          <p:cNvSpPr>
            <a:spLocks noGrp="1"/>
          </p:cNvSpPr>
          <p:nvPr>
            <p:ph type="sldNum" sz="quarter" idx="5"/>
          </p:nvPr>
        </p:nvSpPr>
        <p:spPr/>
        <p:txBody>
          <a:bodyPr/>
          <a:lstStyle/>
          <a:p>
            <a:fld id="{BA32EA52-7DCD-4D83-BB6B-07BF28EEB216}" type="slidenum">
              <a:rPr lang="en-US" smtClean="0"/>
              <a:t>15</a:t>
            </a:fld>
            <a:endParaRPr lang="en-US"/>
          </a:p>
        </p:txBody>
      </p:sp>
    </p:spTree>
    <p:extLst>
      <p:ext uri="{BB962C8B-B14F-4D97-AF65-F5344CB8AC3E}">
        <p14:creationId xmlns:p14="http://schemas.microsoft.com/office/powerpoint/2010/main" val="1728412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09F18-2E6B-3684-8D16-8121B94DC29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418445C-9C19-660A-1DCE-B9A3C86CB49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40DF547-6808-B4A9-B6A1-B02C857B04F0}"/>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5" name="Footer Placeholder 4">
            <a:extLst>
              <a:ext uri="{FF2B5EF4-FFF2-40B4-BE49-F238E27FC236}">
                <a16:creationId xmlns:a16="http://schemas.microsoft.com/office/drawing/2014/main" id="{FA83D2EF-370A-DE2C-6205-440C227FCD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756BE3-D00B-033F-F932-1D578F2213CD}"/>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178322025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B77D0-9665-356A-42AD-4A15C10D6D2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954A146-2F1C-6861-F118-022D1FD4D0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A810D77-89F7-4DF1-27B2-89A4F6BFF61F}"/>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5" name="Footer Placeholder 4">
            <a:extLst>
              <a:ext uri="{FF2B5EF4-FFF2-40B4-BE49-F238E27FC236}">
                <a16:creationId xmlns:a16="http://schemas.microsoft.com/office/drawing/2014/main" id="{C0970926-D042-555B-C5B9-A6D4198F0D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ADECE0-6284-7CD5-04A2-68EC2A26854D}"/>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20724674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56CB5-65A5-FDA9-E612-6EEEC9FA1B2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3C681D0-8C28-35A5-D99F-6569A680E9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29899C-5759-9669-3520-EE37D6288C0B}"/>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5" name="Footer Placeholder 4">
            <a:extLst>
              <a:ext uri="{FF2B5EF4-FFF2-40B4-BE49-F238E27FC236}">
                <a16:creationId xmlns:a16="http://schemas.microsoft.com/office/drawing/2014/main" id="{463EF9F3-84AC-7945-2911-266D95C618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55082E-917E-E4A0-94B4-0AD0C20117FA}"/>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37859702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D4732-58FC-0D29-14CC-A078243EE62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95EEEC4-0349-B47E-0AD4-225633A1DFB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729D108-943A-F6DD-A035-E7BE032DA32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2D7AD2C-EC2D-131D-3167-0270BD585FE3}"/>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6" name="Footer Placeholder 5">
            <a:extLst>
              <a:ext uri="{FF2B5EF4-FFF2-40B4-BE49-F238E27FC236}">
                <a16:creationId xmlns:a16="http://schemas.microsoft.com/office/drawing/2014/main" id="{62545C27-1665-CB8C-F384-6F30855E89B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C7BDBB5-EAEA-C4F1-E0A0-D95751A8B7B2}"/>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12863370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F9CA0-0EED-14C1-FF81-0BE075DA015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1172631-6D1A-28A8-BF7C-C631F6769A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4DE55AD-691F-657E-78E2-5A54698637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25E6757-6FE1-17EF-34C6-7B196F72A6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54DCC7-3D87-452F-FB2E-1ABD6642E12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DF5D086-D9B4-02BE-82C7-67EEB7256B16}"/>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8" name="Footer Placeholder 7">
            <a:extLst>
              <a:ext uri="{FF2B5EF4-FFF2-40B4-BE49-F238E27FC236}">
                <a16:creationId xmlns:a16="http://schemas.microsoft.com/office/drawing/2014/main" id="{31777CDB-C717-74EC-1FF2-3D296645789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4575E93-DAA8-97C8-4003-EA5ECF78E35E}"/>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26229152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25882-5200-FF55-1E55-8F05ED7258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19EF5FB-4856-A49E-9DC9-08AE8701FB4D}"/>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4" name="Footer Placeholder 3">
            <a:extLst>
              <a:ext uri="{FF2B5EF4-FFF2-40B4-BE49-F238E27FC236}">
                <a16:creationId xmlns:a16="http://schemas.microsoft.com/office/drawing/2014/main" id="{79C1922B-9DDF-E840-B5B7-A4061CAA071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F533F6C-FC53-BA55-7D3B-EF784DCFBC4F}"/>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6009822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CE12C8-189A-8D92-EA73-1ACCE7CCB23B}"/>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3" name="Footer Placeholder 2">
            <a:extLst>
              <a:ext uri="{FF2B5EF4-FFF2-40B4-BE49-F238E27FC236}">
                <a16:creationId xmlns:a16="http://schemas.microsoft.com/office/drawing/2014/main" id="{9D45B35D-23E1-1CCF-6198-CE735CB4AC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3C6C1C6-BC09-F311-BCD8-9F2FAC705A02}"/>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35871373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8F2011-115A-40B8-414C-ECA996B0CC5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827BF67-7DA3-315D-7607-B3E1BC3EA62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1757A99-3CDD-E3BE-02E2-3CEC45974A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D750B8-BD2B-694A-0F46-747CF63C9961}"/>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6" name="Footer Placeholder 5">
            <a:extLst>
              <a:ext uri="{FF2B5EF4-FFF2-40B4-BE49-F238E27FC236}">
                <a16:creationId xmlns:a16="http://schemas.microsoft.com/office/drawing/2014/main" id="{3B6D8148-C52D-E59E-7B1F-85FE81C034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3B87913-0B50-5055-2ACD-23270FDB39B2}"/>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20092997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030F0-FC60-086F-1864-2AE3ED6AD3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448A38C-5C34-0628-BDDE-4A8D0E7B6D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E4089283-BE5C-77D3-517D-DCE2013A2D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9D4F88-EBBD-C858-ADA4-AE698ADB1B9B}"/>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6" name="Footer Placeholder 5">
            <a:extLst>
              <a:ext uri="{FF2B5EF4-FFF2-40B4-BE49-F238E27FC236}">
                <a16:creationId xmlns:a16="http://schemas.microsoft.com/office/drawing/2014/main" id="{BB17015E-CAD5-2C5B-EC03-9492975ACFD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936BC4E-AAD8-3DB0-112E-3B1DF324D6D3}"/>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16503092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2DC9D-9A31-33D4-1A1F-362129D1555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10FE143-D787-92C6-21B4-1661E4F9394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266F91-5460-780A-DC2F-BEF28F76539F}"/>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5" name="Footer Placeholder 4">
            <a:extLst>
              <a:ext uri="{FF2B5EF4-FFF2-40B4-BE49-F238E27FC236}">
                <a16:creationId xmlns:a16="http://schemas.microsoft.com/office/drawing/2014/main" id="{7AA2F43F-32A9-9805-A092-AAF703F3B3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96A584-031A-F758-8769-58B514C9F34F}"/>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3821690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1708132-E10F-3385-FF7E-A27425E3F9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1FFE9DA-C7C2-C892-27C3-F66E2735621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AEB4ECD-8F96-06EE-39D4-C8464E06FAAA}"/>
              </a:ext>
            </a:extLst>
          </p:cNvPr>
          <p:cNvSpPr>
            <a:spLocks noGrp="1"/>
          </p:cNvSpPr>
          <p:nvPr>
            <p:ph type="dt" sz="half" idx="10"/>
          </p:nvPr>
        </p:nvSpPr>
        <p:spPr/>
        <p:txBody>
          <a:bodyPr/>
          <a:lstStyle/>
          <a:p>
            <a:fld id="{0AFE1D16-2CE1-46D1-96E8-75010887E9AA}" type="datetimeFigureOut">
              <a:rPr lang="en-US" smtClean="0"/>
              <a:t>8/31/2026</a:t>
            </a:fld>
            <a:endParaRPr lang="en-US"/>
          </a:p>
        </p:txBody>
      </p:sp>
      <p:sp>
        <p:nvSpPr>
          <p:cNvPr id="5" name="Footer Placeholder 4">
            <a:extLst>
              <a:ext uri="{FF2B5EF4-FFF2-40B4-BE49-F238E27FC236}">
                <a16:creationId xmlns:a16="http://schemas.microsoft.com/office/drawing/2014/main" id="{B9DA1993-5B9D-0365-4014-79084093D1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F79AC-1876-C980-0D46-ADD21BC112ED}"/>
              </a:ext>
            </a:extLst>
          </p:cNvPr>
          <p:cNvSpPr>
            <a:spLocks noGrp="1"/>
          </p:cNvSpPr>
          <p:nvPr>
            <p:ph type="sldNum" sz="quarter" idx="12"/>
          </p:nvPr>
        </p:nvSpPr>
        <p:spPr/>
        <p:txBody>
          <a:bodyPr/>
          <a:lstStyle/>
          <a:p>
            <a:fld id="{FFDF2A02-AD7C-46D6-88B6-D72A07D98C13}" type="slidenum">
              <a:rPr lang="en-US" smtClean="0"/>
              <a:t>‹#›</a:t>
            </a:fld>
            <a:endParaRPr lang="en-US"/>
          </a:p>
        </p:txBody>
      </p:sp>
    </p:spTree>
    <p:extLst>
      <p:ext uri="{BB962C8B-B14F-4D97-AF65-F5344CB8AC3E}">
        <p14:creationId xmlns:p14="http://schemas.microsoft.com/office/powerpoint/2010/main" val="32095871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94EFDD-806F-5886-1AFE-A2A5F4EB49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CD53EF7-F08C-29A8-102C-951C07BEB22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470615-05F2-FB69-F150-99388C71B9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FE1D16-2CE1-46D1-96E8-75010887E9AA}" type="datetimeFigureOut">
              <a:rPr lang="en-US" smtClean="0"/>
              <a:t>8/31/2026</a:t>
            </a:fld>
            <a:endParaRPr lang="en-US"/>
          </a:p>
        </p:txBody>
      </p:sp>
      <p:sp>
        <p:nvSpPr>
          <p:cNvPr id="5" name="Footer Placeholder 4">
            <a:extLst>
              <a:ext uri="{FF2B5EF4-FFF2-40B4-BE49-F238E27FC236}">
                <a16:creationId xmlns:a16="http://schemas.microsoft.com/office/drawing/2014/main" id="{BEE28FBB-7A33-F1BA-59E8-F09F9093F1B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308B72E-9655-6D2E-72A4-FB0C34FBD70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FDF2A02-AD7C-46D6-88B6-D72A07D98C13}" type="slidenum">
              <a:rPr lang="en-US" smtClean="0"/>
              <a:t>‹#›</a:t>
            </a:fld>
            <a:endParaRPr lang="en-US"/>
          </a:p>
        </p:txBody>
      </p:sp>
    </p:spTree>
    <p:extLst>
      <p:ext uri="{BB962C8B-B14F-4D97-AF65-F5344CB8AC3E}">
        <p14:creationId xmlns:p14="http://schemas.microsoft.com/office/powerpoint/2010/main" val="169806214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E3619FE-992A-ECE9-F851-10F96A1E46DF}"/>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FINAL PROJECT</a:t>
            </a:r>
          </a:p>
        </p:txBody>
      </p:sp>
      <p:sp>
        <p:nvSpPr>
          <p:cNvPr id="3" name="TextBox 2">
            <a:extLst>
              <a:ext uri="{FF2B5EF4-FFF2-40B4-BE49-F238E27FC236}">
                <a16:creationId xmlns:a16="http://schemas.microsoft.com/office/drawing/2014/main" id="{13704B51-003C-0D1F-16FA-81D0BF229009}"/>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SatNOGS Audio to Operational Telemetry</a:t>
            </a:r>
          </a:p>
        </p:txBody>
      </p:sp>
      <p:cxnSp>
        <p:nvCxnSpPr>
          <p:cNvPr id="4" name="Straight Connector 3">
            <a:extLst>
              <a:ext uri="{FF2B5EF4-FFF2-40B4-BE49-F238E27FC236}">
                <a16:creationId xmlns:a16="http://schemas.microsoft.com/office/drawing/2014/main" id="{480688A4-2A30-F5A3-94E6-3BC9FE5FE2B6}"/>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F6E28F6-AF6B-C2A4-FE13-0825A87A218C}"/>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01</a:t>
            </a:r>
          </a:p>
        </p:txBody>
      </p:sp>
      <p:sp>
        <p:nvSpPr>
          <p:cNvPr id="6" name="TextBox 5">
            <a:extLst>
              <a:ext uri="{FF2B5EF4-FFF2-40B4-BE49-F238E27FC236}">
                <a16:creationId xmlns:a16="http://schemas.microsoft.com/office/drawing/2014/main" id="{9E5FFC7A-9B4F-77B8-9230-04D43C21371C}"/>
              </a:ext>
            </a:extLst>
          </p:cNvPr>
          <p:cNvSpPr txBox="1"/>
          <p:nvPr/>
        </p:nvSpPr>
        <p:spPr>
          <a:xfrm>
            <a:off x="533400" y="1651000"/>
            <a:ext cx="8890000" cy="584775"/>
          </a:xfrm>
          <a:prstGeom prst="rect">
            <a:avLst/>
          </a:prstGeom>
          <a:noFill/>
        </p:spPr>
        <p:txBody>
          <a:bodyPr vert="horz" wrap="square" lIns="0" tIns="0" rIns="0" bIns="0" rtlCol="0">
            <a:spAutoFit/>
          </a:bodyPr>
          <a:lstStyle/>
          <a:p>
            <a:r>
              <a:rPr lang="en-US" sz="3800" b="1">
                <a:solidFill>
                  <a:srgbClr val="ECF1F7"/>
                </a:solidFill>
                <a:latin typeface="Aptos Display" panose="020B0004020202020204" pitchFamily="34" charset="0"/>
              </a:rPr>
              <a:t>BEACON DECODER</a:t>
            </a:r>
          </a:p>
        </p:txBody>
      </p:sp>
      <p:sp>
        <p:nvSpPr>
          <p:cNvPr id="7" name="TextBox 6">
            <a:extLst>
              <a:ext uri="{FF2B5EF4-FFF2-40B4-BE49-F238E27FC236}">
                <a16:creationId xmlns:a16="http://schemas.microsoft.com/office/drawing/2014/main" id="{C13863E9-1A5A-7091-E676-5EBCAF5229C5}"/>
              </a:ext>
            </a:extLst>
          </p:cNvPr>
          <p:cNvSpPr txBox="1"/>
          <p:nvPr/>
        </p:nvSpPr>
        <p:spPr>
          <a:xfrm>
            <a:off x="558800" y="2514600"/>
            <a:ext cx="10414000" cy="276999"/>
          </a:xfrm>
          <a:prstGeom prst="rect">
            <a:avLst/>
          </a:prstGeom>
          <a:noFill/>
        </p:spPr>
        <p:txBody>
          <a:bodyPr vert="horz" wrap="square" lIns="0" tIns="0" rIns="0" bIns="0" rtlCol="0">
            <a:spAutoFit/>
          </a:bodyPr>
          <a:lstStyle/>
          <a:p>
            <a:r>
              <a:rPr lang="en-US">
                <a:solidFill>
                  <a:srgbClr val="31A6E8"/>
                </a:solidFill>
                <a:latin typeface="Aptos" panose="020B0004020202020204" pitchFamily="34" charset="0"/>
              </a:rPr>
              <a:t>GNU Radio | G3RUH AX.25 | CRC-valid 263-byte frames</a:t>
            </a:r>
          </a:p>
        </p:txBody>
      </p:sp>
      <p:sp>
        <p:nvSpPr>
          <p:cNvPr id="8" name="Rectangle 7">
            <a:extLst>
              <a:ext uri="{FF2B5EF4-FFF2-40B4-BE49-F238E27FC236}">
                <a16:creationId xmlns:a16="http://schemas.microsoft.com/office/drawing/2014/main" id="{5481DDEE-47BC-36FB-48CD-0AC49FA8F9C7}"/>
              </a:ext>
            </a:extLst>
          </p:cNvPr>
          <p:cNvSpPr/>
          <p:nvPr/>
        </p:nvSpPr>
        <p:spPr>
          <a:xfrm>
            <a:off x="533400" y="3530600"/>
            <a:ext cx="3429000" cy="1549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F95E183-90F2-9921-0C39-B18DFC56E279}"/>
              </a:ext>
            </a:extLst>
          </p:cNvPr>
          <p:cNvSpPr txBox="1"/>
          <p:nvPr/>
        </p:nvSpPr>
        <p:spPr>
          <a:xfrm>
            <a:off x="787400" y="3784600"/>
            <a:ext cx="2921000" cy="507831"/>
          </a:xfrm>
          <a:prstGeom prst="rect">
            <a:avLst/>
          </a:prstGeom>
          <a:noFill/>
        </p:spPr>
        <p:txBody>
          <a:bodyPr vert="horz" wrap="square" lIns="0" tIns="0" rIns="0" bIns="0" rtlCol="0">
            <a:spAutoFit/>
          </a:bodyPr>
          <a:lstStyle/>
          <a:p>
            <a:r>
              <a:rPr lang="en-US" sz="3300" b="1">
                <a:solidFill>
                  <a:srgbClr val="31CC70"/>
                </a:solidFill>
                <a:latin typeface="Aptos Display" panose="020B0004020202020204" pitchFamily="34" charset="0"/>
              </a:rPr>
              <a:t>5 / 5</a:t>
            </a:r>
          </a:p>
        </p:txBody>
      </p:sp>
      <p:sp>
        <p:nvSpPr>
          <p:cNvPr id="10" name="TextBox 9">
            <a:extLst>
              <a:ext uri="{FF2B5EF4-FFF2-40B4-BE49-F238E27FC236}">
                <a16:creationId xmlns:a16="http://schemas.microsoft.com/office/drawing/2014/main" id="{E968F9BD-D66D-3D96-B668-FA5B88F1FB31}"/>
              </a:ext>
            </a:extLst>
          </p:cNvPr>
          <p:cNvSpPr txBox="1"/>
          <p:nvPr/>
        </p:nvSpPr>
        <p:spPr>
          <a:xfrm>
            <a:off x="787400" y="4445000"/>
            <a:ext cx="2921000" cy="215444"/>
          </a:xfrm>
          <a:prstGeom prst="rect">
            <a:avLst/>
          </a:prstGeom>
          <a:noFill/>
        </p:spPr>
        <p:txBody>
          <a:bodyPr vert="horz" wrap="square" lIns="0" tIns="0" rIns="0" bIns="0" rtlCol="0">
            <a:spAutoFit/>
          </a:bodyPr>
          <a:lstStyle/>
          <a:p>
            <a:r>
              <a:rPr lang="en-US" sz="1400">
                <a:solidFill>
                  <a:srgbClr val="9BA6B5"/>
                </a:solidFill>
                <a:latin typeface="Aptos" panose="020B0004020202020204" pitchFamily="34" charset="0"/>
              </a:rPr>
              <a:t>observations passed</a:t>
            </a:r>
          </a:p>
        </p:txBody>
      </p:sp>
      <p:sp>
        <p:nvSpPr>
          <p:cNvPr id="11" name="Rectangle 10">
            <a:extLst>
              <a:ext uri="{FF2B5EF4-FFF2-40B4-BE49-F238E27FC236}">
                <a16:creationId xmlns:a16="http://schemas.microsoft.com/office/drawing/2014/main" id="{C83C34B6-FC0D-0459-AECB-230DBA4DC750}"/>
              </a:ext>
            </a:extLst>
          </p:cNvPr>
          <p:cNvSpPr/>
          <p:nvPr/>
        </p:nvSpPr>
        <p:spPr>
          <a:xfrm>
            <a:off x="4241800" y="3530600"/>
            <a:ext cx="3429000" cy="1549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C30CA7C-190C-D8C0-5373-83DC2E8BA167}"/>
              </a:ext>
            </a:extLst>
          </p:cNvPr>
          <p:cNvSpPr txBox="1"/>
          <p:nvPr/>
        </p:nvSpPr>
        <p:spPr>
          <a:xfrm>
            <a:off x="4495800" y="3784600"/>
            <a:ext cx="2921000" cy="507831"/>
          </a:xfrm>
          <a:prstGeom prst="rect">
            <a:avLst/>
          </a:prstGeom>
          <a:noFill/>
        </p:spPr>
        <p:txBody>
          <a:bodyPr vert="horz" wrap="square" lIns="0" tIns="0" rIns="0" bIns="0" rtlCol="0">
            <a:spAutoFit/>
          </a:bodyPr>
          <a:lstStyle/>
          <a:p>
            <a:r>
              <a:rPr lang="en-US" sz="3300" b="1">
                <a:solidFill>
                  <a:srgbClr val="31A6E8"/>
                </a:solidFill>
                <a:latin typeface="Aptos Display" panose="020B0004020202020204" pitchFamily="34" charset="0"/>
              </a:rPr>
              <a:t>22</a:t>
            </a:r>
          </a:p>
        </p:txBody>
      </p:sp>
      <p:sp>
        <p:nvSpPr>
          <p:cNvPr id="13" name="TextBox 12">
            <a:extLst>
              <a:ext uri="{FF2B5EF4-FFF2-40B4-BE49-F238E27FC236}">
                <a16:creationId xmlns:a16="http://schemas.microsoft.com/office/drawing/2014/main" id="{7DF4C1F8-6CF2-9278-5334-10C9B55948FF}"/>
              </a:ext>
            </a:extLst>
          </p:cNvPr>
          <p:cNvSpPr txBox="1"/>
          <p:nvPr/>
        </p:nvSpPr>
        <p:spPr>
          <a:xfrm>
            <a:off x="4495800" y="4445000"/>
            <a:ext cx="2921000" cy="215444"/>
          </a:xfrm>
          <a:prstGeom prst="rect">
            <a:avLst/>
          </a:prstGeom>
          <a:noFill/>
        </p:spPr>
        <p:txBody>
          <a:bodyPr vert="horz" wrap="square" lIns="0" tIns="0" rIns="0" bIns="0" rtlCol="0">
            <a:spAutoFit/>
          </a:bodyPr>
          <a:lstStyle/>
          <a:p>
            <a:r>
              <a:rPr lang="en-US" sz="1400">
                <a:solidFill>
                  <a:srgbClr val="9BA6B5"/>
                </a:solidFill>
                <a:latin typeface="Aptos" panose="020B0004020202020204" pitchFamily="34" charset="0"/>
              </a:rPr>
              <a:t>valid local frames</a:t>
            </a:r>
          </a:p>
        </p:txBody>
      </p:sp>
      <p:sp>
        <p:nvSpPr>
          <p:cNvPr id="14" name="Rectangle 13">
            <a:extLst>
              <a:ext uri="{FF2B5EF4-FFF2-40B4-BE49-F238E27FC236}">
                <a16:creationId xmlns:a16="http://schemas.microsoft.com/office/drawing/2014/main" id="{B311562A-FEBD-DB62-426B-C3F6AEE4E898}"/>
              </a:ext>
            </a:extLst>
          </p:cNvPr>
          <p:cNvSpPr/>
          <p:nvPr/>
        </p:nvSpPr>
        <p:spPr>
          <a:xfrm>
            <a:off x="7950200" y="3530600"/>
            <a:ext cx="3429000" cy="1549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93CE424-0FFE-D3E5-2F3F-191A66896302}"/>
              </a:ext>
            </a:extLst>
          </p:cNvPr>
          <p:cNvSpPr txBox="1"/>
          <p:nvPr/>
        </p:nvSpPr>
        <p:spPr>
          <a:xfrm>
            <a:off x="8204200" y="3784600"/>
            <a:ext cx="2921000" cy="507831"/>
          </a:xfrm>
          <a:prstGeom prst="rect">
            <a:avLst/>
          </a:prstGeom>
          <a:noFill/>
        </p:spPr>
        <p:txBody>
          <a:bodyPr vert="horz" wrap="square" lIns="0" tIns="0" rIns="0" bIns="0" rtlCol="0">
            <a:spAutoFit/>
          </a:bodyPr>
          <a:lstStyle/>
          <a:p>
            <a:r>
              <a:rPr lang="en-US" sz="3300" b="1">
                <a:solidFill>
                  <a:srgbClr val="F69929"/>
                </a:solidFill>
                <a:latin typeface="Aptos Display" panose="020B0004020202020204" pitchFamily="34" charset="0"/>
              </a:rPr>
              <a:t>20</a:t>
            </a:r>
          </a:p>
        </p:txBody>
      </p:sp>
      <p:sp>
        <p:nvSpPr>
          <p:cNvPr id="16" name="TextBox 15">
            <a:extLst>
              <a:ext uri="{FF2B5EF4-FFF2-40B4-BE49-F238E27FC236}">
                <a16:creationId xmlns:a16="http://schemas.microsoft.com/office/drawing/2014/main" id="{0D06D89E-4BF0-5FB7-7A80-771224F00075}"/>
              </a:ext>
            </a:extLst>
          </p:cNvPr>
          <p:cNvSpPr txBox="1"/>
          <p:nvPr/>
        </p:nvSpPr>
        <p:spPr>
          <a:xfrm>
            <a:off x="8204200" y="4445000"/>
            <a:ext cx="2921000" cy="215444"/>
          </a:xfrm>
          <a:prstGeom prst="rect">
            <a:avLst/>
          </a:prstGeom>
          <a:noFill/>
        </p:spPr>
        <p:txBody>
          <a:bodyPr vert="horz" wrap="square" lIns="0" tIns="0" rIns="0" bIns="0" rtlCol="0">
            <a:spAutoFit/>
          </a:bodyPr>
          <a:lstStyle/>
          <a:p>
            <a:r>
              <a:rPr lang="en-US" sz="1400">
                <a:solidFill>
                  <a:srgbClr val="9BA6B5"/>
                </a:solidFill>
                <a:latin typeface="Aptos" panose="020B0004020202020204" pitchFamily="34" charset="0"/>
              </a:rPr>
              <a:t>byte-exact matches</a:t>
            </a:r>
          </a:p>
        </p:txBody>
      </p:sp>
      <p:sp>
        <p:nvSpPr>
          <p:cNvPr id="17" name="TextBox 16">
            <a:extLst>
              <a:ext uri="{FF2B5EF4-FFF2-40B4-BE49-F238E27FC236}">
                <a16:creationId xmlns:a16="http://schemas.microsoft.com/office/drawing/2014/main" id="{8DA61D7C-4110-6D72-AE42-0284E0797D65}"/>
              </a:ext>
            </a:extLst>
          </p:cNvPr>
          <p:cNvSpPr txBox="1"/>
          <p:nvPr/>
        </p:nvSpPr>
        <p:spPr>
          <a:xfrm>
            <a:off x="558800" y="5943600"/>
            <a:ext cx="6350000" cy="169277"/>
          </a:xfrm>
          <a:prstGeom prst="rect">
            <a:avLst/>
          </a:prstGeom>
          <a:noFill/>
        </p:spPr>
        <p:txBody>
          <a:bodyPr vert="horz" wrap="square" lIns="0" tIns="0" rIns="0" bIns="0" rtlCol="0">
            <a:spAutoFit/>
          </a:bodyPr>
          <a:lstStyle/>
          <a:p>
            <a:r>
              <a:rPr lang="en-US" sz="1100">
                <a:solidFill>
                  <a:srgbClr val="9BA6B5"/>
                </a:solidFill>
                <a:latin typeface="Consolas" panose="020B0609020204030204" pitchFamily="49" charset="0"/>
              </a:rPr>
              <a:t>Final presentation | 31 Aug 2026</a:t>
            </a:r>
          </a:p>
        </p:txBody>
      </p:sp>
    </p:spTree>
    <p:extLst>
      <p:ext uri="{BB962C8B-B14F-4D97-AF65-F5344CB8AC3E}">
        <p14:creationId xmlns:p14="http://schemas.microsoft.com/office/powerpoint/2010/main" val="8412449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610370-AC2B-F1C1-CC62-DBD998A5D0AA}"/>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8092303C-AE89-DDEA-1FBD-5020729C8042}"/>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Objective and Acceptance Criteria</a:t>
            </a:r>
          </a:p>
        </p:txBody>
      </p:sp>
      <p:cxnSp>
        <p:nvCxnSpPr>
          <p:cNvPr id="4" name="Straight Connector 3">
            <a:extLst>
              <a:ext uri="{FF2B5EF4-FFF2-40B4-BE49-F238E27FC236}">
                <a16:creationId xmlns:a16="http://schemas.microsoft.com/office/drawing/2014/main" id="{AD9C9B75-F13F-65CC-6790-0DC6B1FACF89}"/>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47EC99C-6F72-9559-2586-C3F8C3F1B99B}"/>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02</a:t>
            </a:r>
          </a:p>
        </p:txBody>
      </p:sp>
      <p:sp>
        <p:nvSpPr>
          <p:cNvPr id="6" name="Rectangle 5">
            <a:extLst>
              <a:ext uri="{FF2B5EF4-FFF2-40B4-BE49-F238E27FC236}">
                <a16:creationId xmlns:a16="http://schemas.microsoft.com/office/drawing/2014/main" id="{6835A785-2E79-7786-E751-0D8DA6CA433E}"/>
              </a:ext>
            </a:extLst>
          </p:cNvPr>
          <p:cNvSpPr/>
          <p:nvPr/>
        </p:nvSpPr>
        <p:spPr>
          <a:xfrm>
            <a:off x="5842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09E54DE-B86D-90A7-E0B5-E42798DFBED8}"/>
              </a:ext>
            </a:extLst>
          </p:cNvPr>
          <p:cNvSpPr txBox="1"/>
          <p:nvPr/>
        </p:nvSpPr>
        <p:spPr>
          <a:xfrm>
            <a:off x="838200" y="2006600"/>
            <a:ext cx="4699000" cy="169277"/>
          </a:xfrm>
          <a:prstGeom prst="rect">
            <a:avLst/>
          </a:prstGeom>
          <a:noFill/>
        </p:spPr>
        <p:txBody>
          <a:bodyPr vert="horz" wrap="square" lIns="0" tIns="0" rIns="0" bIns="0" rtlCol="0">
            <a:spAutoFit/>
          </a:bodyPr>
          <a:lstStyle/>
          <a:p>
            <a:r>
              <a:rPr lang="en-US" sz="1100" b="1">
                <a:solidFill>
                  <a:srgbClr val="31A6E8"/>
                </a:solidFill>
                <a:latin typeface="Consolas" panose="020B0609020204030204" pitchFamily="49" charset="0"/>
              </a:rPr>
              <a:t>PROJECT OBJECTIVE</a:t>
            </a:r>
          </a:p>
        </p:txBody>
      </p:sp>
      <p:sp>
        <p:nvSpPr>
          <p:cNvPr id="8" name="TextBox 7">
            <a:extLst>
              <a:ext uri="{FF2B5EF4-FFF2-40B4-BE49-F238E27FC236}">
                <a16:creationId xmlns:a16="http://schemas.microsoft.com/office/drawing/2014/main" id="{BF3FCFD6-A975-04D9-F25E-035B9F0946A4}"/>
              </a:ext>
            </a:extLst>
          </p:cNvPr>
          <p:cNvSpPr txBox="1"/>
          <p:nvPr/>
        </p:nvSpPr>
        <p:spPr>
          <a:xfrm>
            <a:off x="838200" y="26035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9" name="TextBox 8">
            <a:extLst>
              <a:ext uri="{FF2B5EF4-FFF2-40B4-BE49-F238E27FC236}">
                <a16:creationId xmlns:a16="http://schemas.microsoft.com/office/drawing/2014/main" id="{2E672267-E689-DAE6-2188-FE8F40CC8714}"/>
              </a:ext>
            </a:extLst>
          </p:cNvPr>
          <p:cNvSpPr txBox="1"/>
          <p:nvPr/>
        </p:nvSpPr>
        <p:spPr>
          <a:xfrm>
            <a:off x="11176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Decode the beacon from SatNOGS OGG audio.</a:t>
            </a:r>
          </a:p>
        </p:txBody>
      </p:sp>
      <p:sp>
        <p:nvSpPr>
          <p:cNvPr id="10" name="TextBox 9">
            <a:extLst>
              <a:ext uri="{FF2B5EF4-FFF2-40B4-BE49-F238E27FC236}">
                <a16:creationId xmlns:a16="http://schemas.microsoft.com/office/drawing/2014/main" id="{4589003A-ED79-B66E-3058-F6643F77CAB5}"/>
              </a:ext>
            </a:extLst>
          </p:cNvPr>
          <p:cNvSpPr txBox="1"/>
          <p:nvPr/>
        </p:nvSpPr>
        <p:spPr>
          <a:xfrm>
            <a:off x="838200" y="32258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1" name="TextBox 10">
            <a:extLst>
              <a:ext uri="{FF2B5EF4-FFF2-40B4-BE49-F238E27FC236}">
                <a16:creationId xmlns:a16="http://schemas.microsoft.com/office/drawing/2014/main" id="{A25594CD-C2CE-79AF-A12D-749D6B8B4567}"/>
              </a:ext>
            </a:extLst>
          </p:cNvPr>
          <p:cNvSpPr txBox="1"/>
          <p:nvPr/>
        </p:nvSpPr>
        <p:spPr>
          <a:xfrm>
            <a:off x="11176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Verify locally recovered frames independently.</a:t>
            </a:r>
          </a:p>
        </p:txBody>
      </p:sp>
      <p:sp>
        <p:nvSpPr>
          <p:cNvPr id="12" name="TextBox 11">
            <a:extLst>
              <a:ext uri="{FF2B5EF4-FFF2-40B4-BE49-F238E27FC236}">
                <a16:creationId xmlns:a16="http://schemas.microsoft.com/office/drawing/2014/main" id="{5A406834-3240-03A2-398C-9B39AD0CD8EE}"/>
              </a:ext>
            </a:extLst>
          </p:cNvPr>
          <p:cNvSpPr txBox="1"/>
          <p:nvPr/>
        </p:nvSpPr>
        <p:spPr>
          <a:xfrm>
            <a:off x="838200" y="38481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3" name="TextBox 12">
            <a:extLst>
              <a:ext uri="{FF2B5EF4-FFF2-40B4-BE49-F238E27FC236}">
                <a16:creationId xmlns:a16="http://schemas.microsoft.com/office/drawing/2014/main" id="{40749121-DF88-68F7-54BC-5F8F953AA88D}"/>
              </a:ext>
            </a:extLst>
          </p:cNvPr>
          <p:cNvSpPr txBox="1"/>
          <p:nvPr/>
        </p:nvSpPr>
        <p:spPr>
          <a:xfrm>
            <a:off x="11176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Feed traceable telemetry into an operational dashboard.</a:t>
            </a:r>
          </a:p>
        </p:txBody>
      </p:sp>
      <p:sp>
        <p:nvSpPr>
          <p:cNvPr id="14" name="Rectangle 13">
            <a:extLst>
              <a:ext uri="{FF2B5EF4-FFF2-40B4-BE49-F238E27FC236}">
                <a16:creationId xmlns:a16="http://schemas.microsoft.com/office/drawing/2014/main" id="{26A9B3F3-6421-F6E9-915A-123FF51501A5}"/>
              </a:ext>
            </a:extLst>
          </p:cNvPr>
          <p:cNvSpPr/>
          <p:nvPr/>
        </p:nvSpPr>
        <p:spPr>
          <a:xfrm>
            <a:off x="64008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3BA529B-0B2F-6256-5322-584B0E4B1F01}"/>
              </a:ext>
            </a:extLst>
          </p:cNvPr>
          <p:cNvSpPr txBox="1"/>
          <p:nvPr/>
        </p:nvSpPr>
        <p:spPr>
          <a:xfrm>
            <a:off x="6654800" y="2006600"/>
            <a:ext cx="4699000" cy="169277"/>
          </a:xfrm>
          <a:prstGeom prst="rect">
            <a:avLst/>
          </a:prstGeom>
          <a:noFill/>
        </p:spPr>
        <p:txBody>
          <a:bodyPr vert="horz" wrap="square" lIns="0" tIns="0" rIns="0" bIns="0" rtlCol="0">
            <a:spAutoFit/>
          </a:bodyPr>
          <a:lstStyle/>
          <a:p>
            <a:r>
              <a:rPr lang="en-US" sz="1100" b="1">
                <a:solidFill>
                  <a:srgbClr val="31CC70"/>
                </a:solidFill>
                <a:latin typeface="Consolas" panose="020B0609020204030204" pitchFamily="49" charset="0"/>
              </a:rPr>
              <a:t>STRICT PASS CRITERION</a:t>
            </a:r>
          </a:p>
        </p:txBody>
      </p:sp>
      <p:sp>
        <p:nvSpPr>
          <p:cNvPr id="16" name="TextBox 15">
            <a:extLst>
              <a:ext uri="{FF2B5EF4-FFF2-40B4-BE49-F238E27FC236}">
                <a16:creationId xmlns:a16="http://schemas.microsoft.com/office/drawing/2014/main" id="{40BA25D5-88D0-0A9D-57D3-E0F55A3D31F0}"/>
              </a:ext>
            </a:extLst>
          </p:cNvPr>
          <p:cNvSpPr txBox="1"/>
          <p:nvPr/>
        </p:nvSpPr>
        <p:spPr>
          <a:xfrm>
            <a:off x="6654800" y="26035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7" name="TextBox 16">
            <a:extLst>
              <a:ext uri="{FF2B5EF4-FFF2-40B4-BE49-F238E27FC236}">
                <a16:creationId xmlns:a16="http://schemas.microsoft.com/office/drawing/2014/main" id="{AB0469E7-D250-E3FC-E3F6-69504C0D17B4}"/>
              </a:ext>
            </a:extLst>
          </p:cNvPr>
          <p:cNvSpPr txBox="1"/>
          <p:nvPr/>
        </p:nvSpPr>
        <p:spPr>
          <a:xfrm>
            <a:off x="69342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At least one CRC-valid local KOYO frame.</a:t>
            </a:r>
          </a:p>
        </p:txBody>
      </p:sp>
      <p:sp>
        <p:nvSpPr>
          <p:cNvPr id="18" name="TextBox 17">
            <a:extLst>
              <a:ext uri="{FF2B5EF4-FFF2-40B4-BE49-F238E27FC236}">
                <a16:creationId xmlns:a16="http://schemas.microsoft.com/office/drawing/2014/main" id="{BDCEB620-001E-0A6E-75E4-066D9B418F78}"/>
              </a:ext>
            </a:extLst>
          </p:cNvPr>
          <p:cNvSpPr txBox="1"/>
          <p:nvPr/>
        </p:nvSpPr>
        <p:spPr>
          <a:xfrm>
            <a:off x="6654800" y="32258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9" name="TextBox 18">
            <a:extLst>
              <a:ext uri="{FF2B5EF4-FFF2-40B4-BE49-F238E27FC236}">
                <a16:creationId xmlns:a16="http://schemas.microsoft.com/office/drawing/2014/main" id="{25A3FB50-5498-3022-1071-04C39B5022C8}"/>
              </a:ext>
            </a:extLst>
          </p:cNvPr>
          <p:cNvSpPr txBox="1"/>
          <p:nvPr/>
        </p:nvSpPr>
        <p:spPr>
          <a:xfrm>
            <a:off x="69342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Expected 263-byte frame, AX.25 path, and type.</a:t>
            </a:r>
          </a:p>
        </p:txBody>
      </p:sp>
      <p:sp>
        <p:nvSpPr>
          <p:cNvPr id="20" name="TextBox 19">
            <a:extLst>
              <a:ext uri="{FF2B5EF4-FFF2-40B4-BE49-F238E27FC236}">
                <a16:creationId xmlns:a16="http://schemas.microsoft.com/office/drawing/2014/main" id="{5CE9EC7C-CA15-10E8-C016-04F3CA22CF8C}"/>
              </a:ext>
            </a:extLst>
          </p:cNvPr>
          <p:cNvSpPr txBox="1"/>
          <p:nvPr/>
        </p:nvSpPr>
        <p:spPr>
          <a:xfrm>
            <a:off x="6654800" y="38481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21" name="TextBox 20">
            <a:extLst>
              <a:ext uri="{FF2B5EF4-FFF2-40B4-BE49-F238E27FC236}">
                <a16:creationId xmlns:a16="http://schemas.microsoft.com/office/drawing/2014/main" id="{C72863E2-B2A6-73DA-BEA0-718D3436CCEF}"/>
              </a:ext>
            </a:extLst>
          </p:cNvPr>
          <p:cNvSpPr txBox="1"/>
          <p:nvPr/>
        </p:nvSpPr>
        <p:spPr>
          <a:xfrm>
            <a:off x="69342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At least one byte-exact match for the same observation.</a:t>
            </a:r>
          </a:p>
        </p:txBody>
      </p:sp>
      <p:sp>
        <p:nvSpPr>
          <p:cNvPr id="22" name="Rectangle 21">
            <a:extLst>
              <a:ext uri="{FF2B5EF4-FFF2-40B4-BE49-F238E27FC236}">
                <a16:creationId xmlns:a16="http://schemas.microsoft.com/office/drawing/2014/main" id="{90EB1268-C829-499D-DFEF-818444893AE5}"/>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CAF0ED37-C6B2-96C1-06A1-86983B875653}"/>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24" name="TextBox 23">
            <a:extLst>
              <a:ext uri="{FF2B5EF4-FFF2-40B4-BE49-F238E27FC236}">
                <a16:creationId xmlns:a16="http://schemas.microsoft.com/office/drawing/2014/main" id="{D9B56AE9-5C52-1092-DE12-A0331AC17560}"/>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Success is reproducible and measurable, not based on visual similarity.</a:t>
            </a:r>
          </a:p>
        </p:txBody>
      </p:sp>
    </p:spTree>
    <p:extLst>
      <p:ext uri="{BB962C8B-B14F-4D97-AF65-F5344CB8AC3E}">
        <p14:creationId xmlns:p14="http://schemas.microsoft.com/office/powerpoint/2010/main" val="435601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EBE72AD-9AC4-BCE8-678F-F5B9118EC04E}"/>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B57306DD-0DA9-9B6D-DE17-87672CF95BED}"/>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What Each Stage Means</a:t>
            </a:r>
          </a:p>
        </p:txBody>
      </p:sp>
      <p:cxnSp>
        <p:nvCxnSpPr>
          <p:cNvPr id="4" name="Straight Connector 3">
            <a:extLst>
              <a:ext uri="{FF2B5EF4-FFF2-40B4-BE49-F238E27FC236}">
                <a16:creationId xmlns:a16="http://schemas.microsoft.com/office/drawing/2014/main" id="{D8023817-3732-27A8-F174-40E5C5861FD8}"/>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508BC2CA-8066-20D5-7946-340211131999}"/>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03</a:t>
            </a:r>
          </a:p>
        </p:txBody>
      </p:sp>
      <p:sp>
        <p:nvSpPr>
          <p:cNvPr id="6" name="Rectangle 5">
            <a:extLst>
              <a:ext uri="{FF2B5EF4-FFF2-40B4-BE49-F238E27FC236}">
                <a16:creationId xmlns:a16="http://schemas.microsoft.com/office/drawing/2014/main" id="{9F6D8ED8-6B11-852F-DE06-BC48FF03E7E3}"/>
              </a:ext>
            </a:extLst>
          </p:cNvPr>
          <p:cNvSpPr/>
          <p:nvPr/>
        </p:nvSpPr>
        <p:spPr>
          <a:xfrm>
            <a:off x="5842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9C08FD9-962C-C6C0-8F19-2A60839EA0EA}"/>
              </a:ext>
            </a:extLst>
          </p:cNvPr>
          <p:cNvSpPr txBox="1"/>
          <p:nvPr/>
        </p:nvSpPr>
        <p:spPr>
          <a:xfrm>
            <a:off x="838200" y="2006600"/>
            <a:ext cx="4699000" cy="169277"/>
          </a:xfrm>
          <a:prstGeom prst="rect">
            <a:avLst/>
          </a:prstGeom>
          <a:noFill/>
        </p:spPr>
        <p:txBody>
          <a:bodyPr vert="horz" wrap="square" lIns="0" tIns="0" rIns="0" bIns="0" rtlCol="0">
            <a:spAutoFit/>
          </a:bodyPr>
          <a:lstStyle/>
          <a:p>
            <a:r>
              <a:rPr lang="en-US" sz="1100" b="1">
                <a:solidFill>
                  <a:srgbClr val="31A6E8"/>
                </a:solidFill>
                <a:latin typeface="Consolas" panose="020B0609020204030204" pitchFamily="49" charset="0"/>
              </a:rPr>
              <a:t>SIGNAL SIDE</a:t>
            </a:r>
          </a:p>
        </p:txBody>
      </p:sp>
      <p:sp>
        <p:nvSpPr>
          <p:cNvPr id="8" name="TextBox 7">
            <a:extLst>
              <a:ext uri="{FF2B5EF4-FFF2-40B4-BE49-F238E27FC236}">
                <a16:creationId xmlns:a16="http://schemas.microsoft.com/office/drawing/2014/main" id="{D418BFC2-A17A-3989-3AF8-B8475FD40854}"/>
              </a:ext>
            </a:extLst>
          </p:cNvPr>
          <p:cNvSpPr txBox="1"/>
          <p:nvPr/>
        </p:nvSpPr>
        <p:spPr>
          <a:xfrm>
            <a:off x="838200" y="26035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9" name="TextBox 8">
            <a:extLst>
              <a:ext uri="{FF2B5EF4-FFF2-40B4-BE49-F238E27FC236}">
                <a16:creationId xmlns:a16="http://schemas.microsoft.com/office/drawing/2014/main" id="{B756B38B-8DB0-6AE7-9518-E0C616A2308C}"/>
              </a:ext>
            </a:extLst>
          </p:cNvPr>
          <p:cNvSpPr txBox="1"/>
          <p:nvPr/>
        </p:nvSpPr>
        <p:spPr>
          <a:xfrm>
            <a:off x="11176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Beacon: periodic spacecraft status message.</a:t>
            </a:r>
          </a:p>
        </p:txBody>
      </p:sp>
      <p:sp>
        <p:nvSpPr>
          <p:cNvPr id="10" name="TextBox 9">
            <a:extLst>
              <a:ext uri="{FF2B5EF4-FFF2-40B4-BE49-F238E27FC236}">
                <a16:creationId xmlns:a16="http://schemas.microsoft.com/office/drawing/2014/main" id="{A835E1AE-8FD6-BF6B-291E-693759C00411}"/>
              </a:ext>
            </a:extLst>
          </p:cNvPr>
          <p:cNvSpPr txBox="1"/>
          <p:nvPr/>
        </p:nvSpPr>
        <p:spPr>
          <a:xfrm>
            <a:off x="838200" y="32258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1" name="TextBox 10">
            <a:extLst>
              <a:ext uri="{FF2B5EF4-FFF2-40B4-BE49-F238E27FC236}">
                <a16:creationId xmlns:a16="http://schemas.microsoft.com/office/drawing/2014/main" id="{76B48583-6BF6-CE03-7195-6E898F0ED78F}"/>
              </a:ext>
            </a:extLst>
          </p:cNvPr>
          <p:cNvSpPr txBox="1"/>
          <p:nvPr/>
        </p:nvSpPr>
        <p:spPr>
          <a:xfrm>
            <a:off x="11176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OGG: audio recorded by a SatNOGS ground station.</a:t>
            </a:r>
          </a:p>
        </p:txBody>
      </p:sp>
      <p:sp>
        <p:nvSpPr>
          <p:cNvPr id="12" name="TextBox 11">
            <a:extLst>
              <a:ext uri="{FF2B5EF4-FFF2-40B4-BE49-F238E27FC236}">
                <a16:creationId xmlns:a16="http://schemas.microsoft.com/office/drawing/2014/main" id="{9E5628FA-4D86-6172-2161-90D5349C1098}"/>
              </a:ext>
            </a:extLst>
          </p:cNvPr>
          <p:cNvSpPr txBox="1"/>
          <p:nvPr/>
        </p:nvSpPr>
        <p:spPr>
          <a:xfrm>
            <a:off x="838200" y="38481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3" name="TextBox 12">
            <a:extLst>
              <a:ext uri="{FF2B5EF4-FFF2-40B4-BE49-F238E27FC236}">
                <a16:creationId xmlns:a16="http://schemas.microsoft.com/office/drawing/2014/main" id="{36DC4A2E-EBDE-1D7B-EF19-DE0738FF64D6}"/>
              </a:ext>
            </a:extLst>
          </p:cNvPr>
          <p:cNvSpPr txBox="1"/>
          <p:nvPr/>
        </p:nvSpPr>
        <p:spPr>
          <a:xfrm>
            <a:off x="11176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Demodulation: convert 9600-baud FSK audio back to bits.</a:t>
            </a:r>
          </a:p>
        </p:txBody>
      </p:sp>
      <p:sp>
        <p:nvSpPr>
          <p:cNvPr id="14" name="Rectangle 13">
            <a:extLst>
              <a:ext uri="{FF2B5EF4-FFF2-40B4-BE49-F238E27FC236}">
                <a16:creationId xmlns:a16="http://schemas.microsoft.com/office/drawing/2014/main" id="{94DA4D49-CF05-B1E2-CCAE-35F93F996311}"/>
              </a:ext>
            </a:extLst>
          </p:cNvPr>
          <p:cNvSpPr/>
          <p:nvPr/>
        </p:nvSpPr>
        <p:spPr>
          <a:xfrm>
            <a:off x="64008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E1E75CB-DBB5-3A6D-A2D6-B48A5A387361}"/>
              </a:ext>
            </a:extLst>
          </p:cNvPr>
          <p:cNvSpPr txBox="1"/>
          <p:nvPr/>
        </p:nvSpPr>
        <p:spPr>
          <a:xfrm>
            <a:off x="6654800" y="2006600"/>
            <a:ext cx="4699000" cy="169277"/>
          </a:xfrm>
          <a:prstGeom prst="rect">
            <a:avLst/>
          </a:prstGeom>
          <a:noFill/>
        </p:spPr>
        <p:txBody>
          <a:bodyPr vert="horz" wrap="square" lIns="0" tIns="0" rIns="0" bIns="0" rtlCol="0">
            <a:spAutoFit/>
          </a:bodyPr>
          <a:lstStyle/>
          <a:p>
            <a:r>
              <a:rPr lang="en-US" sz="1100" b="1">
                <a:solidFill>
                  <a:srgbClr val="31A6E8"/>
                </a:solidFill>
                <a:latin typeface="Consolas" panose="020B0609020204030204" pitchFamily="49" charset="0"/>
              </a:rPr>
              <a:t>DATA SIDE</a:t>
            </a:r>
          </a:p>
        </p:txBody>
      </p:sp>
      <p:sp>
        <p:nvSpPr>
          <p:cNvPr id="16" name="TextBox 15">
            <a:extLst>
              <a:ext uri="{FF2B5EF4-FFF2-40B4-BE49-F238E27FC236}">
                <a16:creationId xmlns:a16="http://schemas.microsoft.com/office/drawing/2014/main" id="{8BA23E54-A8A8-5400-1A64-EE8A720A1EAC}"/>
              </a:ext>
            </a:extLst>
          </p:cNvPr>
          <p:cNvSpPr txBox="1"/>
          <p:nvPr/>
        </p:nvSpPr>
        <p:spPr>
          <a:xfrm>
            <a:off x="6654800" y="26035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7" name="TextBox 16">
            <a:extLst>
              <a:ext uri="{FF2B5EF4-FFF2-40B4-BE49-F238E27FC236}">
                <a16:creationId xmlns:a16="http://schemas.microsoft.com/office/drawing/2014/main" id="{9F480B7C-C06D-4C1C-B5C2-ACE4197F121F}"/>
              </a:ext>
            </a:extLst>
          </p:cNvPr>
          <p:cNvSpPr txBox="1"/>
          <p:nvPr/>
        </p:nvSpPr>
        <p:spPr>
          <a:xfrm>
            <a:off x="69342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AX.25/HDLC: frame boundaries, addressing, and CRC.</a:t>
            </a:r>
          </a:p>
        </p:txBody>
      </p:sp>
      <p:sp>
        <p:nvSpPr>
          <p:cNvPr id="18" name="TextBox 17">
            <a:extLst>
              <a:ext uri="{FF2B5EF4-FFF2-40B4-BE49-F238E27FC236}">
                <a16:creationId xmlns:a16="http://schemas.microsoft.com/office/drawing/2014/main" id="{5BE08708-81A4-70EB-9D00-B8812E54525C}"/>
              </a:ext>
            </a:extLst>
          </p:cNvPr>
          <p:cNvSpPr txBox="1"/>
          <p:nvPr/>
        </p:nvSpPr>
        <p:spPr>
          <a:xfrm>
            <a:off x="6654800" y="32258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9" name="TextBox 18">
            <a:extLst>
              <a:ext uri="{FF2B5EF4-FFF2-40B4-BE49-F238E27FC236}">
                <a16:creationId xmlns:a16="http://schemas.microsoft.com/office/drawing/2014/main" id="{F3CEC2FD-E9BB-CDA6-CFCE-C2864BBEFB00}"/>
              </a:ext>
            </a:extLst>
          </p:cNvPr>
          <p:cNvSpPr txBox="1"/>
          <p:nvPr/>
        </p:nvSpPr>
        <p:spPr>
          <a:xfrm>
            <a:off x="69342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Telemetry: interpret payload bytes as engineering values.</a:t>
            </a:r>
          </a:p>
        </p:txBody>
      </p:sp>
      <p:sp>
        <p:nvSpPr>
          <p:cNvPr id="20" name="TextBox 19">
            <a:extLst>
              <a:ext uri="{FF2B5EF4-FFF2-40B4-BE49-F238E27FC236}">
                <a16:creationId xmlns:a16="http://schemas.microsoft.com/office/drawing/2014/main" id="{A73BD89A-E4C0-6236-4E75-0F0133BC5697}"/>
              </a:ext>
            </a:extLst>
          </p:cNvPr>
          <p:cNvSpPr txBox="1"/>
          <p:nvPr/>
        </p:nvSpPr>
        <p:spPr>
          <a:xfrm>
            <a:off x="6654800" y="38481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21" name="TextBox 20">
            <a:extLst>
              <a:ext uri="{FF2B5EF4-FFF2-40B4-BE49-F238E27FC236}">
                <a16:creationId xmlns:a16="http://schemas.microsoft.com/office/drawing/2014/main" id="{97C63392-C17F-AB6B-C57B-1998B469E543}"/>
              </a:ext>
            </a:extLst>
          </p:cNvPr>
          <p:cNvSpPr txBox="1"/>
          <p:nvPr/>
        </p:nvSpPr>
        <p:spPr>
          <a:xfrm>
            <a:off x="69342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Dashboard: present evidence without inventing data.</a:t>
            </a:r>
          </a:p>
        </p:txBody>
      </p:sp>
      <p:sp>
        <p:nvSpPr>
          <p:cNvPr id="22" name="Rectangle 21">
            <a:extLst>
              <a:ext uri="{FF2B5EF4-FFF2-40B4-BE49-F238E27FC236}">
                <a16:creationId xmlns:a16="http://schemas.microsoft.com/office/drawing/2014/main" id="{AC37BFE2-7D38-2E9A-F45A-CC4A5740F346}"/>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2317938F-5EC2-DCE1-1ED0-BAE59A9BF0D8}"/>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24" name="TextBox 23">
            <a:extLst>
              <a:ext uri="{FF2B5EF4-FFF2-40B4-BE49-F238E27FC236}">
                <a16:creationId xmlns:a16="http://schemas.microsoft.com/office/drawing/2014/main" id="{4D1CB1E0-ADD2-C505-FC32-C3DE7138EC48}"/>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Audio decoding and telemetry visualization are separate responsibilities.</a:t>
            </a:r>
          </a:p>
        </p:txBody>
      </p:sp>
    </p:spTree>
    <p:extLst>
      <p:ext uri="{BB962C8B-B14F-4D97-AF65-F5344CB8AC3E}">
        <p14:creationId xmlns:p14="http://schemas.microsoft.com/office/powerpoint/2010/main" val="2354640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966B3E-F806-BBE7-90F5-F7DACE7C32AB}"/>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EF671106-8143-EC3C-5B0C-49E723324721}"/>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End-to-End Architecture</a:t>
            </a:r>
          </a:p>
        </p:txBody>
      </p:sp>
      <p:cxnSp>
        <p:nvCxnSpPr>
          <p:cNvPr id="4" name="Straight Connector 3">
            <a:extLst>
              <a:ext uri="{FF2B5EF4-FFF2-40B4-BE49-F238E27FC236}">
                <a16:creationId xmlns:a16="http://schemas.microsoft.com/office/drawing/2014/main" id="{E5C9488B-77A8-D3EE-8417-E61FC24717DD}"/>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BBE760B-93C0-C753-D223-390D9C547C3D}"/>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04</a:t>
            </a:r>
          </a:p>
        </p:txBody>
      </p:sp>
      <p:sp>
        <p:nvSpPr>
          <p:cNvPr id="6" name="Rectangle 5">
            <a:extLst>
              <a:ext uri="{FF2B5EF4-FFF2-40B4-BE49-F238E27FC236}">
                <a16:creationId xmlns:a16="http://schemas.microsoft.com/office/drawing/2014/main" id="{995ACED3-12D1-9762-E9CD-E286B9BEE5E1}"/>
              </a:ext>
            </a:extLst>
          </p:cNvPr>
          <p:cNvSpPr/>
          <p:nvPr/>
        </p:nvSpPr>
        <p:spPr>
          <a:xfrm>
            <a:off x="508000" y="2032000"/>
            <a:ext cx="1625600" cy="1422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87E84D0-021C-2D0C-7FD5-6E7134A072DA}"/>
              </a:ext>
            </a:extLst>
          </p:cNvPr>
          <p:cNvSpPr txBox="1"/>
          <p:nvPr/>
        </p:nvSpPr>
        <p:spPr>
          <a:xfrm>
            <a:off x="635000" y="2336800"/>
            <a:ext cx="1371600" cy="215444"/>
          </a:xfrm>
          <a:prstGeom prst="rect">
            <a:avLst/>
          </a:prstGeom>
          <a:noFill/>
        </p:spPr>
        <p:txBody>
          <a:bodyPr vert="horz" wrap="square" lIns="0" tIns="0" rIns="0" bIns="0" rtlCol="0">
            <a:spAutoFit/>
          </a:bodyPr>
          <a:lstStyle/>
          <a:p>
            <a:r>
              <a:rPr lang="en-US" sz="1400" b="1">
                <a:solidFill>
                  <a:srgbClr val="ECF1F7"/>
                </a:solidFill>
                <a:latin typeface="Aptos" panose="020B0004020202020204" pitchFamily="34" charset="0"/>
              </a:rPr>
              <a:t>SatNOGS OGG</a:t>
            </a:r>
          </a:p>
        </p:txBody>
      </p:sp>
      <p:sp>
        <p:nvSpPr>
          <p:cNvPr id="8" name="TextBox 7">
            <a:extLst>
              <a:ext uri="{FF2B5EF4-FFF2-40B4-BE49-F238E27FC236}">
                <a16:creationId xmlns:a16="http://schemas.microsoft.com/office/drawing/2014/main" id="{C9780389-E016-D2BF-98E9-91FDA3A128FF}"/>
              </a:ext>
            </a:extLst>
          </p:cNvPr>
          <p:cNvSpPr txBox="1"/>
          <p:nvPr/>
        </p:nvSpPr>
        <p:spPr>
          <a:xfrm>
            <a:off x="635000" y="2895600"/>
            <a:ext cx="1371600" cy="153888"/>
          </a:xfrm>
          <a:prstGeom prst="rect">
            <a:avLst/>
          </a:prstGeom>
          <a:noFill/>
        </p:spPr>
        <p:txBody>
          <a:bodyPr vert="horz" wrap="square" lIns="0" tIns="0" rIns="0" bIns="0" rtlCol="0">
            <a:spAutoFit/>
          </a:bodyPr>
          <a:lstStyle/>
          <a:p>
            <a:r>
              <a:rPr lang="en-US" sz="1000">
                <a:solidFill>
                  <a:srgbClr val="9BA6B5"/>
                </a:solidFill>
                <a:latin typeface="Aptos" panose="020B0004020202020204" pitchFamily="34" charset="0"/>
              </a:rPr>
              <a:t>recording + metadata</a:t>
            </a:r>
          </a:p>
        </p:txBody>
      </p:sp>
      <p:cxnSp>
        <p:nvCxnSpPr>
          <p:cNvPr id="9" name="Straight Connector 8">
            <a:extLst>
              <a:ext uri="{FF2B5EF4-FFF2-40B4-BE49-F238E27FC236}">
                <a16:creationId xmlns:a16="http://schemas.microsoft.com/office/drawing/2014/main" id="{0BAF07D7-5C24-1C8B-0D3A-B9AF383017C4}"/>
              </a:ext>
            </a:extLst>
          </p:cNvPr>
          <p:cNvCxnSpPr/>
          <p:nvPr/>
        </p:nvCxnSpPr>
        <p:spPr>
          <a:xfrm>
            <a:off x="2133600" y="2743200"/>
            <a:ext cx="228600" cy="0"/>
          </a:xfrm>
          <a:prstGeom prst="line">
            <a:avLst/>
          </a:prstGeom>
          <a:ln w="25400">
            <a:solidFill>
              <a:srgbClr val="31A6E8"/>
            </a:solidFill>
          </a:ln>
        </p:spPr>
        <p:style>
          <a:lnRef idx="2">
            <a:schemeClr val="accent1"/>
          </a:lnRef>
          <a:fillRef idx="0">
            <a:schemeClr val="accent1"/>
          </a:fillRef>
          <a:effectRef idx="1">
            <a:schemeClr val="accent1"/>
          </a:effectRef>
          <a:fontRef idx="minor">
            <a:schemeClr val="tx1"/>
          </a:fontRef>
        </p:style>
      </p:cxnSp>
      <p:sp>
        <p:nvSpPr>
          <p:cNvPr id="10" name="TextBox 9">
            <a:extLst>
              <a:ext uri="{FF2B5EF4-FFF2-40B4-BE49-F238E27FC236}">
                <a16:creationId xmlns:a16="http://schemas.microsoft.com/office/drawing/2014/main" id="{3FAE3C14-52D8-E030-CAEE-A460572D7BE0}"/>
              </a:ext>
            </a:extLst>
          </p:cNvPr>
          <p:cNvSpPr txBox="1"/>
          <p:nvPr/>
        </p:nvSpPr>
        <p:spPr>
          <a:xfrm>
            <a:off x="2209800" y="2603500"/>
            <a:ext cx="152400" cy="215444"/>
          </a:xfrm>
          <a:prstGeom prst="rect">
            <a:avLst/>
          </a:prstGeom>
          <a:noFill/>
        </p:spPr>
        <p:txBody>
          <a:bodyPr vert="horz" wrap="square" lIns="0" tIns="0" rIns="0" bIns="0" rtlCol="0">
            <a:spAutoFit/>
          </a:bodyPr>
          <a:lstStyle/>
          <a:p>
            <a:r>
              <a:rPr lang="en-US" sz="1400" b="1">
                <a:solidFill>
                  <a:srgbClr val="31A6E8"/>
                </a:solidFill>
                <a:latin typeface="Consolas" panose="020B0609020204030204" pitchFamily="49" charset="0"/>
              </a:rPr>
              <a:t>&gt;</a:t>
            </a:r>
          </a:p>
        </p:txBody>
      </p:sp>
      <p:sp>
        <p:nvSpPr>
          <p:cNvPr id="11" name="Rectangle 10">
            <a:extLst>
              <a:ext uri="{FF2B5EF4-FFF2-40B4-BE49-F238E27FC236}">
                <a16:creationId xmlns:a16="http://schemas.microsoft.com/office/drawing/2014/main" id="{D380D66F-B492-972F-35BD-D5E2EF7C7433}"/>
              </a:ext>
            </a:extLst>
          </p:cNvPr>
          <p:cNvSpPr/>
          <p:nvPr/>
        </p:nvSpPr>
        <p:spPr>
          <a:xfrm>
            <a:off x="2425700" y="2032000"/>
            <a:ext cx="1625600" cy="1422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E69E863A-A2F8-A781-5597-2D5D4CF1DD7D}"/>
              </a:ext>
            </a:extLst>
          </p:cNvPr>
          <p:cNvSpPr txBox="1"/>
          <p:nvPr/>
        </p:nvSpPr>
        <p:spPr>
          <a:xfrm>
            <a:off x="2552700" y="2336800"/>
            <a:ext cx="1371600" cy="215444"/>
          </a:xfrm>
          <a:prstGeom prst="rect">
            <a:avLst/>
          </a:prstGeom>
          <a:noFill/>
        </p:spPr>
        <p:txBody>
          <a:bodyPr vert="horz" wrap="square" lIns="0" tIns="0" rIns="0" bIns="0" rtlCol="0">
            <a:spAutoFit/>
          </a:bodyPr>
          <a:lstStyle/>
          <a:p>
            <a:r>
              <a:rPr lang="en-US" sz="1400" b="1">
                <a:solidFill>
                  <a:srgbClr val="ECF1F7"/>
                </a:solidFill>
                <a:latin typeface="Aptos" panose="020B0004020202020204" pitchFamily="34" charset="0"/>
              </a:rPr>
              <a:t>PCM WAV</a:t>
            </a:r>
          </a:p>
        </p:txBody>
      </p:sp>
      <p:sp>
        <p:nvSpPr>
          <p:cNvPr id="13" name="TextBox 12">
            <a:extLst>
              <a:ext uri="{FF2B5EF4-FFF2-40B4-BE49-F238E27FC236}">
                <a16:creationId xmlns:a16="http://schemas.microsoft.com/office/drawing/2014/main" id="{EEA6A0B4-691B-D3EF-196D-3E0E0FA1A53B}"/>
              </a:ext>
            </a:extLst>
          </p:cNvPr>
          <p:cNvSpPr txBox="1"/>
          <p:nvPr/>
        </p:nvSpPr>
        <p:spPr>
          <a:xfrm>
            <a:off x="2552700" y="2895600"/>
            <a:ext cx="1371600" cy="153888"/>
          </a:xfrm>
          <a:prstGeom prst="rect">
            <a:avLst/>
          </a:prstGeom>
          <a:noFill/>
        </p:spPr>
        <p:txBody>
          <a:bodyPr vert="horz" wrap="square" lIns="0" tIns="0" rIns="0" bIns="0" rtlCol="0">
            <a:spAutoFit/>
          </a:bodyPr>
          <a:lstStyle/>
          <a:p>
            <a:r>
              <a:rPr lang="en-US" sz="1000">
                <a:solidFill>
                  <a:srgbClr val="9BA6B5"/>
                </a:solidFill>
                <a:latin typeface="Aptos" panose="020B0004020202020204" pitchFamily="34" charset="0"/>
              </a:rPr>
              <a:t>mono / 48 kHz / PCM16</a:t>
            </a:r>
          </a:p>
        </p:txBody>
      </p:sp>
      <p:cxnSp>
        <p:nvCxnSpPr>
          <p:cNvPr id="14" name="Straight Connector 13">
            <a:extLst>
              <a:ext uri="{FF2B5EF4-FFF2-40B4-BE49-F238E27FC236}">
                <a16:creationId xmlns:a16="http://schemas.microsoft.com/office/drawing/2014/main" id="{32BF99CF-70A3-8CB6-082A-29E9BFCCEAD1}"/>
              </a:ext>
            </a:extLst>
          </p:cNvPr>
          <p:cNvCxnSpPr/>
          <p:nvPr/>
        </p:nvCxnSpPr>
        <p:spPr>
          <a:xfrm>
            <a:off x="4051300" y="2743200"/>
            <a:ext cx="228600" cy="0"/>
          </a:xfrm>
          <a:prstGeom prst="line">
            <a:avLst/>
          </a:prstGeom>
          <a:ln w="25400">
            <a:solidFill>
              <a:srgbClr val="31A6E8"/>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98BABD40-3B18-5DC2-2A55-D831AA906930}"/>
              </a:ext>
            </a:extLst>
          </p:cNvPr>
          <p:cNvSpPr txBox="1"/>
          <p:nvPr/>
        </p:nvSpPr>
        <p:spPr>
          <a:xfrm>
            <a:off x="4127500" y="2603500"/>
            <a:ext cx="152400" cy="215444"/>
          </a:xfrm>
          <a:prstGeom prst="rect">
            <a:avLst/>
          </a:prstGeom>
          <a:noFill/>
        </p:spPr>
        <p:txBody>
          <a:bodyPr vert="horz" wrap="square" lIns="0" tIns="0" rIns="0" bIns="0" rtlCol="0">
            <a:spAutoFit/>
          </a:bodyPr>
          <a:lstStyle/>
          <a:p>
            <a:r>
              <a:rPr lang="en-US" sz="1400" b="1">
                <a:solidFill>
                  <a:srgbClr val="31A6E8"/>
                </a:solidFill>
                <a:latin typeface="Consolas" panose="020B0609020204030204" pitchFamily="49" charset="0"/>
              </a:rPr>
              <a:t>&gt;</a:t>
            </a:r>
          </a:p>
        </p:txBody>
      </p:sp>
      <p:sp>
        <p:nvSpPr>
          <p:cNvPr id="16" name="Rectangle 15">
            <a:extLst>
              <a:ext uri="{FF2B5EF4-FFF2-40B4-BE49-F238E27FC236}">
                <a16:creationId xmlns:a16="http://schemas.microsoft.com/office/drawing/2014/main" id="{24A15BDF-F03C-8122-A4D5-395D6400B055}"/>
              </a:ext>
            </a:extLst>
          </p:cNvPr>
          <p:cNvSpPr/>
          <p:nvPr/>
        </p:nvSpPr>
        <p:spPr>
          <a:xfrm>
            <a:off x="4343400" y="2032000"/>
            <a:ext cx="1625600" cy="1422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B63B80E2-0C13-6464-E8D0-6FAE841F990F}"/>
              </a:ext>
            </a:extLst>
          </p:cNvPr>
          <p:cNvSpPr txBox="1"/>
          <p:nvPr/>
        </p:nvSpPr>
        <p:spPr>
          <a:xfrm>
            <a:off x="4470400" y="2336800"/>
            <a:ext cx="1371600" cy="215444"/>
          </a:xfrm>
          <a:prstGeom prst="rect">
            <a:avLst/>
          </a:prstGeom>
          <a:noFill/>
        </p:spPr>
        <p:txBody>
          <a:bodyPr vert="horz" wrap="square" lIns="0" tIns="0" rIns="0" bIns="0" rtlCol="0">
            <a:spAutoFit/>
          </a:bodyPr>
          <a:lstStyle/>
          <a:p>
            <a:r>
              <a:rPr lang="en-US" sz="1400" b="1">
                <a:solidFill>
                  <a:srgbClr val="ECF1F7"/>
                </a:solidFill>
                <a:latin typeface="Aptos" panose="020B0004020202020204" pitchFamily="34" charset="0"/>
              </a:rPr>
              <a:t>GNU Radio</a:t>
            </a:r>
          </a:p>
        </p:txBody>
      </p:sp>
      <p:sp>
        <p:nvSpPr>
          <p:cNvPr id="18" name="TextBox 17">
            <a:extLst>
              <a:ext uri="{FF2B5EF4-FFF2-40B4-BE49-F238E27FC236}">
                <a16:creationId xmlns:a16="http://schemas.microsoft.com/office/drawing/2014/main" id="{4047B499-9D05-E203-E042-80C6A735DCC9}"/>
              </a:ext>
            </a:extLst>
          </p:cNvPr>
          <p:cNvSpPr txBox="1"/>
          <p:nvPr/>
        </p:nvSpPr>
        <p:spPr>
          <a:xfrm>
            <a:off x="4470400" y="2895600"/>
            <a:ext cx="1371600" cy="153888"/>
          </a:xfrm>
          <a:prstGeom prst="rect">
            <a:avLst/>
          </a:prstGeom>
          <a:noFill/>
        </p:spPr>
        <p:txBody>
          <a:bodyPr vert="horz" wrap="square" lIns="0" tIns="0" rIns="0" bIns="0" rtlCol="0">
            <a:spAutoFit/>
          </a:bodyPr>
          <a:lstStyle/>
          <a:p>
            <a:r>
              <a:rPr lang="en-US" sz="1000">
                <a:solidFill>
                  <a:srgbClr val="9BA6B5"/>
                </a:solidFill>
                <a:latin typeface="Aptos" panose="020B0004020202020204" pitchFamily="34" charset="0"/>
              </a:rPr>
              <a:t>FSK / 9600 baud</a:t>
            </a:r>
          </a:p>
        </p:txBody>
      </p:sp>
      <p:cxnSp>
        <p:nvCxnSpPr>
          <p:cNvPr id="19" name="Straight Connector 18">
            <a:extLst>
              <a:ext uri="{FF2B5EF4-FFF2-40B4-BE49-F238E27FC236}">
                <a16:creationId xmlns:a16="http://schemas.microsoft.com/office/drawing/2014/main" id="{67613B17-2B77-B90A-F800-5FF07BA0ACF1}"/>
              </a:ext>
            </a:extLst>
          </p:cNvPr>
          <p:cNvCxnSpPr/>
          <p:nvPr/>
        </p:nvCxnSpPr>
        <p:spPr>
          <a:xfrm>
            <a:off x="5969000" y="2743200"/>
            <a:ext cx="228600" cy="0"/>
          </a:xfrm>
          <a:prstGeom prst="line">
            <a:avLst/>
          </a:prstGeom>
          <a:ln w="25400">
            <a:solidFill>
              <a:srgbClr val="31A6E8"/>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AE1281F6-2CC3-16A2-520A-D1377C55B8DC}"/>
              </a:ext>
            </a:extLst>
          </p:cNvPr>
          <p:cNvSpPr txBox="1"/>
          <p:nvPr/>
        </p:nvSpPr>
        <p:spPr>
          <a:xfrm>
            <a:off x="6045200" y="2603500"/>
            <a:ext cx="152400" cy="215444"/>
          </a:xfrm>
          <a:prstGeom prst="rect">
            <a:avLst/>
          </a:prstGeom>
          <a:noFill/>
        </p:spPr>
        <p:txBody>
          <a:bodyPr vert="horz" wrap="square" lIns="0" tIns="0" rIns="0" bIns="0" rtlCol="0">
            <a:spAutoFit/>
          </a:bodyPr>
          <a:lstStyle/>
          <a:p>
            <a:r>
              <a:rPr lang="en-US" sz="1400" b="1">
                <a:solidFill>
                  <a:srgbClr val="31A6E8"/>
                </a:solidFill>
                <a:latin typeface="Consolas" panose="020B0609020204030204" pitchFamily="49" charset="0"/>
              </a:rPr>
              <a:t>&gt;</a:t>
            </a:r>
          </a:p>
        </p:txBody>
      </p:sp>
      <p:sp>
        <p:nvSpPr>
          <p:cNvPr id="21" name="Rectangle 20">
            <a:extLst>
              <a:ext uri="{FF2B5EF4-FFF2-40B4-BE49-F238E27FC236}">
                <a16:creationId xmlns:a16="http://schemas.microsoft.com/office/drawing/2014/main" id="{E9616664-A7EF-A7F4-4AD2-D7F0E970339B}"/>
              </a:ext>
            </a:extLst>
          </p:cNvPr>
          <p:cNvSpPr/>
          <p:nvPr/>
        </p:nvSpPr>
        <p:spPr>
          <a:xfrm>
            <a:off x="6261100" y="2032000"/>
            <a:ext cx="1625600" cy="1422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B789B68D-1C15-96ED-5BA5-68F4CCDEEE6A}"/>
              </a:ext>
            </a:extLst>
          </p:cNvPr>
          <p:cNvSpPr txBox="1"/>
          <p:nvPr/>
        </p:nvSpPr>
        <p:spPr>
          <a:xfrm>
            <a:off x="6388100" y="2336800"/>
            <a:ext cx="1371600" cy="215444"/>
          </a:xfrm>
          <a:prstGeom prst="rect">
            <a:avLst/>
          </a:prstGeom>
          <a:noFill/>
        </p:spPr>
        <p:txBody>
          <a:bodyPr vert="horz" wrap="square" lIns="0" tIns="0" rIns="0" bIns="0" rtlCol="0">
            <a:spAutoFit/>
          </a:bodyPr>
          <a:lstStyle/>
          <a:p>
            <a:r>
              <a:rPr lang="en-US" sz="1400" b="1">
                <a:solidFill>
                  <a:srgbClr val="ECF1F7"/>
                </a:solidFill>
                <a:latin typeface="Aptos" panose="020B0004020202020204" pitchFamily="34" charset="0"/>
              </a:rPr>
              <a:t>AX.25 + KISS</a:t>
            </a:r>
          </a:p>
        </p:txBody>
      </p:sp>
      <p:sp>
        <p:nvSpPr>
          <p:cNvPr id="23" name="TextBox 22">
            <a:extLst>
              <a:ext uri="{FF2B5EF4-FFF2-40B4-BE49-F238E27FC236}">
                <a16:creationId xmlns:a16="http://schemas.microsoft.com/office/drawing/2014/main" id="{C332B545-EAC2-2D83-982C-A0F23112ED36}"/>
              </a:ext>
            </a:extLst>
          </p:cNvPr>
          <p:cNvSpPr txBox="1"/>
          <p:nvPr/>
        </p:nvSpPr>
        <p:spPr>
          <a:xfrm>
            <a:off x="6388100" y="2895600"/>
            <a:ext cx="1371600" cy="153888"/>
          </a:xfrm>
          <a:prstGeom prst="rect">
            <a:avLst/>
          </a:prstGeom>
          <a:noFill/>
        </p:spPr>
        <p:txBody>
          <a:bodyPr vert="horz" wrap="square" lIns="0" tIns="0" rIns="0" bIns="0" rtlCol="0">
            <a:spAutoFit/>
          </a:bodyPr>
          <a:lstStyle/>
          <a:p>
            <a:r>
              <a:rPr lang="en-US" sz="1000">
                <a:solidFill>
                  <a:srgbClr val="9BA6B5"/>
                </a:solidFill>
                <a:latin typeface="Aptos" panose="020B0004020202020204" pitchFamily="34" charset="0"/>
              </a:rPr>
              <a:t>G3RUH / HDLC / CRC</a:t>
            </a:r>
          </a:p>
        </p:txBody>
      </p:sp>
      <p:cxnSp>
        <p:nvCxnSpPr>
          <p:cNvPr id="24" name="Straight Connector 23">
            <a:extLst>
              <a:ext uri="{FF2B5EF4-FFF2-40B4-BE49-F238E27FC236}">
                <a16:creationId xmlns:a16="http://schemas.microsoft.com/office/drawing/2014/main" id="{CD723ECB-6AD6-25D8-42BA-52288E9B6040}"/>
              </a:ext>
            </a:extLst>
          </p:cNvPr>
          <p:cNvCxnSpPr/>
          <p:nvPr/>
        </p:nvCxnSpPr>
        <p:spPr>
          <a:xfrm>
            <a:off x="7886700" y="2743200"/>
            <a:ext cx="228600" cy="0"/>
          </a:xfrm>
          <a:prstGeom prst="line">
            <a:avLst/>
          </a:prstGeom>
          <a:ln w="25400">
            <a:solidFill>
              <a:srgbClr val="31A6E8"/>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07C957AF-A790-5B0C-5E00-8C3CA578013E}"/>
              </a:ext>
            </a:extLst>
          </p:cNvPr>
          <p:cNvSpPr txBox="1"/>
          <p:nvPr/>
        </p:nvSpPr>
        <p:spPr>
          <a:xfrm>
            <a:off x="7962900" y="2603500"/>
            <a:ext cx="152400" cy="215444"/>
          </a:xfrm>
          <a:prstGeom prst="rect">
            <a:avLst/>
          </a:prstGeom>
          <a:noFill/>
        </p:spPr>
        <p:txBody>
          <a:bodyPr vert="horz" wrap="square" lIns="0" tIns="0" rIns="0" bIns="0" rtlCol="0">
            <a:spAutoFit/>
          </a:bodyPr>
          <a:lstStyle/>
          <a:p>
            <a:r>
              <a:rPr lang="en-US" sz="1400" b="1">
                <a:solidFill>
                  <a:srgbClr val="31A6E8"/>
                </a:solidFill>
                <a:latin typeface="Consolas" panose="020B0609020204030204" pitchFamily="49" charset="0"/>
              </a:rPr>
              <a:t>&gt;</a:t>
            </a:r>
          </a:p>
        </p:txBody>
      </p:sp>
      <p:sp>
        <p:nvSpPr>
          <p:cNvPr id="26" name="Rectangle 25">
            <a:extLst>
              <a:ext uri="{FF2B5EF4-FFF2-40B4-BE49-F238E27FC236}">
                <a16:creationId xmlns:a16="http://schemas.microsoft.com/office/drawing/2014/main" id="{7553C6C6-D029-E432-0478-2699CE16A5CD}"/>
              </a:ext>
            </a:extLst>
          </p:cNvPr>
          <p:cNvSpPr/>
          <p:nvPr/>
        </p:nvSpPr>
        <p:spPr>
          <a:xfrm>
            <a:off x="8178800" y="2032000"/>
            <a:ext cx="1625600" cy="1422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A2F1E3E-D7DB-5D54-E445-B180461F83B3}"/>
              </a:ext>
            </a:extLst>
          </p:cNvPr>
          <p:cNvSpPr txBox="1"/>
          <p:nvPr/>
        </p:nvSpPr>
        <p:spPr>
          <a:xfrm>
            <a:off x="8305800" y="2336800"/>
            <a:ext cx="1371600" cy="215444"/>
          </a:xfrm>
          <a:prstGeom prst="rect">
            <a:avLst/>
          </a:prstGeom>
          <a:noFill/>
        </p:spPr>
        <p:txBody>
          <a:bodyPr vert="horz" wrap="square" lIns="0" tIns="0" rIns="0" bIns="0" rtlCol="0">
            <a:spAutoFit/>
          </a:bodyPr>
          <a:lstStyle/>
          <a:p>
            <a:r>
              <a:rPr lang="en-US" sz="1400" b="1">
                <a:solidFill>
                  <a:srgbClr val="ECF1F7"/>
                </a:solidFill>
                <a:latin typeface="Aptos" panose="020B0004020202020204" pitchFamily="34" charset="0"/>
              </a:rPr>
              <a:t>KOYO Decoder</a:t>
            </a:r>
          </a:p>
        </p:txBody>
      </p:sp>
      <p:sp>
        <p:nvSpPr>
          <p:cNvPr id="28" name="TextBox 27">
            <a:extLst>
              <a:ext uri="{FF2B5EF4-FFF2-40B4-BE49-F238E27FC236}">
                <a16:creationId xmlns:a16="http://schemas.microsoft.com/office/drawing/2014/main" id="{8C19576E-899E-3AA0-686B-0E6A134C33F1}"/>
              </a:ext>
            </a:extLst>
          </p:cNvPr>
          <p:cNvSpPr txBox="1"/>
          <p:nvPr/>
        </p:nvSpPr>
        <p:spPr>
          <a:xfrm>
            <a:off x="8305800" y="2895600"/>
            <a:ext cx="1371600" cy="153888"/>
          </a:xfrm>
          <a:prstGeom prst="rect">
            <a:avLst/>
          </a:prstGeom>
          <a:noFill/>
        </p:spPr>
        <p:txBody>
          <a:bodyPr vert="horz" wrap="square" lIns="0" tIns="0" rIns="0" bIns="0" rtlCol="0">
            <a:spAutoFit/>
          </a:bodyPr>
          <a:lstStyle/>
          <a:p>
            <a:r>
              <a:rPr lang="en-US" sz="1000">
                <a:solidFill>
                  <a:srgbClr val="9BA6B5"/>
                </a:solidFill>
                <a:latin typeface="Aptos" panose="020B0004020202020204" pitchFamily="34" charset="0"/>
              </a:rPr>
              <a:t>263-byte filter</a:t>
            </a:r>
          </a:p>
        </p:txBody>
      </p:sp>
      <p:cxnSp>
        <p:nvCxnSpPr>
          <p:cNvPr id="29" name="Straight Connector 28">
            <a:extLst>
              <a:ext uri="{FF2B5EF4-FFF2-40B4-BE49-F238E27FC236}">
                <a16:creationId xmlns:a16="http://schemas.microsoft.com/office/drawing/2014/main" id="{D80338EC-1D81-CF9E-EFBF-17669F2DCF6B}"/>
              </a:ext>
            </a:extLst>
          </p:cNvPr>
          <p:cNvCxnSpPr/>
          <p:nvPr/>
        </p:nvCxnSpPr>
        <p:spPr>
          <a:xfrm>
            <a:off x="9804400" y="2743200"/>
            <a:ext cx="228600" cy="0"/>
          </a:xfrm>
          <a:prstGeom prst="line">
            <a:avLst/>
          </a:prstGeom>
          <a:ln w="25400">
            <a:solidFill>
              <a:srgbClr val="31A6E8"/>
            </a:solidFill>
          </a:ln>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71BEEFC5-CCC7-44B0-1EE7-0328CBB2008C}"/>
              </a:ext>
            </a:extLst>
          </p:cNvPr>
          <p:cNvSpPr txBox="1"/>
          <p:nvPr/>
        </p:nvSpPr>
        <p:spPr>
          <a:xfrm>
            <a:off x="9880600" y="2603500"/>
            <a:ext cx="152400" cy="215444"/>
          </a:xfrm>
          <a:prstGeom prst="rect">
            <a:avLst/>
          </a:prstGeom>
          <a:noFill/>
        </p:spPr>
        <p:txBody>
          <a:bodyPr vert="horz" wrap="square" lIns="0" tIns="0" rIns="0" bIns="0" rtlCol="0">
            <a:spAutoFit/>
          </a:bodyPr>
          <a:lstStyle/>
          <a:p>
            <a:r>
              <a:rPr lang="en-US" sz="1400" b="1">
                <a:solidFill>
                  <a:srgbClr val="31A6E8"/>
                </a:solidFill>
                <a:latin typeface="Consolas" panose="020B0609020204030204" pitchFamily="49" charset="0"/>
              </a:rPr>
              <a:t>&gt;</a:t>
            </a:r>
          </a:p>
        </p:txBody>
      </p:sp>
      <p:sp>
        <p:nvSpPr>
          <p:cNvPr id="31" name="Rectangle 30">
            <a:extLst>
              <a:ext uri="{FF2B5EF4-FFF2-40B4-BE49-F238E27FC236}">
                <a16:creationId xmlns:a16="http://schemas.microsoft.com/office/drawing/2014/main" id="{299F7F69-DD73-0753-6F5C-62706E7DB7D5}"/>
              </a:ext>
            </a:extLst>
          </p:cNvPr>
          <p:cNvSpPr/>
          <p:nvPr/>
        </p:nvSpPr>
        <p:spPr>
          <a:xfrm>
            <a:off x="10096500" y="2032000"/>
            <a:ext cx="1625600" cy="1422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DAD2AACA-0C30-9589-F224-84622E29DCA9}"/>
              </a:ext>
            </a:extLst>
          </p:cNvPr>
          <p:cNvSpPr txBox="1"/>
          <p:nvPr/>
        </p:nvSpPr>
        <p:spPr>
          <a:xfrm>
            <a:off x="10223500" y="2336800"/>
            <a:ext cx="1371600" cy="215444"/>
          </a:xfrm>
          <a:prstGeom prst="rect">
            <a:avLst/>
          </a:prstGeom>
          <a:noFill/>
        </p:spPr>
        <p:txBody>
          <a:bodyPr vert="horz" wrap="square" lIns="0" tIns="0" rIns="0" bIns="0" rtlCol="0">
            <a:spAutoFit/>
          </a:bodyPr>
          <a:lstStyle/>
          <a:p>
            <a:r>
              <a:rPr lang="en-US" sz="1400" b="1">
                <a:solidFill>
                  <a:srgbClr val="ECF1F7"/>
                </a:solidFill>
                <a:latin typeface="Aptos" panose="020B0004020202020204" pitchFamily="34" charset="0"/>
              </a:rPr>
              <a:t>Influx + Grafana</a:t>
            </a:r>
          </a:p>
        </p:txBody>
      </p:sp>
      <p:sp>
        <p:nvSpPr>
          <p:cNvPr id="33" name="TextBox 32">
            <a:extLst>
              <a:ext uri="{FF2B5EF4-FFF2-40B4-BE49-F238E27FC236}">
                <a16:creationId xmlns:a16="http://schemas.microsoft.com/office/drawing/2014/main" id="{DABCA467-5B45-8206-7F70-03C6997843E9}"/>
              </a:ext>
            </a:extLst>
          </p:cNvPr>
          <p:cNvSpPr txBox="1"/>
          <p:nvPr/>
        </p:nvSpPr>
        <p:spPr>
          <a:xfrm>
            <a:off x="10223500" y="2895600"/>
            <a:ext cx="1371600" cy="153888"/>
          </a:xfrm>
          <a:prstGeom prst="rect">
            <a:avLst/>
          </a:prstGeom>
          <a:noFill/>
        </p:spPr>
        <p:txBody>
          <a:bodyPr vert="horz" wrap="square" lIns="0" tIns="0" rIns="0" bIns="0" rtlCol="0">
            <a:spAutoFit/>
          </a:bodyPr>
          <a:lstStyle/>
          <a:p>
            <a:r>
              <a:rPr lang="en-US" sz="1000">
                <a:solidFill>
                  <a:srgbClr val="9BA6B5"/>
                </a:solidFill>
                <a:latin typeface="Aptos" panose="020B0004020202020204" pitchFamily="34" charset="0"/>
              </a:rPr>
              <a:t>evidence + telemetry</a:t>
            </a:r>
          </a:p>
        </p:txBody>
      </p:sp>
      <p:sp>
        <p:nvSpPr>
          <p:cNvPr id="34" name="Rectangle 33">
            <a:extLst>
              <a:ext uri="{FF2B5EF4-FFF2-40B4-BE49-F238E27FC236}">
                <a16:creationId xmlns:a16="http://schemas.microsoft.com/office/drawing/2014/main" id="{B31BC57F-A796-7364-A581-57D85F1AD636}"/>
              </a:ext>
            </a:extLst>
          </p:cNvPr>
          <p:cNvSpPr/>
          <p:nvPr/>
        </p:nvSpPr>
        <p:spPr>
          <a:xfrm>
            <a:off x="2400300" y="3937000"/>
            <a:ext cx="7391400" cy="1130300"/>
          </a:xfrm>
          <a:prstGeom prst="rect">
            <a:avLst/>
          </a:prstGeom>
          <a:solidFill>
            <a:srgbClr val="191F29"/>
          </a:solidFill>
          <a:ln w="12700">
            <a:solidFill>
              <a:srgbClr val="F699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68718525-C6AC-D363-B29E-3B9936A5BBCB}"/>
              </a:ext>
            </a:extLst>
          </p:cNvPr>
          <p:cNvSpPr txBox="1"/>
          <p:nvPr/>
        </p:nvSpPr>
        <p:spPr>
          <a:xfrm>
            <a:off x="2654300" y="4178300"/>
            <a:ext cx="2286000" cy="153888"/>
          </a:xfrm>
          <a:prstGeom prst="rect">
            <a:avLst/>
          </a:prstGeom>
          <a:noFill/>
        </p:spPr>
        <p:txBody>
          <a:bodyPr vert="horz" wrap="square" lIns="0" tIns="0" rIns="0" bIns="0" rtlCol="0">
            <a:spAutoFit/>
          </a:bodyPr>
          <a:lstStyle/>
          <a:p>
            <a:r>
              <a:rPr lang="en-US" sz="1000" b="1">
                <a:solidFill>
                  <a:srgbClr val="F69929"/>
                </a:solidFill>
                <a:latin typeface="Consolas" panose="020B0609020204030204" pitchFamily="49" charset="0"/>
              </a:rPr>
              <a:t>INDEPENDENT CONTROL</a:t>
            </a:r>
          </a:p>
        </p:txBody>
      </p:sp>
      <p:sp>
        <p:nvSpPr>
          <p:cNvPr id="36" name="TextBox 35">
            <a:extLst>
              <a:ext uri="{FF2B5EF4-FFF2-40B4-BE49-F238E27FC236}">
                <a16:creationId xmlns:a16="http://schemas.microsoft.com/office/drawing/2014/main" id="{58B8302B-0B99-F083-B967-25AED69C19CC}"/>
              </a:ext>
            </a:extLst>
          </p:cNvPr>
          <p:cNvSpPr txBox="1"/>
          <p:nvPr/>
        </p:nvSpPr>
        <p:spPr>
          <a:xfrm>
            <a:off x="4940300" y="4114800"/>
            <a:ext cx="4508500" cy="384721"/>
          </a:xfrm>
          <a:prstGeom prst="rect">
            <a:avLst/>
          </a:prstGeom>
          <a:noFill/>
        </p:spPr>
        <p:txBody>
          <a:bodyPr vert="horz" wrap="square" lIns="0" tIns="0" rIns="0" bIns="0" rtlCol="0">
            <a:spAutoFit/>
          </a:bodyPr>
          <a:lstStyle/>
          <a:p>
            <a:r>
              <a:rPr lang="en-US" sz="1250">
                <a:solidFill>
                  <a:srgbClr val="ECF1F7"/>
                </a:solidFill>
                <a:latin typeface="Aptos" panose="020B0004020202020204" pitchFamily="34" charset="0"/>
              </a:rPr>
              <a:t>SatNOGS demodulated frames are used only for byte-exact comparison. They are not local decoder input.</a:t>
            </a:r>
          </a:p>
        </p:txBody>
      </p:sp>
      <p:sp>
        <p:nvSpPr>
          <p:cNvPr id="37" name="Rectangle 36">
            <a:extLst>
              <a:ext uri="{FF2B5EF4-FFF2-40B4-BE49-F238E27FC236}">
                <a16:creationId xmlns:a16="http://schemas.microsoft.com/office/drawing/2014/main" id="{577DFB95-5E87-AFA4-BDDF-FAB94D821A9B}"/>
              </a:ext>
            </a:extLst>
          </p:cNvPr>
          <p:cNvSpPr/>
          <p:nvPr/>
        </p:nvSpPr>
        <p:spPr>
          <a:xfrm>
            <a:off x="584200" y="5715000"/>
            <a:ext cx="11023600" cy="622300"/>
          </a:xfrm>
          <a:prstGeom prst="rect">
            <a:avLst/>
          </a:prstGeom>
          <a:solidFill>
            <a:srgbClr val="191F29"/>
          </a:solidFill>
          <a:ln w="12700">
            <a:solidFill>
              <a:srgbClr val="31A6E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6CA8A28C-271E-3697-BE5D-A0CDCDBCA835}"/>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39" name="TextBox 38">
            <a:extLst>
              <a:ext uri="{FF2B5EF4-FFF2-40B4-BE49-F238E27FC236}">
                <a16:creationId xmlns:a16="http://schemas.microsoft.com/office/drawing/2014/main" id="{A6803C4E-33CF-1CD5-B51A-0C613715BBD0}"/>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A6E8"/>
                </a:solidFill>
                <a:latin typeface="Aptos" panose="020B0004020202020204" pitchFamily="34" charset="0"/>
              </a:rPr>
              <a:t>OGG -&gt; WAV -&gt; GNU Radio -&gt; AX.25/KISS -&gt; decoder -&gt; dashboard</a:t>
            </a:r>
          </a:p>
        </p:txBody>
      </p:sp>
    </p:spTree>
    <p:extLst>
      <p:ext uri="{BB962C8B-B14F-4D97-AF65-F5344CB8AC3E}">
        <p14:creationId xmlns:p14="http://schemas.microsoft.com/office/powerpoint/2010/main" val="5381847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E2907B5-29C5-B7A5-F6B6-BFC24B28CA41}"/>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74BE7F46-DB83-4FBC-EBC3-FD66D9A1A3D8}"/>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Stage 1 - SatNOGS Observation Acquisition</a:t>
            </a:r>
          </a:p>
        </p:txBody>
      </p:sp>
      <p:cxnSp>
        <p:nvCxnSpPr>
          <p:cNvPr id="4" name="Straight Connector 3">
            <a:extLst>
              <a:ext uri="{FF2B5EF4-FFF2-40B4-BE49-F238E27FC236}">
                <a16:creationId xmlns:a16="http://schemas.microsoft.com/office/drawing/2014/main" id="{98473B67-D81A-297A-A4AA-363655BF4274}"/>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B36AFF75-EF62-A39D-A25F-70B5ADA313DD}"/>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05</a:t>
            </a:r>
          </a:p>
        </p:txBody>
      </p:sp>
      <p:sp>
        <p:nvSpPr>
          <p:cNvPr id="6" name="Rectangle 5">
            <a:extLst>
              <a:ext uri="{FF2B5EF4-FFF2-40B4-BE49-F238E27FC236}">
                <a16:creationId xmlns:a16="http://schemas.microsoft.com/office/drawing/2014/main" id="{C60BB898-3EFB-59AA-434D-95846EDFA462}"/>
              </a:ext>
            </a:extLst>
          </p:cNvPr>
          <p:cNvSpPr/>
          <p:nvPr/>
        </p:nvSpPr>
        <p:spPr>
          <a:xfrm>
            <a:off x="5842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E9CABF27-51D1-ED3E-0411-8B4D9ECDE9D3}"/>
              </a:ext>
            </a:extLst>
          </p:cNvPr>
          <p:cNvSpPr txBox="1"/>
          <p:nvPr/>
        </p:nvSpPr>
        <p:spPr>
          <a:xfrm>
            <a:off x="838200" y="2006600"/>
            <a:ext cx="4699000" cy="169277"/>
          </a:xfrm>
          <a:prstGeom prst="rect">
            <a:avLst/>
          </a:prstGeom>
          <a:noFill/>
        </p:spPr>
        <p:txBody>
          <a:bodyPr vert="horz" wrap="square" lIns="0" tIns="0" rIns="0" bIns="0" rtlCol="0">
            <a:spAutoFit/>
          </a:bodyPr>
          <a:lstStyle/>
          <a:p>
            <a:r>
              <a:rPr lang="en-US" sz="1100" b="1">
                <a:solidFill>
                  <a:srgbClr val="31A6E8"/>
                </a:solidFill>
                <a:latin typeface="Consolas" panose="020B0609020204030204" pitchFamily="49" charset="0"/>
              </a:rPr>
              <a:t>DEMO OBSERVATION</a:t>
            </a:r>
          </a:p>
        </p:txBody>
      </p:sp>
      <p:sp>
        <p:nvSpPr>
          <p:cNvPr id="8" name="TextBox 7">
            <a:extLst>
              <a:ext uri="{FF2B5EF4-FFF2-40B4-BE49-F238E27FC236}">
                <a16:creationId xmlns:a16="http://schemas.microsoft.com/office/drawing/2014/main" id="{7663253B-613F-87DF-DD3F-15C06B3CAE48}"/>
              </a:ext>
            </a:extLst>
          </p:cNvPr>
          <p:cNvSpPr txBox="1"/>
          <p:nvPr/>
        </p:nvSpPr>
        <p:spPr>
          <a:xfrm>
            <a:off x="838200" y="26035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9" name="TextBox 8">
            <a:extLst>
              <a:ext uri="{FF2B5EF4-FFF2-40B4-BE49-F238E27FC236}">
                <a16:creationId xmlns:a16="http://schemas.microsoft.com/office/drawing/2014/main" id="{3F96AF4F-891A-7C96-4CF8-9D14FC5C9687}"/>
              </a:ext>
            </a:extLst>
          </p:cNvPr>
          <p:cNvSpPr txBox="1"/>
          <p:nvPr/>
        </p:nvSpPr>
        <p:spPr>
          <a:xfrm>
            <a:off x="11176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Observation 14909703 from MAUSyagi-AK.</a:t>
            </a:r>
          </a:p>
        </p:txBody>
      </p:sp>
      <p:sp>
        <p:nvSpPr>
          <p:cNvPr id="10" name="TextBox 9">
            <a:extLst>
              <a:ext uri="{FF2B5EF4-FFF2-40B4-BE49-F238E27FC236}">
                <a16:creationId xmlns:a16="http://schemas.microsoft.com/office/drawing/2014/main" id="{29693F2D-35CF-AE78-757B-6AD9F9DCA959}"/>
              </a:ext>
            </a:extLst>
          </p:cNvPr>
          <p:cNvSpPr txBox="1"/>
          <p:nvPr/>
        </p:nvSpPr>
        <p:spPr>
          <a:xfrm>
            <a:off x="838200" y="32258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1" name="TextBox 10">
            <a:extLst>
              <a:ext uri="{FF2B5EF4-FFF2-40B4-BE49-F238E27FC236}">
                <a16:creationId xmlns:a16="http://schemas.microsoft.com/office/drawing/2014/main" id="{B7A4186D-EC51-CA73-FB3F-6F57626BECA3}"/>
              </a:ext>
            </a:extLst>
          </p:cNvPr>
          <p:cNvSpPr txBox="1"/>
          <p:nvPr/>
        </p:nvSpPr>
        <p:spPr>
          <a:xfrm>
            <a:off x="11176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Start: 2026-08-30 18:43:47 UTC.</a:t>
            </a:r>
          </a:p>
        </p:txBody>
      </p:sp>
      <p:sp>
        <p:nvSpPr>
          <p:cNvPr id="12" name="TextBox 11">
            <a:extLst>
              <a:ext uri="{FF2B5EF4-FFF2-40B4-BE49-F238E27FC236}">
                <a16:creationId xmlns:a16="http://schemas.microsoft.com/office/drawing/2014/main" id="{14BD0831-95B9-358A-940A-AA2DAF12C450}"/>
              </a:ext>
            </a:extLst>
          </p:cNvPr>
          <p:cNvSpPr txBox="1"/>
          <p:nvPr/>
        </p:nvSpPr>
        <p:spPr>
          <a:xfrm>
            <a:off x="838200" y="38481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3" name="TextBox 12">
            <a:extLst>
              <a:ext uri="{FF2B5EF4-FFF2-40B4-BE49-F238E27FC236}">
                <a16:creationId xmlns:a16="http://schemas.microsoft.com/office/drawing/2014/main" id="{5BE3E656-682E-CA69-01AF-E73D16F99013}"/>
              </a:ext>
            </a:extLst>
          </p:cNvPr>
          <p:cNvSpPr txBox="1"/>
          <p:nvPr/>
        </p:nvSpPr>
        <p:spPr>
          <a:xfrm>
            <a:off x="11176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Duration 00:09:09.61; OGG size 10,431,019 bytes.</a:t>
            </a:r>
          </a:p>
        </p:txBody>
      </p:sp>
      <p:sp>
        <p:nvSpPr>
          <p:cNvPr id="14" name="Rectangle 13">
            <a:extLst>
              <a:ext uri="{FF2B5EF4-FFF2-40B4-BE49-F238E27FC236}">
                <a16:creationId xmlns:a16="http://schemas.microsoft.com/office/drawing/2014/main" id="{0435CE25-7A23-160D-36FA-879C20C9413E}"/>
              </a:ext>
            </a:extLst>
          </p:cNvPr>
          <p:cNvSpPr/>
          <p:nvPr/>
        </p:nvSpPr>
        <p:spPr>
          <a:xfrm>
            <a:off x="64008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5C453DD-CD8A-0769-E5AB-E797F39D8F9D}"/>
              </a:ext>
            </a:extLst>
          </p:cNvPr>
          <p:cNvSpPr txBox="1"/>
          <p:nvPr/>
        </p:nvSpPr>
        <p:spPr>
          <a:xfrm>
            <a:off x="6654800" y="2006600"/>
            <a:ext cx="4699000" cy="169277"/>
          </a:xfrm>
          <a:prstGeom prst="rect">
            <a:avLst/>
          </a:prstGeom>
          <a:noFill/>
        </p:spPr>
        <p:txBody>
          <a:bodyPr vert="horz" wrap="square" lIns="0" tIns="0" rIns="0" bIns="0" rtlCol="0">
            <a:spAutoFit/>
          </a:bodyPr>
          <a:lstStyle/>
          <a:p>
            <a:r>
              <a:rPr lang="en-US" sz="1100" b="1">
                <a:solidFill>
                  <a:srgbClr val="31CC70"/>
                </a:solidFill>
                <a:latin typeface="Consolas" panose="020B0609020204030204" pitchFamily="49" charset="0"/>
              </a:rPr>
              <a:t>TRACEABILITY AND SCOPE</a:t>
            </a:r>
          </a:p>
        </p:txBody>
      </p:sp>
      <p:sp>
        <p:nvSpPr>
          <p:cNvPr id="16" name="TextBox 15">
            <a:extLst>
              <a:ext uri="{FF2B5EF4-FFF2-40B4-BE49-F238E27FC236}">
                <a16:creationId xmlns:a16="http://schemas.microsoft.com/office/drawing/2014/main" id="{D02C5B76-B20B-66E5-0890-4604F59A0755}"/>
              </a:ext>
            </a:extLst>
          </p:cNvPr>
          <p:cNvSpPr txBox="1"/>
          <p:nvPr/>
        </p:nvSpPr>
        <p:spPr>
          <a:xfrm>
            <a:off x="6654800" y="26035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7" name="TextBox 16">
            <a:extLst>
              <a:ext uri="{FF2B5EF4-FFF2-40B4-BE49-F238E27FC236}">
                <a16:creationId xmlns:a16="http://schemas.microsoft.com/office/drawing/2014/main" id="{C23ADB5A-8CCF-46AC-E675-C4FFB68298D5}"/>
              </a:ext>
            </a:extLst>
          </p:cNvPr>
          <p:cNvSpPr txBox="1"/>
          <p:nvPr/>
        </p:nvSpPr>
        <p:spPr>
          <a:xfrm>
            <a:off x="69342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Observation ID, station, and UTC follow every result.</a:t>
            </a:r>
          </a:p>
        </p:txBody>
      </p:sp>
      <p:sp>
        <p:nvSpPr>
          <p:cNvPr id="18" name="TextBox 17">
            <a:extLst>
              <a:ext uri="{FF2B5EF4-FFF2-40B4-BE49-F238E27FC236}">
                <a16:creationId xmlns:a16="http://schemas.microsoft.com/office/drawing/2014/main" id="{B5FA9A1D-C777-77C3-1597-8056722E7B18}"/>
              </a:ext>
            </a:extLst>
          </p:cNvPr>
          <p:cNvSpPr txBox="1"/>
          <p:nvPr/>
        </p:nvSpPr>
        <p:spPr>
          <a:xfrm>
            <a:off x="6654800" y="32258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9" name="TextBox 18">
            <a:extLst>
              <a:ext uri="{FF2B5EF4-FFF2-40B4-BE49-F238E27FC236}">
                <a16:creationId xmlns:a16="http://schemas.microsoft.com/office/drawing/2014/main" id="{92B621E6-743E-656E-3713-D573B56BCA75}"/>
              </a:ext>
            </a:extLst>
          </p:cNvPr>
          <p:cNvSpPr txBox="1"/>
          <p:nvPr/>
        </p:nvSpPr>
        <p:spPr>
          <a:xfrm>
            <a:off x="69342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Same-observation demodulated frames are controls.</a:t>
            </a:r>
          </a:p>
        </p:txBody>
      </p:sp>
      <p:sp>
        <p:nvSpPr>
          <p:cNvPr id="20" name="TextBox 19">
            <a:extLst>
              <a:ext uri="{FF2B5EF4-FFF2-40B4-BE49-F238E27FC236}">
                <a16:creationId xmlns:a16="http://schemas.microsoft.com/office/drawing/2014/main" id="{1DFA0D1F-EE66-13BE-17A9-8B925E041D69}"/>
              </a:ext>
            </a:extLst>
          </p:cNvPr>
          <p:cNvSpPr txBox="1"/>
          <p:nvPr/>
        </p:nvSpPr>
        <p:spPr>
          <a:xfrm>
            <a:off x="6654800" y="38481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21" name="TextBox 20">
            <a:extLst>
              <a:ext uri="{FF2B5EF4-FFF2-40B4-BE49-F238E27FC236}">
                <a16:creationId xmlns:a16="http://schemas.microsoft.com/office/drawing/2014/main" id="{F0DB198F-CEAD-0719-0310-2D7DFC8700FB}"/>
              </a:ext>
            </a:extLst>
          </p:cNvPr>
          <p:cNvSpPr txBox="1"/>
          <p:nvPr/>
        </p:nvSpPr>
        <p:spPr>
          <a:xfrm>
            <a:off x="69342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Latest means newest upload, not continuous live RF.</a:t>
            </a:r>
          </a:p>
        </p:txBody>
      </p:sp>
      <p:sp>
        <p:nvSpPr>
          <p:cNvPr id="22" name="Rectangle 21">
            <a:extLst>
              <a:ext uri="{FF2B5EF4-FFF2-40B4-BE49-F238E27FC236}">
                <a16:creationId xmlns:a16="http://schemas.microsoft.com/office/drawing/2014/main" id="{DB40BEC8-3C25-EC1E-5497-CEB39B782EBD}"/>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0B7BCBA1-1C67-CD03-42FC-5B17929AF3F1}"/>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24" name="TextBox 23">
            <a:extLst>
              <a:ext uri="{FF2B5EF4-FFF2-40B4-BE49-F238E27FC236}">
                <a16:creationId xmlns:a16="http://schemas.microsoft.com/office/drawing/2014/main" id="{168C72A8-06A6-EA26-7D06-1E70A4820255}"/>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Observation 14909703 acquired with complete source metadata.</a:t>
            </a:r>
          </a:p>
        </p:txBody>
      </p:sp>
    </p:spTree>
    <p:extLst>
      <p:ext uri="{BB962C8B-B14F-4D97-AF65-F5344CB8AC3E}">
        <p14:creationId xmlns:p14="http://schemas.microsoft.com/office/powerpoint/2010/main" val="34718693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E9084C7-9450-BF75-C176-422C48340C1E}"/>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DB5C4DF2-327D-5095-956F-1F6CDC6F9BCE}"/>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Stage 2 - Audio Preparation</a:t>
            </a:r>
          </a:p>
        </p:txBody>
      </p:sp>
      <p:cxnSp>
        <p:nvCxnSpPr>
          <p:cNvPr id="4" name="Straight Connector 3">
            <a:extLst>
              <a:ext uri="{FF2B5EF4-FFF2-40B4-BE49-F238E27FC236}">
                <a16:creationId xmlns:a16="http://schemas.microsoft.com/office/drawing/2014/main" id="{A76BCEBA-5DC4-5143-0974-328FAC4F4F84}"/>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01C4F62A-76E2-2117-92D6-7A921916A68C}"/>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06</a:t>
            </a:r>
          </a:p>
        </p:txBody>
      </p:sp>
      <p:sp>
        <p:nvSpPr>
          <p:cNvPr id="6" name="Rectangle 5">
            <a:extLst>
              <a:ext uri="{FF2B5EF4-FFF2-40B4-BE49-F238E27FC236}">
                <a16:creationId xmlns:a16="http://schemas.microsoft.com/office/drawing/2014/main" id="{DA8034FF-C580-C2AA-53A8-5674363ED00E}"/>
              </a:ext>
            </a:extLst>
          </p:cNvPr>
          <p:cNvSpPr/>
          <p:nvPr/>
        </p:nvSpPr>
        <p:spPr>
          <a:xfrm>
            <a:off x="5842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8F14F3F-9B3F-0AF0-8418-E35BBD12DF50}"/>
              </a:ext>
            </a:extLst>
          </p:cNvPr>
          <p:cNvSpPr txBox="1"/>
          <p:nvPr/>
        </p:nvSpPr>
        <p:spPr>
          <a:xfrm>
            <a:off x="838200" y="2006600"/>
            <a:ext cx="4699000" cy="169277"/>
          </a:xfrm>
          <a:prstGeom prst="rect">
            <a:avLst/>
          </a:prstGeom>
          <a:noFill/>
        </p:spPr>
        <p:txBody>
          <a:bodyPr vert="horz" wrap="square" lIns="0" tIns="0" rIns="0" bIns="0" rtlCol="0">
            <a:spAutoFit/>
          </a:bodyPr>
          <a:lstStyle/>
          <a:p>
            <a:r>
              <a:rPr lang="en-US" sz="1100" b="1">
                <a:solidFill>
                  <a:srgbClr val="31A6E8"/>
                </a:solidFill>
                <a:latin typeface="Consolas" panose="020B0609020204030204" pitchFamily="49" charset="0"/>
              </a:rPr>
              <a:t>SOURCE AUDIO</a:t>
            </a:r>
          </a:p>
        </p:txBody>
      </p:sp>
      <p:sp>
        <p:nvSpPr>
          <p:cNvPr id="8" name="TextBox 7">
            <a:extLst>
              <a:ext uri="{FF2B5EF4-FFF2-40B4-BE49-F238E27FC236}">
                <a16:creationId xmlns:a16="http://schemas.microsoft.com/office/drawing/2014/main" id="{6E4B5227-AA6C-3178-D3C6-86DEA23AC550}"/>
              </a:ext>
            </a:extLst>
          </p:cNvPr>
          <p:cNvSpPr txBox="1"/>
          <p:nvPr/>
        </p:nvSpPr>
        <p:spPr>
          <a:xfrm>
            <a:off x="838200" y="26035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9" name="TextBox 8">
            <a:extLst>
              <a:ext uri="{FF2B5EF4-FFF2-40B4-BE49-F238E27FC236}">
                <a16:creationId xmlns:a16="http://schemas.microsoft.com/office/drawing/2014/main" id="{95450DEC-DDD5-800C-BC11-43FD7A1D4404}"/>
              </a:ext>
            </a:extLst>
          </p:cNvPr>
          <p:cNvSpPr txBox="1"/>
          <p:nvPr/>
        </p:nvSpPr>
        <p:spPr>
          <a:xfrm>
            <a:off x="11176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Compressed SatNOGS Vorbis OGG.</a:t>
            </a:r>
          </a:p>
        </p:txBody>
      </p:sp>
      <p:sp>
        <p:nvSpPr>
          <p:cNvPr id="10" name="TextBox 9">
            <a:extLst>
              <a:ext uri="{FF2B5EF4-FFF2-40B4-BE49-F238E27FC236}">
                <a16:creationId xmlns:a16="http://schemas.microsoft.com/office/drawing/2014/main" id="{C2034620-5D80-4DB7-D8DD-7C0F6FDE413F}"/>
              </a:ext>
            </a:extLst>
          </p:cNvPr>
          <p:cNvSpPr txBox="1"/>
          <p:nvPr/>
        </p:nvSpPr>
        <p:spPr>
          <a:xfrm>
            <a:off x="838200" y="32258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1" name="TextBox 10">
            <a:extLst>
              <a:ext uri="{FF2B5EF4-FFF2-40B4-BE49-F238E27FC236}">
                <a16:creationId xmlns:a16="http://schemas.microsoft.com/office/drawing/2014/main" id="{9A3AB1D6-C86B-2092-64EA-CD3B79BA4EF4}"/>
              </a:ext>
            </a:extLst>
          </p:cNvPr>
          <p:cNvSpPr txBox="1"/>
          <p:nvPr/>
        </p:nvSpPr>
        <p:spPr>
          <a:xfrm>
            <a:off x="11176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10.4 MB for the demonstration observation.</a:t>
            </a:r>
          </a:p>
        </p:txBody>
      </p:sp>
      <p:sp>
        <p:nvSpPr>
          <p:cNvPr id="12" name="TextBox 11">
            <a:extLst>
              <a:ext uri="{FF2B5EF4-FFF2-40B4-BE49-F238E27FC236}">
                <a16:creationId xmlns:a16="http://schemas.microsoft.com/office/drawing/2014/main" id="{335BA040-7831-D138-303F-712DB0059C53}"/>
              </a:ext>
            </a:extLst>
          </p:cNvPr>
          <p:cNvSpPr txBox="1"/>
          <p:nvPr/>
        </p:nvSpPr>
        <p:spPr>
          <a:xfrm>
            <a:off x="838200" y="38481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3" name="TextBox 12">
            <a:extLst>
              <a:ext uri="{FF2B5EF4-FFF2-40B4-BE49-F238E27FC236}">
                <a16:creationId xmlns:a16="http://schemas.microsoft.com/office/drawing/2014/main" id="{8D12D5EF-2E59-8A83-61C3-0459B44E731B}"/>
              </a:ext>
            </a:extLst>
          </p:cNvPr>
          <p:cNvSpPr txBox="1"/>
          <p:nvPr/>
        </p:nvSpPr>
        <p:spPr>
          <a:xfrm>
            <a:off x="11176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Converted automatically with FFmpeg.</a:t>
            </a:r>
          </a:p>
        </p:txBody>
      </p:sp>
      <p:sp>
        <p:nvSpPr>
          <p:cNvPr id="14" name="Rectangle 13">
            <a:extLst>
              <a:ext uri="{FF2B5EF4-FFF2-40B4-BE49-F238E27FC236}">
                <a16:creationId xmlns:a16="http://schemas.microsoft.com/office/drawing/2014/main" id="{1BD4931B-EFDB-AD12-90E4-6F267E9E999C}"/>
              </a:ext>
            </a:extLst>
          </p:cNvPr>
          <p:cNvSpPr/>
          <p:nvPr/>
        </p:nvSpPr>
        <p:spPr>
          <a:xfrm>
            <a:off x="64008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A1B918B-9FBD-591D-CC3C-F7211E2F2D9C}"/>
              </a:ext>
            </a:extLst>
          </p:cNvPr>
          <p:cNvSpPr txBox="1"/>
          <p:nvPr/>
        </p:nvSpPr>
        <p:spPr>
          <a:xfrm>
            <a:off x="6654800" y="2006600"/>
            <a:ext cx="4699000" cy="169277"/>
          </a:xfrm>
          <a:prstGeom prst="rect">
            <a:avLst/>
          </a:prstGeom>
          <a:noFill/>
        </p:spPr>
        <p:txBody>
          <a:bodyPr vert="horz" wrap="square" lIns="0" tIns="0" rIns="0" bIns="0" rtlCol="0">
            <a:spAutoFit/>
          </a:bodyPr>
          <a:lstStyle/>
          <a:p>
            <a:r>
              <a:rPr lang="en-US" sz="1100" b="1">
                <a:solidFill>
                  <a:srgbClr val="31CC70"/>
                </a:solidFill>
                <a:latin typeface="Consolas" panose="020B0609020204030204" pitchFamily="49" charset="0"/>
              </a:rPr>
              <a:t>GNU RADIO INPUT</a:t>
            </a:r>
          </a:p>
        </p:txBody>
      </p:sp>
      <p:sp>
        <p:nvSpPr>
          <p:cNvPr id="16" name="TextBox 15">
            <a:extLst>
              <a:ext uri="{FF2B5EF4-FFF2-40B4-BE49-F238E27FC236}">
                <a16:creationId xmlns:a16="http://schemas.microsoft.com/office/drawing/2014/main" id="{BB61ACA5-A105-108A-99FC-253EBDC8BDA3}"/>
              </a:ext>
            </a:extLst>
          </p:cNvPr>
          <p:cNvSpPr txBox="1"/>
          <p:nvPr/>
        </p:nvSpPr>
        <p:spPr>
          <a:xfrm>
            <a:off x="6654800" y="26035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7" name="TextBox 16">
            <a:extLst>
              <a:ext uri="{FF2B5EF4-FFF2-40B4-BE49-F238E27FC236}">
                <a16:creationId xmlns:a16="http://schemas.microsoft.com/office/drawing/2014/main" id="{530EAD62-B73E-7670-DDDF-E707804DB755}"/>
              </a:ext>
            </a:extLst>
          </p:cNvPr>
          <p:cNvSpPr txBox="1"/>
          <p:nvPr/>
        </p:nvSpPr>
        <p:spPr>
          <a:xfrm>
            <a:off x="69342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Mono, 48 kHz, signed 16-bit PCM WAV.</a:t>
            </a:r>
          </a:p>
        </p:txBody>
      </p:sp>
      <p:sp>
        <p:nvSpPr>
          <p:cNvPr id="18" name="TextBox 17">
            <a:extLst>
              <a:ext uri="{FF2B5EF4-FFF2-40B4-BE49-F238E27FC236}">
                <a16:creationId xmlns:a16="http://schemas.microsoft.com/office/drawing/2014/main" id="{273EB1B6-E49D-507A-2F4F-1C355DDF3E8D}"/>
              </a:ext>
            </a:extLst>
          </p:cNvPr>
          <p:cNvSpPr txBox="1"/>
          <p:nvPr/>
        </p:nvSpPr>
        <p:spPr>
          <a:xfrm>
            <a:off x="6654800" y="32258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9" name="TextBox 18">
            <a:extLst>
              <a:ext uri="{FF2B5EF4-FFF2-40B4-BE49-F238E27FC236}">
                <a16:creationId xmlns:a16="http://schemas.microsoft.com/office/drawing/2014/main" id="{48C0BF84-160F-68A9-F94D-E3B0C4BCB895}"/>
              </a:ext>
            </a:extLst>
          </p:cNvPr>
          <p:cNvSpPr txBox="1"/>
          <p:nvPr/>
        </p:nvSpPr>
        <p:spPr>
          <a:xfrm>
            <a:off x="69342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52.8 MB uncompressed output.</a:t>
            </a:r>
          </a:p>
        </p:txBody>
      </p:sp>
      <p:sp>
        <p:nvSpPr>
          <p:cNvPr id="20" name="TextBox 19">
            <a:extLst>
              <a:ext uri="{FF2B5EF4-FFF2-40B4-BE49-F238E27FC236}">
                <a16:creationId xmlns:a16="http://schemas.microsoft.com/office/drawing/2014/main" id="{6EB53571-4FA1-10D0-E17C-446474212849}"/>
              </a:ext>
            </a:extLst>
          </p:cNvPr>
          <p:cNvSpPr txBox="1"/>
          <p:nvPr/>
        </p:nvSpPr>
        <p:spPr>
          <a:xfrm>
            <a:off x="6654800" y="38481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21" name="TextBox 20">
            <a:extLst>
              <a:ext uri="{FF2B5EF4-FFF2-40B4-BE49-F238E27FC236}">
                <a16:creationId xmlns:a16="http://schemas.microsoft.com/office/drawing/2014/main" id="{869020A6-203E-EB4B-BDF6-A50790CDFBEE}"/>
              </a:ext>
            </a:extLst>
          </p:cNvPr>
          <p:cNvSpPr txBox="1"/>
          <p:nvPr/>
        </p:nvSpPr>
        <p:spPr>
          <a:xfrm>
            <a:off x="69342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Five samples per 9600-baud symbol.</a:t>
            </a:r>
          </a:p>
        </p:txBody>
      </p:sp>
      <p:sp>
        <p:nvSpPr>
          <p:cNvPr id="22" name="Rectangle 21">
            <a:extLst>
              <a:ext uri="{FF2B5EF4-FFF2-40B4-BE49-F238E27FC236}">
                <a16:creationId xmlns:a16="http://schemas.microsoft.com/office/drawing/2014/main" id="{80092E69-3908-195C-EDEC-1C6D65F01D9B}"/>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4C49FEA9-0746-2A08-071C-C5610B0A121A}"/>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24" name="TextBox 23">
            <a:extLst>
              <a:ext uri="{FF2B5EF4-FFF2-40B4-BE49-F238E27FC236}">
                <a16:creationId xmlns:a16="http://schemas.microsoft.com/office/drawing/2014/main" id="{142FF28F-3B26-5D04-1193-CBAED997C606}"/>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A deterministic 48 kHz PCM input is created for GNU Radio.</a:t>
            </a:r>
          </a:p>
        </p:txBody>
      </p:sp>
    </p:spTree>
    <p:extLst>
      <p:ext uri="{BB962C8B-B14F-4D97-AF65-F5344CB8AC3E}">
        <p14:creationId xmlns:p14="http://schemas.microsoft.com/office/powerpoint/2010/main" val="1054778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ECBC187-BDA7-6F13-3D38-B771A74F67CF}"/>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6D99A8E7-52DE-9B58-B359-493E91F36E26}"/>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Stage 3 - GNU Radio Demodulation</a:t>
            </a:r>
          </a:p>
        </p:txBody>
      </p:sp>
      <p:cxnSp>
        <p:nvCxnSpPr>
          <p:cNvPr id="4" name="Straight Connector 3">
            <a:extLst>
              <a:ext uri="{FF2B5EF4-FFF2-40B4-BE49-F238E27FC236}">
                <a16:creationId xmlns:a16="http://schemas.microsoft.com/office/drawing/2014/main" id="{F455DA62-FB8B-DE90-F1D8-43B7B48E0A88}"/>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CA82FC3E-1E08-40A1-3551-C066F9C736E2}"/>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07</a:t>
            </a:r>
          </a:p>
        </p:txBody>
      </p:sp>
      <p:pic>
        <p:nvPicPr>
          <p:cNvPr id="7" name="Picture 6">
            <a:extLst>
              <a:ext uri="{FF2B5EF4-FFF2-40B4-BE49-F238E27FC236}">
                <a16:creationId xmlns:a16="http://schemas.microsoft.com/office/drawing/2014/main" id="{EBAA42AE-6234-4F18-85C7-D85F38E8F61A}"/>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574800"/>
            <a:ext cx="8382000" cy="3873500"/>
          </a:xfrm>
          <a:prstGeom prst="rect">
            <a:avLst/>
          </a:prstGeom>
        </p:spPr>
      </p:pic>
      <p:sp>
        <p:nvSpPr>
          <p:cNvPr id="8" name="Rectangle 7">
            <a:extLst>
              <a:ext uri="{FF2B5EF4-FFF2-40B4-BE49-F238E27FC236}">
                <a16:creationId xmlns:a16="http://schemas.microsoft.com/office/drawing/2014/main" id="{DB5CCB78-5818-CFD8-84C2-9392A6C17A40}"/>
              </a:ext>
            </a:extLst>
          </p:cNvPr>
          <p:cNvSpPr/>
          <p:nvPr/>
        </p:nvSpPr>
        <p:spPr>
          <a:xfrm>
            <a:off x="9194800" y="1574800"/>
            <a:ext cx="2413000" cy="38735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7D194F6E-5054-B465-1642-789FC1F486F9}"/>
              </a:ext>
            </a:extLst>
          </p:cNvPr>
          <p:cNvSpPr txBox="1"/>
          <p:nvPr/>
        </p:nvSpPr>
        <p:spPr>
          <a:xfrm>
            <a:off x="9423400" y="1816100"/>
            <a:ext cx="1905000" cy="153888"/>
          </a:xfrm>
          <a:prstGeom prst="rect">
            <a:avLst/>
          </a:prstGeom>
          <a:noFill/>
        </p:spPr>
        <p:txBody>
          <a:bodyPr vert="horz" wrap="square" lIns="0" tIns="0" rIns="0" bIns="0" rtlCol="0">
            <a:spAutoFit/>
          </a:bodyPr>
          <a:lstStyle/>
          <a:p>
            <a:r>
              <a:rPr lang="en-US" sz="1000" b="1">
                <a:solidFill>
                  <a:srgbClr val="31A6E8"/>
                </a:solidFill>
                <a:latin typeface="Consolas" panose="020B0609020204030204" pitchFamily="49" charset="0"/>
              </a:rPr>
              <a:t>PARAMETERS</a:t>
            </a:r>
          </a:p>
        </p:txBody>
      </p:sp>
      <p:sp>
        <p:nvSpPr>
          <p:cNvPr id="10" name="TextBox 9">
            <a:extLst>
              <a:ext uri="{FF2B5EF4-FFF2-40B4-BE49-F238E27FC236}">
                <a16:creationId xmlns:a16="http://schemas.microsoft.com/office/drawing/2014/main" id="{A0D71A95-C0C8-0B89-2002-4F927B0B21F9}"/>
              </a:ext>
            </a:extLst>
          </p:cNvPr>
          <p:cNvSpPr txBox="1"/>
          <p:nvPr/>
        </p:nvSpPr>
        <p:spPr>
          <a:xfrm>
            <a:off x="9423400" y="2260600"/>
            <a:ext cx="1905000" cy="800219"/>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FSK: 9600 baud
Input: 48 kHz
Deviation: 3 kHz
Clock BW: 0.15</a:t>
            </a:r>
          </a:p>
        </p:txBody>
      </p:sp>
      <p:sp>
        <p:nvSpPr>
          <p:cNvPr id="11" name="TextBox 10">
            <a:extLst>
              <a:ext uri="{FF2B5EF4-FFF2-40B4-BE49-F238E27FC236}">
                <a16:creationId xmlns:a16="http://schemas.microsoft.com/office/drawing/2014/main" id="{38F35A96-8897-9643-9C93-157C80A9FB16}"/>
              </a:ext>
            </a:extLst>
          </p:cNvPr>
          <p:cNvSpPr txBox="1"/>
          <p:nvPr/>
        </p:nvSpPr>
        <p:spPr>
          <a:xfrm>
            <a:off x="9423400" y="3898900"/>
            <a:ext cx="1905000" cy="153888"/>
          </a:xfrm>
          <a:prstGeom prst="rect">
            <a:avLst/>
          </a:prstGeom>
          <a:noFill/>
        </p:spPr>
        <p:txBody>
          <a:bodyPr vert="horz" wrap="square" lIns="0" tIns="0" rIns="0" bIns="0" rtlCol="0">
            <a:spAutoFit/>
          </a:bodyPr>
          <a:lstStyle/>
          <a:p>
            <a:r>
              <a:rPr lang="en-US" sz="1000" b="1">
                <a:solidFill>
                  <a:srgbClr val="31CC70"/>
                </a:solidFill>
                <a:latin typeface="Consolas" panose="020B0609020204030204" pitchFamily="49" charset="0"/>
              </a:rPr>
              <a:t>DEFRAMER</a:t>
            </a:r>
          </a:p>
        </p:txBody>
      </p:sp>
      <p:sp>
        <p:nvSpPr>
          <p:cNvPr id="12" name="TextBox 11">
            <a:extLst>
              <a:ext uri="{FF2B5EF4-FFF2-40B4-BE49-F238E27FC236}">
                <a16:creationId xmlns:a16="http://schemas.microsoft.com/office/drawing/2014/main" id="{B7BD9C33-5DB2-8380-8AC8-FF6B9B176315}"/>
              </a:ext>
            </a:extLst>
          </p:cNvPr>
          <p:cNvSpPr txBox="1"/>
          <p:nvPr/>
        </p:nvSpPr>
        <p:spPr>
          <a:xfrm>
            <a:off x="9423400" y="4292600"/>
            <a:ext cx="1905000" cy="738664"/>
          </a:xfrm>
          <a:prstGeom prst="rect">
            <a:avLst/>
          </a:prstGeom>
          <a:noFill/>
        </p:spPr>
        <p:txBody>
          <a:bodyPr vert="horz" wrap="square" lIns="0" tIns="0" rIns="0" bIns="0" rtlCol="0">
            <a:spAutoFit/>
          </a:bodyPr>
          <a:lstStyle/>
          <a:p>
            <a:r>
              <a:rPr lang="en-US" sz="1200">
                <a:solidFill>
                  <a:srgbClr val="9BA6B5"/>
                </a:solidFill>
                <a:latin typeface="Aptos" panose="020B0004020202020204" pitchFamily="34" charset="0"/>
              </a:rPr>
              <a:t>NRZI
G3RUH descramble
HDLC + CRC
KISS output</a:t>
            </a:r>
          </a:p>
        </p:txBody>
      </p:sp>
      <p:sp>
        <p:nvSpPr>
          <p:cNvPr id="13" name="Rectangle 12">
            <a:extLst>
              <a:ext uri="{FF2B5EF4-FFF2-40B4-BE49-F238E27FC236}">
                <a16:creationId xmlns:a16="http://schemas.microsoft.com/office/drawing/2014/main" id="{1009D9E2-1CAA-006F-722D-970C257A59F7}"/>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593458AA-AE83-B3ED-1A61-E9D332E71386}"/>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15" name="TextBox 14">
            <a:extLst>
              <a:ext uri="{FF2B5EF4-FFF2-40B4-BE49-F238E27FC236}">
                <a16:creationId xmlns:a16="http://schemas.microsoft.com/office/drawing/2014/main" id="{C2F8B9D3-6A40-C5D2-7EB7-9F7C27C83792}"/>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Six KISS frames were captured from the demo OGG-derived WAV.</a:t>
            </a:r>
          </a:p>
        </p:txBody>
      </p:sp>
    </p:spTree>
    <p:extLst>
      <p:ext uri="{BB962C8B-B14F-4D97-AF65-F5344CB8AC3E}">
        <p14:creationId xmlns:p14="http://schemas.microsoft.com/office/powerpoint/2010/main" val="15710054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B3356E-928D-E91E-ED68-BA984E87B2A2}"/>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ED18AD43-A1CE-6F5B-1963-F0B4226E87D7}"/>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Stage 4 - AX.25 and KOYO Frame Validation</a:t>
            </a:r>
          </a:p>
        </p:txBody>
      </p:sp>
      <p:cxnSp>
        <p:nvCxnSpPr>
          <p:cNvPr id="4" name="Straight Connector 3">
            <a:extLst>
              <a:ext uri="{FF2B5EF4-FFF2-40B4-BE49-F238E27FC236}">
                <a16:creationId xmlns:a16="http://schemas.microsoft.com/office/drawing/2014/main" id="{FE0078F8-B8AC-C149-AEAD-30C3AA9762CA}"/>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9D199B9-FFB9-7A0F-036A-0D8D0D707596}"/>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08</a:t>
            </a:r>
          </a:p>
        </p:txBody>
      </p:sp>
      <p:sp>
        <p:nvSpPr>
          <p:cNvPr id="6" name="Rectangle 5">
            <a:extLst>
              <a:ext uri="{FF2B5EF4-FFF2-40B4-BE49-F238E27FC236}">
                <a16:creationId xmlns:a16="http://schemas.microsoft.com/office/drawing/2014/main" id="{9FFBDD6C-D6FA-9151-B1AF-BF8017147679}"/>
              </a:ext>
            </a:extLst>
          </p:cNvPr>
          <p:cNvSpPr/>
          <p:nvPr/>
        </p:nvSpPr>
        <p:spPr>
          <a:xfrm>
            <a:off x="5842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8CC7C45-4BCA-B6B3-846F-D0806C2F12C1}"/>
              </a:ext>
            </a:extLst>
          </p:cNvPr>
          <p:cNvSpPr txBox="1"/>
          <p:nvPr/>
        </p:nvSpPr>
        <p:spPr>
          <a:xfrm>
            <a:off x="838200" y="2006600"/>
            <a:ext cx="4699000" cy="169277"/>
          </a:xfrm>
          <a:prstGeom prst="rect">
            <a:avLst/>
          </a:prstGeom>
          <a:noFill/>
        </p:spPr>
        <p:txBody>
          <a:bodyPr vert="horz" wrap="square" lIns="0" tIns="0" rIns="0" bIns="0" rtlCol="0">
            <a:spAutoFit/>
          </a:bodyPr>
          <a:lstStyle/>
          <a:p>
            <a:r>
              <a:rPr lang="en-US" sz="1100" b="1">
                <a:solidFill>
                  <a:srgbClr val="31A6E8"/>
                </a:solidFill>
                <a:latin typeface="Consolas" panose="020B0609020204030204" pitchFamily="49" charset="0"/>
              </a:rPr>
              <a:t>ACCEPTANCE GATES</a:t>
            </a:r>
          </a:p>
        </p:txBody>
      </p:sp>
      <p:sp>
        <p:nvSpPr>
          <p:cNvPr id="8" name="TextBox 7">
            <a:extLst>
              <a:ext uri="{FF2B5EF4-FFF2-40B4-BE49-F238E27FC236}">
                <a16:creationId xmlns:a16="http://schemas.microsoft.com/office/drawing/2014/main" id="{A3161AEF-C9E2-57BA-8D8F-D0A563C6B846}"/>
              </a:ext>
            </a:extLst>
          </p:cNvPr>
          <p:cNvSpPr txBox="1"/>
          <p:nvPr/>
        </p:nvSpPr>
        <p:spPr>
          <a:xfrm>
            <a:off x="838200" y="26035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9" name="TextBox 8">
            <a:extLst>
              <a:ext uri="{FF2B5EF4-FFF2-40B4-BE49-F238E27FC236}">
                <a16:creationId xmlns:a16="http://schemas.microsoft.com/office/drawing/2014/main" id="{4B4D461C-1992-940C-A10C-58DF1A76C593}"/>
              </a:ext>
            </a:extLst>
          </p:cNvPr>
          <p:cNvSpPr txBox="1"/>
          <p:nvPr/>
        </p:nvSpPr>
        <p:spPr>
          <a:xfrm>
            <a:off x="11176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CRC accepted by the AX.25 deframer.</a:t>
            </a:r>
          </a:p>
        </p:txBody>
      </p:sp>
      <p:sp>
        <p:nvSpPr>
          <p:cNvPr id="10" name="TextBox 9">
            <a:extLst>
              <a:ext uri="{FF2B5EF4-FFF2-40B4-BE49-F238E27FC236}">
                <a16:creationId xmlns:a16="http://schemas.microsoft.com/office/drawing/2014/main" id="{9A590813-0181-7F20-8C0B-A852BAFBE3F0}"/>
              </a:ext>
            </a:extLst>
          </p:cNvPr>
          <p:cNvSpPr txBox="1"/>
          <p:nvPr/>
        </p:nvSpPr>
        <p:spPr>
          <a:xfrm>
            <a:off x="838200" y="32258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1" name="TextBox 10">
            <a:extLst>
              <a:ext uri="{FF2B5EF4-FFF2-40B4-BE49-F238E27FC236}">
                <a16:creationId xmlns:a16="http://schemas.microsoft.com/office/drawing/2014/main" id="{5968306F-8DA7-9A1E-5C03-9A5E78167754}"/>
              </a:ext>
            </a:extLst>
          </p:cNvPr>
          <p:cNvSpPr txBox="1"/>
          <p:nvPr/>
        </p:nvSpPr>
        <p:spPr>
          <a:xfrm>
            <a:off x="11176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Exactly 263 bytes with KOYOSC -&gt; GS-H20 path.</a:t>
            </a:r>
          </a:p>
        </p:txBody>
      </p:sp>
      <p:sp>
        <p:nvSpPr>
          <p:cNvPr id="12" name="TextBox 11">
            <a:extLst>
              <a:ext uri="{FF2B5EF4-FFF2-40B4-BE49-F238E27FC236}">
                <a16:creationId xmlns:a16="http://schemas.microsoft.com/office/drawing/2014/main" id="{121564AD-39D7-00ED-C8FA-A7F6C3B6C88A}"/>
              </a:ext>
            </a:extLst>
          </p:cNvPr>
          <p:cNvSpPr txBox="1"/>
          <p:nvPr/>
        </p:nvSpPr>
        <p:spPr>
          <a:xfrm>
            <a:off x="838200" y="38481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3" name="TextBox 12">
            <a:extLst>
              <a:ext uri="{FF2B5EF4-FFF2-40B4-BE49-F238E27FC236}">
                <a16:creationId xmlns:a16="http://schemas.microsoft.com/office/drawing/2014/main" id="{92D2C8FE-96C2-CEEA-CCE4-2177902B7F37}"/>
              </a:ext>
            </a:extLst>
          </p:cNvPr>
          <p:cNvSpPr txBox="1"/>
          <p:nvPr/>
        </p:nvSpPr>
        <p:spPr>
          <a:xfrm>
            <a:off x="11176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Expected control 03 and PID F0 frame type.</a:t>
            </a:r>
          </a:p>
        </p:txBody>
      </p:sp>
      <p:sp>
        <p:nvSpPr>
          <p:cNvPr id="14" name="Rectangle 13">
            <a:extLst>
              <a:ext uri="{FF2B5EF4-FFF2-40B4-BE49-F238E27FC236}">
                <a16:creationId xmlns:a16="http://schemas.microsoft.com/office/drawing/2014/main" id="{D0418292-7E8D-AE9E-7415-7C28D13FA78A}"/>
              </a:ext>
            </a:extLst>
          </p:cNvPr>
          <p:cNvSpPr/>
          <p:nvPr/>
        </p:nvSpPr>
        <p:spPr>
          <a:xfrm>
            <a:off x="64008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22F7CF1-23C2-CEA9-2749-C629AD51DC79}"/>
              </a:ext>
            </a:extLst>
          </p:cNvPr>
          <p:cNvSpPr txBox="1"/>
          <p:nvPr/>
        </p:nvSpPr>
        <p:spPr>
          <a:xfrm>
            <a:off x="6654800" y="2006600"/>
            <a:ext cx="4699000" cy="169277"/>
          </a:xfrm>
          <a:prstGeom prst="rect">
            <a:avLst/>
          </a:prstGeom>
          <a:noFill/>
        </p:spPr>
        <p:txBody>
          <a:bodyPr vert="horz" wrap="square" lIns="0" tIns="0" rIns="0" bIns="0" rtlCol="0">
            <a:spAutoFit/>
          </a:bodyPr>
          <a:lstStyle/>
          <a:p>
            <a:r>
              <a:rPr lang="en-US" sz="1100" b="1">
                <a:solidFill>
                  <a:srgbClr val="31CC70"/>
                </a:solidFill>
                <a:latin typeface="Consolas" panose="020B0609020204030204" pitchFamily="49" charset="0"/>
              </a:rPr>
              <a:t>DEMO FRAME FUNNEL</a:t>
            </a:r>
          </a:p>
        </p:txBody>
      </p:sp>
      <p:sp>
        <p:nvSpPr>
          <p:cNvPr id="16" name="TextBox 15">
            <a:extLst>
              <a:ext uri="{FF2B5EF4-FFF2-40B4-BE49-F238E27FC236}">
                <a16:creationId xmlns:a16="http://schemas.microsoft.com/office/drawing/2014/main" id="{3AF2CE96-2499-1984-C3F7-77D22BBD0BE5}"/>
              </a:ext>
            </a:extLst>
          </p:cNvPr>
          <p:cNvSpPr txBox="1"/>
          <p:nvPr/>
        </p:nvSpPr>
        <p:spPr>
          <a:xfrm>
            <a:off x="6654800" y="26035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7" name="TextBox 16">
            <a:extLst>
              <a:ext uri="{FF2B5EF4-FFF2-40B4-BE49-F238E27FC236}">
                <a16:creationId xmlns:a16="http://schemas.microsoft.com/office/drawing/2014/main" id="{16FF8DAE-10D2-B23A-0761-12A477D507E0}"/>
              </a:ext>
            </a:extLst>
          </p:cNvPr>
          <p:cNvSpPr txBox="1"/>
          <p:nvPr/>
        </p:nvSpPr>
        <p:spPr>
          <a:xfrm>
            <a:off x="69342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Six KISS frames captured.</a:t>
            </a:r>
          </a:p>
        </p:txBody>
      </p:sp>
      <p:sp>
        <p:nvSpPr>
          <p:cNvPr id="18" name="TextBox 17">
            <a:extLst>
              <a:ext uri="{FF2B5EF4-FFF2-40B4-BE49-F238E27FC236}">
                <a16:creationId xmlns:a16="http://schemas.microsoft.com/office/drawing/2014/main" id="{78A3A640-FBD1-7F2A-BDB3-17706E84039C}"/>
              </a:ext>
            </a:extLst>
          </p:cNvPr>
          <p:cNvSpPr txBox="1"/>
          <p:nvPr/>
        </p:nvSpPr>
        <p:spPr>
          <a:xfrm>
            <a:off x="6654800" y="32258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9" name="TextBox 18">
            <a:extLst>
              <a:ext uri="{FF2B5EF4-FFF2-40B4-BE49-F238E27FC236}">
                <a16:creationId xmlns:a16="http://schemas.microsoft.com/office/drawing/2014/main" id="{96940EF4-1227-2D3B-601B-9A556EC0514F}"/>
              </a:ext>
            </a:extLst>
          </p:cNvPr>
          <p:cNvSpPr txBox="1"/>
          <p:nvPr/>
        </p:nvSpPr>
        <p:spPr>
          <a:xfrm>
            <a:off x="69342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Two frames passed all KOYO checks.</a:t>
            </a:r>
          </a:p>
        </p:txBody>
      </p:sp>
      <p:sp>
        <p:nvSpPr>
          <p:cNvPr id="20" name="TextBox 19">
            <a:extLst>
              <a:ext uri="{FF2B5EF4-FFF2-40B4-BE49-F238E27FC236}">
                <a16:creationId xmlns:a16="http://schemas.microsoft.com/office/drawing/2014/main" id="{6BAAA5B6-3C4B-0B72-5F33-9AF0D28E155F}"/>
              </a:ext>
            </a:extLst>
          </p:cNvPr>
          <p:cNvSpPr txBox="1"/>
          <p:nvPr/>
        </p:nvSpPr>
        <p:spPr>
          <a:xfrm>
            <a:off x="6654800" y="38481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21" name="TextBox 20">
            <a:extLst>
              <a:ext uri="{FF2B5EF4-FFF2-40B4-BE49-F238E27FC236}">
                <a16:creationId xmlns:a16="http://schemas.microsoft.com/office/drawing/2014/main" id="{D6F13739-13F7-0C06-9561-53EE6CB09FC2}"/>
              </a:ext>
            </a:extLst>
          </p:cNvPr>
          <p:cNvSpPr txBox="1"/>
          <p:nvPr/>
        </p:nvSpPr>
        <p:spPr>
          <a:xfrm>
            <a:off x="69342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One frame matched SatNOGS control byte for byte.</a:t>
            </a:r>
          </a:p>
        </p:txBody>
      </p:sp>
      <p:sp>
        <p:nvSpPr>
          <p:cNvPr id="22" name="Rectangle 21">
            <a:extLst>
              <a:ext uri="{FF2B5EF4-FFF2-40B4-BE49-F238E27FC236}">
                <a16:creationId xmlns:a16="http://schemas.microsoft.com/office/drawing/2014/main" id="{95E344FF-7FE4-9BFB-8122-28C3A2B43C07}"/>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F352B0E-C805-6A80-5122-D260F6B2594D}"/>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24" name="TextBox 23">
            <a:extLst>
              <a:ext uri="{FF2B5EF4-FFF2-40B4-BE49-F238E27FC236}">
                <a16:creationId xmlns:a16="http://schemas.microsoft.com/office/drawing/2014/main" id="{07C7766C-F25B-8FB3-0063-B13485D01C99}"/>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6 captured -&gt; 2 valid KOYO -&gt; 1 byte-exact control match.</a:t>
            </a:r>
          </a:p>
        </p:txBody>
      </p:sp>
    </p:spTree>
    <p:extLst>
      <p:ext uri="{BB962C8B-B14F-4D97-AF65-F5344CB8AC3E}">
        <p14:creationId xmlns:p14="http://schemas.microsoft.com/office/powerpoint/2010/main" val="35909612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500058F-EA1C-1672-394A-C8225DF763C7}"/>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924A297B-1C11-AF3E-C023-65DB25B887F5}"/>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Stage 5 - Multi-Station Audio Validation</a:t>
            </a:r>
          </a:p>
        </p:txBody>
      </p:sp>
      <p:cxnSp>
        <p:nvCxnSpPr>
          <p:cNvPr id="4" name="Straight Connector 3">
            <a:extLst>
              <a:ext uri="{FF2B5EF4-FFF2-40B4-BE49-F238E27FC236}">
                <a16:creationId xmlns:a16="http://schemas.microsoft.com/office/drawing/2014/main" id="{CF823791-4DCC-AE81-9357-833CFF37401E}"/>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71A171D7-6BE7-ABE4-21D6-DD5A9743F532}"/>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09</a:t>
            </a:r>
          </a:p>
        </p:txBody>
      </p:sp>
      <p:sp>
        <p:nvSpPr>
          <p:cNvPr id="6" name="TextBox 5">
            <a:extLst>
              <a:ext uri="{FF2B5EF4-FFF2-40B4-BE49-F238E27FC236}">
                <a16:creationId xmlns:a16="http://schemas.microsoft.com/office/drawing/2014/main" id="{169ACB64-5882-122B-61A7-7DF588969002}"/>
              </a:ext>
            </a:extLst>
          </p:cNvPr>
          <p:cNvSpPr txBox="1"/>
          <p:nvPr/>
        </p:nvSpPr>
        <p:spPr>
          <a:xfrm>
            <a:off x="635000" y="1676400"/>
            <a:ext cx="1524000" cy="153888"/>
          </a:xfrm>
          <a:prstGeom prst="rect">
            <a:avLst/>
          </a:prstGeom>
          <a:noFill/>
        </p:spPr>
        <p:txBody>
          <a:bodyPr vert="horz" wrap="square" lIns="0" tIns="0" rIns="0" bIns="0" rtlCol="0">
            <a:spAutoFit/>
          </a:bodyPr>
          <a:lstStyle/>
          <a:p>
            <a:r>
              <a:rPr lang="en-US" sz="1000" b="1">
                <a:solidFill>
                  <a:srgbClr val="9BA6B5"/>
                </a:solidFill>
                <a:latin typeface="Consolas" panose="020B0609020204030204" pitchFamily="49" charset="0"/>
              </a:rPr>
              <a:t>OBSERVATION</a:t>
            </a:r>
          </a:p>
        </p:txBody>
      </p:sp>
      <p:sp>
        <p:nvSpPr>
          <p:cNvPr id="7" name="TextBox 6">
            <a:extLst>
              <a:ext uri="{FF2B5EF4-FFF2-40B4-BE49-F238E27FC236}">
                <a16:creationId xmlns:a16="http://schemas.microsoft.com/office/drawing/2014/main" id="{7BB56E44-DEC1-A00C-42F5-C0314A7C0E5B}"/>
              </a:ext>
            </a:extLst>
          </p:cNvPr>
          <p:cNvSpPr txBox="1"/>
          <p:nvPr/>
        </p:nvSpPr>
        <p:spPr>
          <a:xfrm>
            <a:off x="2794000" y="1676400"/>
            <a:ext cx="2921000" cy="153888"/>
          </a:xfrm>
          <a:prstGeom prst="rect">
            <a:avLst/>
          </a:prstGeom>
          <a:noFill/>
        </p:spPr>
        <p:txBody>
          <a:bodyPr vert="horz" wrap="square" lIns="0" tIns="0" rIns="0" bIns="0" rtlCol="0">
            <a:spAutoFit/>
          </a:bodyPr>
          <a:lstStyle/>
          <a:p>
            <a:r>
              <a:rPr lang="en-US" sz="1000" b="1">
                <a:solidFill>
                  <a:srgbClr val="9BA6B5"/>
                </a:solidFill>
                <a:latin typeface="Consolas" panose="020B0609020204030204" pitchFamily="49" charset="0"/>
              </a:rPr>
              <a:t>STATION</a:t>
            </a:r>
          </a:p>
        </p:txBody>
      </p:sp>
      <p:sp>
        <p:nvSpPr>
          <p:cNvPr id="8" name="TextBox 7">
            <a:extLst>
              <a:ext uri="{FF2B5EF4-FFF2-40B4-BE49-F238E27FC236}">
                <a16:creationId xmlns:a16="http://schemas.microsoft.com/office/drawing/2014/main" id="{31DE0654-082D-6124-15BA-58A8DAB80FFC}"/>
              </a:ext>
            </a:extLst>
          </p:cNvPr>
          <p:cNvSpPr txBox="1"/>
          <p:nvPr/>
        </p:nvSpPr>
        <p:spPr>
          <a:xfrm>
            <a:off x="5778500" y="1676400"/>
            <a:ext cx="1524000" cy="153888"/>
          </a:xfrm>
          <a:prstGeom prst="rect">
            <a:avLst/>
          </a:prstGeom>
          <a:noFill/>
        </p:spPr>
        <p:txBody>
          <a:bodyPr vert="horz" wrap="square" lIns="0" tIns="0" rIns="0" bIns="0" rtlCol="0">
            <a:spAutoFit/>
          </a:bodyPr>
          <a:lstStyle/>
          <a:p>
            <a:r>
              <a:rPr lang="en-US" sz="1000" b="1">
                <a:solidFill>
                  <a:srgbClr val="9BA6B5"/>
                </a:solidFill>
                <a:latin typeface="Consolas" panose="020B0609020204030204" pitchFamily="49" charset="0"/>
              </a:rPr>
              <a:t>CONTROL</a:t>
            </a:r>
          </a:p>
        </p:txBody>
      </p:sp>
      <p:sp>
        <p:nvSpPr>
          <p:cNvPr id="9" name="TextBox 8">
            <a:extLst>
              <a:ext uri="{FF2B5EF4-FFF2-40B4-BE49-F238E27FC236}">
                <a16:creationId xmlns:a16="http://schemas.microsoft.com/office/drawing/2014/main" id="{E713035D-43D3-382D-8300-CF9C25EF14C2}"/>
              </a:ext>
            </a:extLst>
          </p:cNvPr>
          <p:cNvSpPr txBox="1"/>
          <p:nvPr/>
        </p:nvSpPr>
        <p:spPr>
          <a:xfrm>
            <a:off x="6985000" y="1676400"/>
            <a:ext cx="1524000" cy="153888"/>
          </a:xfrm>
          <a:prstGeom prst="rect">
            <a:avLst/>
          </a:prstGeom>
          <a:noFill/>
        </p:spPr>
        <p:txBody>
          <a:bodyPr vert="horz" wrap="square" lIns="0" tIns="0" rIns="0" bIns="0" rtlCol="0">
            <a:spAutoFit/>
          </a:bodyPr>
          <a:lstStyle/>
          <a:p>
            <a:r>
              <a:rPr lang="en-US" sz="1000" b="1">
                <a:solidFill>
                  <a:srgbClr val="9BA6B5"/>
                </a:solidFill>
                <a:latin typeface="Consolas" panose="020B0609020204030204" pitchFamily="49" charset="0"/>
              </a:rPr>
              <a:t>LOCAL</a:t>
            </a:r>
          </a:p>
        </p:txBody>
      </p:sp>
      <p:sp>
        <p:nvSpPr>
          <p:cNvPr id="10" name="TextBox 9">
            <a:extLst>
              <a:ext uri="{FF2B5EF4-FFF2-40B4-BE49-F238E27FC236}">
                <a16:creationId xmlns:a16="http://schemas.microsoft.com/office/drawing/2014/main" id="{A1BEDB08-1B8D-0970-7931-ABF751D7F712}"/>
              </a:ext>
            </a:extLst>
          </p:cNvPr>
          <p:cNvSpPr txBox="1"/>
          <p:nvPr/>
        </p:nvSpPr>
        <p:spPr>
          <a:xfrm>
            <a:off x="7937500" y="1676400"/>
            <a:ext cx="1524000" cy="153888"/>
          </a:xfrm>
          <a:prstGeom prst="rect">
            <a:avLst/>
          </a:prstGeom>
          <a:noFill/>
        </p:spPr>
        <p:txBody>
          <a:bodyPr vert="horz" wrap="square" lIns="0" tIns="0" rIns="0" bIns="0" rtlCol="0">
            <a:spAutoFit/>
          </a:bodyPr>
          <a:lstStyle/>
          <a:p>
            <a:r>
              <a:rPr lang="en-US" sz="1000" b="1">
                <a:solidFill>
                  <a:srgbClr val="9BA6B5"/>
                </a:solidFill>
                <a:latin typeface="Consolas" panose="020B0609020204030204" pitchFamily="49" charset="0"/>
              </a:rPr>
              <a:t>EXACT</a:t>
            </a:r>
          </a:p>
        </p:txBody>
      </p:sp>
      <p:sp>
        <p:nvSpPr>
          <p:cNvPr id="11" name="TextBox 10">
            <a:extLst>
              <a:ext uri="{FF2B5EF4-FFF2-40B4-BE49-F238E27FC236}">
                <a16:creationId xmlns:a16="http://schemas.microsoft.com/office/drawing/2014/main" id="{3924A203-853A-D03B-7E89-BC3C7985E6B7}"/>
              </a:ext>
            </a:extLst>
          </p:cNvPr>
          <p:cNvSpPr txBox="1"/>
          <p:nvPr/>
        </p:nvSpPr>
        <p:spPr>
          <a:xfrm>
            <a:off x="8953500" y="1676400"/>
            <a:ext cx="1524000" cy="153888"/>
          </a:xfrm>
          <a:prstGeom prst="rect">
            <a:avLst/>
          </a:prstGeom>
          <a:noFill/>
        </p:spPr>
        <p:txBody>
          <a:bodyPr vert="horz" wrap="square" lIns="0" tIns="0" rIns="0" bIns="0" rtlCol="0">
            <a:spAutoFit/>
          </a:bodyPr>
          <a:lstStyle/>
          <a:p>
            <a:r>
              <a:rPr lang="en-US" sz="1000" b="1">
                <a:solidFill>
                  <a:srgbClr val="9BA6B5"/>
                </a:solidFill>
                <a:latin typeface="Consolas" panose="020B0609020204030204" pitchFamily="49" charset="0"/>
              </a:rPr>
              <a:t>RECOVERY</a:t>
            </a:r>
          </a:p>
        </p:txBody>
      </p:sp>
      <p:sp>
        <p:nvSpPr>
          <p:cNvPr id="12" name="TextBox 11">
            <a:extLst>
              <a:ext uri="{FF2B5EF4-FFF2-40B4-BE49-F238E27FC236}">
                <a16:creationId xmlns:a16="http://schemas.microsoft.com/office/drawing/2014/main" id="{3EF2BC13-4949-8666-50EA-FFBB2E6DBE3F}"/>
              </a:ext>
            </a:extLst>
          </p:cNvPr>
          <p:cNvSpPr txBox="1"/>
          <p:nvPr/>
        </p:nvSpPr>
        <p:spPr>
          <a:xfrm>
            <a:off x="10414000" y="1676400"/>
            <a:ext cx="1524000" cy="153888"/>
          </a:xfrm>
          <a:prstGeom prst="rect">
            <a:avLst/>
          </a:prstGeom>
          <a:noFill/>
        </p:spPr>
        <p:txBody>
          <a:bodyPr vert="horz" wrap="square" lIns="0" tIns="0" rIns="0" bIns="0" rtlCol="0">
            <a:spAutoFit/>
          </a:bodyPr>
          <a:lstStyle/>
          <a:p>
            <a:r>
              <a:rPr lang="en-US" sz="1000" b="1">
                <a:solidFill>
                  <a:srgbClr val="9BA6B5"/>
                </a:solidFill>
                <a:latin typeface="Consolas" panose="020B0609020204030204" pitchFamily="49" charset="0"/>
              </a:rPr>
              <a:t>RESULT</a:t>
            </a:r>
          </a:p>
        </p:txBody>
      </p:sp>
      <p:cxnSp>
        <p:nvCxnSpPr>
          <p:cNvPr id="13" name="Straight Connector 12">
            <a:extLst>
              <a:ext uri="{FF2B5EF4-FFF2-40B4-BE49-F238E27FC236}">
                <a16:creationId xmlns:a16="http://schemas.microsoft.com/office/drawing/2014/main" id="{A8903B30-C3E9-7243-D7A5-8CB269C92A72}"/>
              </a:ext>
            </a:extLst>
          </p:cNvPr>
          <p:cNvCxnSpPr/>
          <p:nvPr/>
        </p:nvCxnSpPr>
        <p:spPr>
          <a:xfrm>
            <a:off x="609600" y="1981200"/>
            <a:ext cx="109474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49BA933C-D178-52E9-D978-E6DE2ADFC365}"/>
              </a:ext>
            </a:extLst>
          </p:cNvPr>
          <p:cNvSpPr/>
          <p:nvPr/>
        </p:nvSpPr>
        <p:spPr>
          <a:xfrm>
            <a:off x="584200" y="2120900"/>
            <a:ext cx="11023600" cy="482600"/>
          </a:xfrm>
          <a:prstGeom prst="rect">
            <a:avLst/>
          </a:prstGeom>
          <a:solidFill>
            <a:srgbClr val="12171F"/>
          </a:solidFill>
          <a:ln w="12700">
            <a:solidFill>
              <a:srgbClr val="1217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6F913762-AE2E-B5EA-B0BF-88153C9D8388}"/>
              </a:ext>
            </a:extLst>
          </p:cNvPr>
          <p:cNvSpPr txBox="1"/>
          <p:nvPr/>
        </p:nvSpPr>
        <p:spPr>
          <a:xfrm>
            <a:off x="635000" y="2222500"/>
            <a:ext cx="18415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14526577</a:t>
            </a:r>
          </a:p>
        </p:txBody>
      </p:sp>
      <p:sp>
        <p:nvSpPr>
          <p:cNvPr id="16" name="TextBox 15">
            <a:extLst>
              <a:ext uri="{FF2B5EF4-FFF2-40B4-BE49-F238E27FC236}">
                <a16:creationId xmlns:a16="http://schemas.microsoft.com/office/drawing/2014/main" id="{0698C33C-B2F6-13B0-7347-67DC0E780973}"/>
              </a:ext>
            </a:extLst>
          </p:cNvPr>
          <p:cNvSpPr txBox="1"/>
          <p:nvPr/>
        </p:nvSpPr>
        <p:spPr>
          <a:xfrm>
            <a:off x="2794000" y="2222500"/>
            <a:ext cx="2921000" cy="184666"/>
          </a:xfrm>
          <a:prstGeom prst="rect">
            <a:avLst/>
          </a:prstGeom>
          <a:noFill/>
        </p:spPr>
        <p:txBody>
          <a:bodyPr vert="horz" wrap="square" lIns="0" tIns="0" rIns="0" bIns="0" rtlCol="0">
            <a:spAutoFit/>
          </a:bodyPr>
          <a:lstStyle/>
          <a:p>
            <a:r>
              <a:rPr lang="en-US" sz="1200">
                <a:solidFill>
                  <a:srgbClr val="ECF1F7"/>
                </a:solidFill>
                <a:latin typeface="Aptos" panose="020B0004020202020204" pitchFamily="34" charset="0"/>
              </a:rPr>
              <a:t>MAUSyagi</a:t>
            </a:r>
          </a:p>
        </p:txBody>
      </p:sp>
      <p:sp>
        <p:nvSpPr>
          <p:cNvPr id="17" name="TextBox 16">
            <a:extLst>
              <a:ext uri="{FF2B5EF4-FFF2-40B4-BE49-F238E27FC236}">
                <a16:creationId xmlns:a16="http://schemas.microsoft.com/office/drawing/2014/main" id="{1FECEA98-AAE3-D60F-F9DD-6657943648D1}"/>
              </a:ext>
            </a:extLst>
          </p:cNvPr>
          <p:cNvSpPr txBox="1"/>
          <p:nvPr/>
        </p:nvSpPr>
        <p:spPr>
          <a:xfrm>
            <a:off x="5778500" y="2222500"/>
            <a:ext cx="8890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35</a:t>
            </a:r>
          </a:p>
        </p:txBody>
      </p:sp>
      <p:sp>
        <p:nvSpPr>
          <p:cNvPr id="18" name="TextBox 17">
            <a:extLst>
              <a:ext uri="{FF2B5EF4-FFF2-40B4-BE49-F238E27FC236}">
                <a16:creationId xmlns:a16="http://schemas.microsoft.com/office/drawing/2014/main" id="{C5A2EEDE-9D39-DF8F-9D5A-D7196AFF67F6}"/>
              </a:ext>
            </a:extLst>
          </p:cNvPr>
          <p:cNvSpPr txBox="1"/>
          <p:nvPr/>
        </p:nvSpPr>
        <p:spPr>
          <a:xfrm>
            <a:off x="6985000" y="2222500"/>
            <a:ext cx="889000" cy="184666"/>
          </a:xfrm>
          <a:prstGeom prst="rect">
            <a:avLst/>
          </a:prstGeom>
          <a:noFill/>
        </p:spPr>
        <p:txBody>
          <a:bodyPr vert="horz" wrap="square" lIns="0" tIns="0" rIns="0" bIns="0" rtlCol="0">
            <a:spAutoFit/>
          </a:bodyPr>
          <a:lstStyle/>
          <a:p>
            <a:r>
              <a:rPr lang="en-US" sz="1200" b="1">
                <a:solidFill>
                  <a:srgbClr val="31A6E8"/>
                </a:solidFill>
                <a:latin typeface="Consolas" panose="020B0609020204030204" pitchFamily="49" charset="0"/>
              </a:rPr>
              <a:t>1</a:t>
            </a:r>
          </a:p>
        </p:txBody>
      </p:sp>
      <p:sp>
        <p:nvSpPr>
          <p:cNvPr id="19" name="TextBox 18">
            <a:extLst>
              <a:ext uri="{FF2B5EF4-FFF2-40B4-BE49-F238E27FC236}">
                <a16:creationId xmlns:a16="http://schemas.microsoft.com/office/drawing/2014/main" id="{087A03C5-077F-6E49-7883-EAC070CBC161}"/>
              </a:ext>
            </a:extLst>
          </p:cNvPr>
          <p:cNvSpPr txBox="1"/>
          <p:nvPr/>
        </p:nvSpPr>
        <p:spPr>
          <a:xfrm>
            <a:off x="7937500" y="2222500"/>
            <a:ext cx="889000" cy="184666"/>
          </a:xfrm>
          <a:prstGeom prst="rect">
            <a:avLst/>
          </a:prstGeom>
          <a:noFill/>
        </p:spPr>
        <p:txBody>
          <a:bodyPr vert="horz" wrap="square" lIns="0" tIns="0" rIns="0" bIns="0" rtlCol="0">
            <a:spAutoFit/>
          </a:bodyPr>
          <a:lstStyle/>
          <a:p>
            <a:r>
              <a:rPr lang="en-US" sz="1200" b="1">
                <a:solidFill>
                  <a:srgbClr val="F69929"/>
                </a:solidFill>
                <a:latin typeface="Consolas" panose="020B0609020204030204" pitchFamily="49" charset="0"/>
              </a:rPr>
              <a:t>1</a:t>
            </a:r>
          </a:p>
        </p:txBody>
      </p:sp>
      <p:sp>
        <p:nvSpPr>
          <p:cNvPr id="20" name="TextBox 19">
            <a:extLst>
              <a:ext uri="{FF2B5EF4-FFF2-40B4-BE49-F238E27FC236}">
                <a16:creationId xmlns:a16="http://schemas.microsoft.com/office/drawing/2014/main" id="{BE609EBB-CDCF-3BF3-4F01-E2693B702A88}"/>
              </a:ext>
            </a:extLst>
          </p:cNvPr>
          <p:cNvSpPr txBox="1"/>
          <p:nvPr/>
        </p:nvSpPr>
        <p:spPr>
          <a:xfrm>
            <a:off x="8953500" y="2222500"/>
            <a:ext cx="1143000" cy="184666"/>
          </a:xfrm>
          <a:prstGeom prst="rect">
            <a:avLst/>
          </a:prstGeom>
          <a:noFill/>
        </p:spPr>
        <p:txBody>
          <a:bodyPr vert="horz" wrap="square" lIns="0" tIns="0" rIns="0" bIns="0" rtlCol="0">
            <a:spAutoFit/>
          </a:bodyPr>
          <a:lstStyle/>
          <a:p>
            <a:r>
              <a:rPr lang="en-US" sz="1200" b="1">
                <a:solidFill>
                  <a:srgbClr val="ECF1F7"/>
                </a:solidFill>
                <a:latin typeface="Consolas" panose="020B0609020204030204" pitchFamily="49" charset="0"/>
              </a:rPr>
              <a:t>2.9%</a:t>
            </a:r>
          </a:p>
        </p:txBody>
      </p:sp>
      <p:sp>
        <p:nvSpPr>
          <p:cNvPr id="21" name="TextBox 20">
            <a:extLst>
              <a:ext uri="{FF2B5EF4-FFF2-40B4-BE49-F238E27FC236}">
                <a16:creationId xmlns:a16="http://schemas.microsoft.com/office/drawing/2014/main" id="{75DC8F22-6A13-BD49-AA4E-A52BE3786B79}"/>
              </a:ext>
            </a:extLst>
          </p:cNvPr>
          <p:cNvSpPr txBox="1"/>
          <p:nvPr/>
        </p:nvSpPr>
        <p:spPr>
          <a:xfrm>
            <a:off x="10414000" y="2222500"/>
            <a:ext cx="1143000" cy="184666"/>
          </a:xfrm>
          <a:prstGeom prst="rect">
            <a:avLst/>
          </a:prstGeom>
          <a:noFill/>
        </p:spPr>
        <p:txBody>
          <a:bodyPr vert="horz" wrap="square" lIns="0" tIns="0" rIns="0" bIns="0" rtlCol="0">
            <a:spAutoFit/>
          </a:bodyPr>
          <a:lstStyle/>
          <a:p>
            <a:r>
              <a:rPr lang="en-US" sz="1200" b="1">
                <a:solidFill>
                  <a:srgbClr val="31CC70"/>
                </a:solidFill>
                <a:latin typeface="Consolas" panose="020B0609020204030204" pitchFamily="49" charset="0"/>
              </a:rPr>
              <a:t>PASS</a:t>
            </a:r>
          </a:p>
        </p:txBody>
      </p:sp>
      <p:sp>
        <p:nvSpPr>
          <p:cNvPr id="22" name="TextBox 21">
            <a:extLst>
              <a:ext uri="{FF2B5EF4-FFF2-40B4-BE49-F238E27FC236}">
                <a16:creationId xmlns:a16="http://schemas.microsoft.com/office/drawing/2014/main" id="{ECCEBF0B-44C7-C61E-908B-43127AB2E5FB}"/>
              </a:ext>
            </a:extLst>
          </p:cNvPr>
          <p:cNvSpPr txBox="1"/>
          <p:nvPr/>
        </p:nvSpPr>
        <p:spPr>
          <a:xfrm>
            <a:off x="635000" y="2844800"/>
            <a:ext cx="18415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14637273</a:t>
            </a:r>
          </a:p>
        </p:txBody>
      </p:sp>
      <p:sp>
        <p:nvSpPr>
          <p:cNvPr id="23" name="TextBox 22">
            <a:extLst>
              <a:ext uri="{FF2B5EF4-FFF2-40B4-BE49-F238E27FC236}">
                <a16:creationId xmlns:a16="http://schemas.microsoft.com/office/drawing/2014/main" id="{1F192110-C2E2-097B-7EB0-3F4BCADB0109}"/>
              </a:ext>
            </a:extLst>
          </p:cNvPr>
          <p:cNvSpPr txBox="1"/>
          <p:nvPr/>
        </p:nvSpPr>
        <p:spPr>
          <a:xfrm>
            <a:off x="2794000" y="2844800"/>
            <a:ext cx="2921000" cy="184666"/>
          </a:xfrm>
          <a:prstGeom prst="rect">
            <a:avLst/>
          </a:prstGeom>
          <a:noFill/>
        </p:spPr>
        <p:txBody>
          <a:bodyPr vert="horz" wrap="square" lIns="0" tIns="0" rIns="0" bIns="0" rtlCol="0">
            <a:spAutoFit/>
          </a:bodyPr>
          <a:lstStyle/>
          <a:p>
            <a:r>
              <a:rPr lang="en-US" sz="1200">
                <a:solidFill>
                  <a:srgbClr val="ECF1F7"/>
                </a:solidFill>
                <a:latin typeface="Aptos" panose="020B0004020202020204" pitchFamily="34" charset="0"/>
              </a:rPr>
              <a:t>EA3AGB</a:t>
            </a:r>
          </a:p>
        </p:txBody>
      </p:sp>
      <p:sp>
        <p:nvSpPr>
          <p:cNvPr id="24" name="TextBox 23">
            <a:extLst>
              <a:ext uri="{FF2B5EF4-FFF2-40B4-BE49-F238E27FC236}">
                <a16:creationId xmlns:a16="http://schemas.microsoft.com/office/drawing/2014/main" id="{7A51866E-99B8-E7CD-DCAB-7C25ABCB79CC}"/>
              </a:ext>
            </a:extLst>
          </p:cNvPr>
          <p:cNvSpPr txBox="1"/>
          <p:nvPr/>
        </p:nvSpPr>
        <p:spPr>
          <a:xfrm>
            <a:off x="5778500" y="2844800"/>
            <a:ext cx="8890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3</a:t>
            </a:r>
          </a:p>
        </p:txBody>
      </p:sp>
      <p:sp>
        <p:nvSpPr>
          <p:cNvPr id="25" name="TextBox 24">
            <a:extLst>
              <a:ext uri="{FF2B5EF4-FFF2-40B4-BE49-F238E27FC236}">
                <a16:creationId xmlns:a16="http://schemas.microsoft.com/office/drawing/2014/main" id="{8B71A437-DB67-81DB-0A91-1837D3C6F965}"/>
              </a:ext>
            </a:extLst>
          </p:cNvPr>
          <p:cNvSpPr txBox="1"/>
          <p:nvPr/>
        </p:nvSpPr>
        <p:spPr>
          <a:xfrm>
            <a:off x="6985000" y="2844800"/>
            <a:ext cx="889000" cy="184666"/>
          </a:xfrm>
          <a:prstGeom prst="rect">
            <a:avLst/>
          </a:prstGeom>
          <a:noFill/>
        </p:spPr>
        <p:txBody>
          <a:bodyPr vert="horz" wrap="square" lIns="0" tIns="0" rIns="0" bIns="0" rtlCol="0">
            <a:spAutoFit/>
          </a:bodyPr>
          <a:lstStyle/>
          <a:p>
            <a:r>
              <a:rPr lang="en-US" sz="1200" b="1">
                <a:solidFill>
                  <a:srgbClr val="31A6E8"/>
                </a:solidFill>
                <a:latin typeface="Consolas" panose="020B0609020204030204" pitchFamily="49" charset="0"/>
              </a:rPr>
              <a:t>1</a:t>
            </a:r>
          </a:p>
        </p:txBody>
      </p:sp>
      <p:sp>
        <p:nvSpPr>
          <p:cNvPr id="26" name="TextBox 25">
            <a:extLst>
              <a:ext uri="{FF2B5EF4-FFF2-40B4-BE49-F238E27FC236}">
                <a16:creationId xmlns:a16="http://schemas.microsoft.com/office/drawing/2014/main" id="{4F191344-B5B9-DE45-A84F-446D5A811746}"/>
              </a:ext>
            </a:extLst>
          </p:cNvPr>
          <p:cNvSpPr txBox="1"/>
          <p:nvPr/>
        </p:nvSpPr>
        <p:spPr>
          <a:xfrm>
            <a:off x="7937500" y="2844800"/>
            <a:ext cx="889000" cy="184666"/>
          </a:xfrm>
          <a:prstGeom prst="rect">
            <a:avLst/>
          </a:prstGeom>
          <a:noFill/>
        </p:spPr>
        <p:txBody>
          <a:bodyPr vert="horz" wrap="square" lIns="0" tIns="0" rIns="0" bIns="0" rtlCol="0">
            <a:spAutoFit/>
          </a:bodyPr>
          <a:lstStyle/>
          <a:p>
            <a:r>
              <a:rPr lang="en-US" sz="1200" b="1">
                <a:solidFill>
                  <a:srgbClr val="F69929"/>
                </a:solidFill>
                <a:latin typeface="Consolas" panose="020B0609020204030204" pitchFamily="49" charset="0"/>
              </a:rPr>
              <a:t>1</a:t>
            </a:r>
          </a:p>
        </p:txBody>
      </p:sp>
      <p:sp>
        <p:nvSpPr>
          <p:cNvPr id="27" name="TextBox 26">
            <a:extLst>
              <a:ext uri="{FF2B5EF4-FFF2-40B4-BE49-F238E27FC236}">
                <a16:creationId xmlns:a16="http://schemas.microsoft.com/office/drawing/2014/main" id="{04B8403F-F68D-2C11-30BF-BFE7245BEC07}"/>
              </a:ext>
            </a:extLst>
          </p:cNvPr>
          <p:cNvSpPr txBox="1"/>
          <p:nvPr/>
        </p:nvSpPr>
        <p:spPr>
          <a:xfrm>
            <a:off x="8953500" y="2844800"/>
            <a:ext cx="1143000" cy="184666"/>
          </a:xfrm>
          <a:prstGeom prst="rect">
            <a:avLst/>
          </a:prstGeom>
          <a:noFill/>
        </p:spPr>
        <p:txBody>
          <a:bodyPr vert="horz" wrap="square" lIns="0" tIns="0" rIns="0" bIns="0" rtlCol="0">
            <a:spAutoFit/>
          </a:bodyPr>
          <a:lstStyle/>
          <a:p>
            <a:r>
              <a:rPr lang="en-US" sz="1200" b="1">
                <a:solidFill>
                  <a:srgbClr val="ECF1F7"/>
                </a:solidFill>
                <a:latin typeface="Consolas" panose="020B0609020204030204" pitchFamily="49" charset="0"/>
              </a:rPr>
              <a:t>33.3%</a:t>
            </a:r>
          </a:p>
        </p:txBody>
      </p:sp>
      <p:sp>
        <p:nvSpPr>
          <p:cNvPr id="28" name="TextBox 27">
            <a:extLst>
              <a:ext uri="{FF2B5EF4-FFF2-40B4-BE49-F238E27FC236}">
                <a16:creationId xmlns:a16="http://schemas.microsoft.com/office/drawing/2014/main" id="{A3E3EA87-5AFD-97F3-FA22-FE14AAC44331}"/>
              </a:ext>
            </a:extLst>
          </p:cNvPr>
          <p:cNvSpPr txBox="1"/>
          <p:nvPr/>
        </p:nvSpPr>
        <p:spPr>
          <a:xfrm>
            <a:off x="10414000" y="2844800"/>
            <a:ext cx="1143000" cy="184666"/>
          </a:xfrm>
          <a:prstGeom prst="rect">
            <a:avLst/>
          </a:prstGeom>
          <a:noFill/>
        </p:spPr>
        <p:txBody>
          <a:bodyPr vert="horz" wrap="square" lIns="0" tIns="0" rIns="0" bIns="0" rtlCol="0">
            <a:spAutoFit/>
          </a:bodyPr>
          <a:lstStyle/>
          <a:p>
            <a:r>
              <a:rPr lang="en-US" sz="1200" b="1">
                <a:solidFill>
                  <a:srgbClr val="31CC70"/>
                </a:solidFill>
                <a:latin typeface="Consolas" panose="020B0609020204030204" pitchFamily="49" charset="0"/>
              </a:rPr>
              <a:t>PASS</a:t>
            </a:r>
          </a:p>
        </p:txBody>
      </p:sp>
      <p:sp>
        <p:nvSpPr>
          <p:cNvPr id="29" name="Rectangle 28">
            <a:extLst>
              <a:ext uri="{FF2B5EF4-FFF2-40B4-BE49-F238E27FC236}">
                <a16:creationId xmlns:a16="http://schemas.microsoft.com/office/drawing/2014/main" id="{7255DA32-01EA-BB1F-F9A3-AA9136BC8A49}"/>
              </a:ext>
            </a:extLst>
          </p:cNvPr>
          <p:cNvSpPr/>
          <p:nvPr/>
        </p:nvSpPr>
        <p:spPr>
          <a:xfrm>
            <a:off x="584200" y="3365500"/>
            <a:ext cx="11023600" cy="482600"/>
          </a:xfrm>
          <a:prstGeom prst="rect">
            <a:avLst/>
          </a:prstGeom>
          <a:solidFill>
            <a:srgbClr val="12171F"/>
          </a:solidFill>
          <a:ln w="12700">
            <a:solidFill>
              <a:srgbClr val="1217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CC228CB3-9DBC-35A2-8D18-854A138A7CEC}"/>
              </a:ext>
            </a:extLst>
          </p:cNvPr>
          <p:cNvSpPr txBox="1"/>
          <p:nvPr/>
        </p:nvSpPr>
        <p:spPr>
          <a:xfrm>
            <a:off x="635000" y="3467100"/>
            <a:ext cx="18415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14909294</a:t>
            </a:r>
          </a:p>
        </p:txBody>
      </p:sp>
      <p:sp>
        <p:nvSpPr>
          <p:cNvPr id="31" name="TextBox 30">
            <a:extLst>
              <a:ext uri="{FF2B5EF4-FFF2-40B4-BE49-F238E27FC236}">
                <a16:creationId xmlns:a16="http://schemas.microsoft.com/office/drawing/2014/main" id="{7293FF91-E118-09CE-5E24-F01CEB13EA3A}"/>
              </a:ext>
            </a:extLst>
          </p:cNvPr>
          <p:cNvSpPr txBox="1"/>
          <p:nvPr/>
        </p:nvSpPr>
        <p:spPr>
          <a:xfrm>
            <a:off x="2794000" y="3467100"/>
            <a:ext cx="2921000" cy="184666"/>
          </a:xfrm>
          <a:prstGeom prst="rect">
            <a:avLst/>
          </a:prstGeom>
          <a:noFill/>
        </p:spPr>
        <p:txBody>
          <a:bodyPr vert="horz" wrap="square" lIns="0" tIns="0" rIns="0" bIns="0" rtlCol="0">
            <a:spAutoFit/>
          </a:bodyPr>
          <a:lstStyle/>
          <a:p>
            <a:r>
              <a:rPr lang="en-US" sz="1200">
                <a:solidFill>
                  <a:srgbClr val="ECF1F7"/>
                </a:solidFill>
                <a:latin typeface="Aptos" panose="020B0004020202020204" pitchFamily="34" charset="0"/>
              </a:rPr>
              <a:t>MAUSyagi</a:t>
            </a:r>
          </a:p>
        </p:txBody>
      </p:sp>
      <p:sp>
        <p:nvSpPr>
          <p:cNvPr id="32" name="TextBox 31">
            <a:extLst>
              <a:ext uri="{FF2B5EF4-FFF2-40B4-BE49-F238E27FC236}">
                <a16:creationId xmlns:a16="http://schemas.microsoft.com/office/drawing/2014/main" id="{8881C137-CEF3-7898-3D28-330A9654290F}"/>
              </a:ext>
            </a:extLst>
          </p:cNvPr>
          <p:cNvSpPr txBox="1"/>
          <p:nvPr/>
        </p:nvSpPr>
        <p:spPr>
          <a:xfrm>
            <a:off x="5778500" y="3467100"/>
            <a:ext cx="8890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31</a:t>
            </a:r>
          </a:p>
        </p:txBody>
      </p:sp>
      <p:sp>
        <p:nvSpPr>
          <p:cNvPr id="33" name="TextBox 32">
            <a:extLst>
              <a:ext uri="{FF2B5EF4-FFF2-40B4-BE49-F238E27FC236}">
                <a16:creationId xmlns:a16="http://schemas.microsoft.com/office/drawing/2014/main" id="{6B89946A-8D16-B1A5-B9EB-9221F58ABA4B}"/>
              </a:ext>
            </a:extLst>
          </p:cNvPr>
          <p:cNvSpPr txBox="1"/>
          <p:nvPr/>
        </p:nvSpPr>
        <p:spPr>
          <a:xfrm>
            <a:off x="6985000" y="3467100"/>
            <a:ext cx="889000" cy="184666"/>
          </a:xfrm>
          <a:prstGeom prst="rect">
            <a:avLst/>
          </a:prstGeom>
          <a:noFill/>
        </p:spPr>
        <p:txBody>
          <a:bodyPr vert="horz" wrap="square" lIns="0" tIns="0" rIns="0" bIns="0" rtlCol="0">
            <a:spAutoFit/>
          </a:bodyPr>
          <a:lstStyle/>
          <a:p>
            <a:r>
              <a:rPr lang="en-US" sz="1200" b="1">
                <a:solidFill>
                  <a:srgbClr val="31A6E8"/>
                </a:solidFill>
                <a:latin typeface="Consolas" panose="020B0609020204030204" pitchFamily="49" charset="0"/>
              </a:rPr>
              <a:t>14</a:t>
            </a:r>
          </a:p>
        </p:txBody>
      </p:sp>
      <p:sp>
        <p:nvSpPr>
          <p:cNvPr id="34" name="TextBox 33">
            <a:extLst>
              <a:ext uri="{FF2B5EF4-FFF2-40B4-BE49-F238E27FC236}">
                <a16:creationId xmlns:a16="http://schemas.microsoft.com/office/drawing/2014/main" id="{8C920760-AA84-4259-D63F-EF0E274D0D1D}"/>
              </a:ext>
            </a:extLst>
          </p:cNvPr>
          <p:cNvSpPr txBox="1"/>
          <p:nvPr/>
        </p:nvSpPr>
        <p:spPr>
          <a:xfrm>
            <a:off x="7937500" y="3467100"/>
            <a:ext cx="889000" cy="184666"/>
          </a:xfrm>
          <a:prstGeom prst="rect">
            <a:avLst/>
          </a:prstGeom>
          <a:noFill/>
        </p:spPr>
        <p:txBody>
          <a:bodyPr vert="horz" wrap="square" lIns="0" tIns="0" rIns="0" bIns="0" rtlCol="0">
            <a:spAutoFit/>
          </a:bodyPr>
          <a:lstStyle/>
          <a:p>
            <a:r>
              <a:rPr lang="en-US" sz="1200" b="1">
                <a:solidFill>
                  <a:srgbClr val="F69929"/>
                </a:solidFill>
                <a:latin typeface="Consolas" panose="020B0609020204030204" pitchFamily="49" charset="0"/>
              </a:rPr>
              <a:t>14</a:t>
            </a:r>
          </a:p>
        </p:txBody>
      </p:sp>
      <p:sp>
        <p:nvSpPr>
          <p:cNvPr id="35" name="TextBox 34">
            <a:extLst>
              <a:ext uri="{FF2B5EF4-FFF2-40B4-BE49-F238E27FC236}">
                <a16:creationId xmlns:a16="http://schemas.microsoft.com/office/drawing/2014/main" id="{E8664A69-3BAD-77E6-B6E9-1578FA025B53}"/>
              </a:ext>
            </a:extLst>
          </p:cNvPr>
          <p:cNvSpPr txBox="1"/>
          <p:nvPr/>
        </p:nvSpPr>
        <p:spPr>
          <a:xfrm>
            <a:off x="8953500" y="3467100"/>
            <a:ext cx="1143000" cy="184666"/>
          </a:xfrm>
          <a:prstGeom prst="rect">
            <a:avLst/>
          </a:prstGeom>
          <a:noFill/>
        </p:spPr>
        <p:txBody>
          <a:bodyPr vert="horz" wrap="square" lIns="0" tIns="0" rIns="0" bIns="0" rtlCol="0">
            <a:spAutoFit/>
          </a:bodyPr>
          <a:lstStyle/>
          <a:p>
            <a:r>
              <a:rPr lang="en-US" sz="1200" b="1">
                <a:solidFill>
                  <a:srgbClr val="ECF1F7"/>
                </a:solidFill>
                <a:latin typeface="Consolas" panose="020B0609020204030204" pitchFamily="49" charset="0"/>
              </a:rPr>
              <a:t>45.2%</a:t>
            </a:r>
          </a:p>
        </p:txBody>
      </p:sp>
      <p:sp>
        <p:nvSpPr>
          <p:cNvPr id="36" name="TextBox 35">
            <a:extLst>
              <a:ext uri="{FF2B5EF4-FFF2-40B4-BE49-F238E27FC236}">
                <a16:creationId xmlns:a16="http://schemas.microsoft.com/office/drawing/2014/main" id="{6929DE70-364B-DAD3-1696-58E6FC62D667}"/>
              </a:ext>
            </a:extLst>
          </p:cNvPr>
          <p:cNvSpPr txBox="1"/>
          <p:nvPr/>
        </p:nvSpPr>
        <p:spPr>
          <a:xfrm>
            <a:off x="10414000" y="3467100"/>
            <a:ext cx="1143000" cy="184666"/>
          </a:xfrm>
          <a:prstGeom prst="rect">
            <a:avLst/>
          </a:prstGeom>
          <a:noFill/>
        </p:spPr>
        <p:txBody>
          <a:bodyPr vert="horz" wrap="square" lIns="0" tIns="0" rIns="0" bIns="0" rtlCol="0">
            <a:spAutoFit/>
          </a:bodyPr>
          <a:lstStyle/>
          <a:p>
            <a:r>
              <a:rPr lang="en-US" sz="1200" b="1">
                <a:solidFill>
                  <a:srgbClr val="31CC70"/>
                </a:solidFill>
                <a:latin typeface="Consolas" panose="020B0609020204030204" pitchFamily="49" charset="0"/>
              </a:rPr>
              <a:t>PASS</a:t>
            </a:r>
          </a:p>
        </p:txBody>
      </p:sp>
      <p:sp>
        <p:nvSpPr>
          <p:cNvPr id="37" name="TextBox 36">
            <a:extLst>
              <a:ext uri="{FF2B5EF4-FFF2-40B4-BE49-F238E27FC236}">
                <a16:creationId xmlns:a16="http://schemas.microsoft.com/office/drawing/2014/main" id="{900F98E0-5240-8949-534E-742852A8EA95}"/>
              </a:ext>
            </a:extLst>
          </p:cNvPr>
          <p:cNvSpPr txBox="1"/>
          <p:nvPr/>
        </p:nvSpPr>
        <p:spPr>
          <a:xfrm>
            <a:off x="635000" y="4089400"/>
            <a:ext cx="18415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14909617</a:t>
            </a:r>
          </a:p>
        </p:txBody>
      </p:sp>
      <p:sp>
        <p:nvSpPr>
          <p:cNvPr id="38" name="TextBox 37">
            <a:extLst>
              <a:ext uri="{FF2B5EF4-FFF2-40B4-BE49-F238E27FC236}">
                <a16:creationId xmlns:a16="http://schemas.microsoft.com/office/drawing/2014/main" id="{ABC89680-23C6-215D-9EE1-5B43DA4B5854}"/>
              </a:ext>
            </a:extLst>
          </p:cNvPr>
          <p:cNvSpPr txBox="1"/>
          <p:nvPr/>
        </p:nvSpPr>
        <p:spPr>
          <a:xfrm>
            <a:off x="2794000" y="4089400"/>
            <a:ext cx="2921000" cy="184666"/>
          </a:xfrm>
          <a:prstGeom prst="rect">
            <a:avLst/>
          </a:prstGeom>
          <a:noFill/>
        </p:spPr>
        <p:txBody>
          <a:bodyPr vert="horz" wrap="square" lIns="0" tIns="0" rIns="0" bIns="0" rtlCol="0">
            <a:spAutoFit/>
          </a:bodyPr>
          <a:lstStyle/>
          <a:p>
            <a:r>
              <a:rPr lang="en-US" sz="1200">
                <a:solidFill>
                  <a:srgbClr val="ECF1F7"/>
                </a:solidFill>
                <a:latin typeface="Aptos" panose="020B0004020202020204" pitchFamily="34" charset="0"/>
              </a:rPr>
              <a:t>W6MSU UHF</a:t>
            </a:r>
          </a:p>
        </p:txBody>
      </p:sp>
      <p:sp>
        <p:nvSpPr>
          <p:cNvPr id="39" name="TextBox 38">
            <a:extLst>
              <a:ext uri="{FF2B5EF4-FFF2-40B4-BE49-F238E27FC236}">
                <a16:creationId xmlns:a16="http://schemas.microsoft.com/office/drawing/2014/main" id="{0FF1133E-0729-87B1-CE3A-E86948C12039}"/>
              </a:ext>
            </a:extLst>
          </p:cNvPr>
          <p:cNvSpPr txBox="1"/>
          <p:nvPr/>
        </p:nvSpPr>
        <p:spPr>
          <a:xfrm>
            <a:off x="5778500" y="4089400"/>
            <a:ext cx="8890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4</a:t>
            </a:r>
          </a:p>
        </p:txBody>
      </p:sp>
      <p:sp>
        <p:nvSpPr>
          <p:cNvPr id="40" name="TextBox 39">
            <a:extLst>
              <a:ext uri="{FF2B5EF4-FFF2-40B4-BE49-F238E27FC236}">
                <a16:creationId xmlns:a16="http://schemas.microsoft.com/office/drawing/2014/main" id="{F0C826AC-5F7A-191A-50B2-1D80D7B21FA8}"/>
              </a:ext>
            </a:extLst>
          </p:cNvPr>
          <p:cNvSpPr txBox="1"/>
          <p:nvPr/>
        </p:nvSpPr>
        <p:spPr>
          <a:xfrm>
            <a:off x="6985000" y="4089400"/>
            <a:ext cx="889000" cy="184666"/>
          </a:xfrm>
          <a:prstGeom prst="rect">
            <a:avLst/>
          </a:prstGeom>
          <a:noFill/>
        </p:spPr>
        <p:txBody>
          <a:bodyPr vert="horz" wrap="square" lIns="0" tIns="0" rIns="0" bIns="0" rtlCol="0">
            <a:spAutoFit/>
          </a:bodyPr>
          <a:lstStyle/>
          <a:p>
            <a:r>
              <a:rPr lang="en-US" sz="1200" b="1">
                <a:solidFill>
                  <a:srgbClr val="31A6E8"/>
                </a:solidFill>
                <a:latin typeface="Consolas" panose="020B0609020204030204" pitchFamily="49" charset="0"/>
              </a:rPr>
              <a:t>4</a:t>
            </a:r>
          </a:p>
        </p:txBody>
      </p:sp>
      <p:sp>
        <p:nvSpPr>
          <p:cNvPr id="41" name="TextBox 40">
            <a:extLst>
              <a:ext uri="{FF2B5EF4-FFF2-40B4-BE49-F238E27FC236}">
                <a16:creationId xmlns:a16="http://schemas.microsoft.com/office/drawing/2014/main" id="{6F35EF42-4D18-6663-3EC2-49531DAEC581}"/>
              </a:ext>
            </a:extLst>
          </p:cNvPr>
          <p:cNvSpPr txBox="1"/>
          <p:nvPr/>
        </p:nvSpPr>
        <p:spPr>
          <a:xfrm>
            <a:off x="7937500" y="4089400"/>
            <a:ext cx="889000" cy="184666"/>
          </a:xfrm>
          <a:prstGeom prst="rect">
            <a:avLst/>
          </a:prstGeom>
          <a:noFill/>
        </p:spPr>
        <p:txBody>
          <a:bodyPr vert="horz" wrap="square" lIns="0" tIns="0" rIns="0" bIns="0" rtlCol="0">
            <a:spAutoFit/>
          </a:bodyPr>
          <a:lstStyle/>
          <a:p>
            <a:r>
              <a:rPr lang="en-US" sz="1200" b="1">
                <a:solidFill>
                  <a:srgbClr val="F69929"/>
                </a:solidFill>
                <a:latin typeface="Consolas" panose="020B0609020204030204" pitchFamily="49" charset="0"/>
              </a:rPr>
              <a:t>3</a:t>
            </a:r>
          </a:p>
        </p:txBody>
      </p:sp>
      <p:sp>
        <p:nvSpPr>
          <p:cNvPr id="42" name="TextBox 41">
            <a:extLst>
              <a:ext uri="{FF2B5EF4-FFF2-40B4-BE49-F238E27FC236}">
                <a16:creationId xmlns:a16="http://schemas.microsoft.com/office/drawing/2014/main" id="{95B8E713-2256-3E38-CE3B-D28565ABF3BE}"/>
              </a:ext>
            </a:extLst>
          </p:cNvPr>
          <p:cNvSpPr txBox="1"/>
          <p:nvPr/>
        </p:nvSpPr>
        <p:spPr>
          <a:xfrm>
            <a:off x="8953500" y="4089400"/>
            <a:ext cx="1143000" cy="184666"/>
          </a:xfrm>
          <a:prstGeom prst="rect">
            <a:avLst/>
          </a:prstGeom>
          <a:noFill/>
        </p:spPr>
        <p:txBody>
          <a:bodyPr vert="horz" wrap="square" lIns="0" tIns="0" rIns="0" bIns="0" rtlCol="0">
            <a:spAutoFit/>
          </a:bodyPr>
          <a:lstStyle/>
          <a:p>
            <a:r>
              <a:rPr lang="en-US" sz="1200" b="1">
                <a:solidFill>
                  <a:srgbClr val="ECF1F7"/>
                </a:solidFill>
                <a:latin typeface="Consolas" panose="020B0609020204030204" pitchFamily="49" charset="0"/>
              </a:rPr>
              <a:t>75.0%</a:t>
            </a:r>
          </a:p>
        </p:txBody>
      </p:sp>
      <p:sp>
        <p:nvSpPr>
          <p:cNvPr id="43" name="TextBox 42">
            <a:extLst>
              <a:ext uri="{FF2B5EF4-FFF2-40B4-BE49-F238E27FC236}">
                <a16:creationId xmlns:a16="http://schemas.microsoft.com/office/drawing/2014/main" id="{C0BDE399-BAED-E146-EFFC-54E0FBFEC79C}"/>
              </a:ext>
            </a:extLst>
          </p:cNvPr>
          <p:cNvSpPr txBox="1"/>
          <p:nvPr/>
        </p:nvSpPr>
        <p:spPr>
          <a:xfrm>
            <a:off x="10414000" y="4089400"/>
            <a:ext cx="1143000" cy="184666"/>
          </a:xfrm>
          <a:prstGeom prst="rect">
            <a:avLst/>
          </a:prstGeom>
          <a:noFill/>
        </p:spPr>
        <p:txBody>
          <a:bodyPr vert="horz" wrap="square" lIns="0" tIns="0" rIns="0" bIns="0" rtlCol="0">
            <a:spAutoFit/>
          </a:bodyPr>
          <a:lstStyle/>
          <a:p>
            <a:r>
              <a:rPr lang="en-US" sz="1200" b="1">
                <a:solidFill>
                  <a:srgbClr val="31CC70"/>
                </a:solidFill>
                <a:latin typeface="Consolas" panose="020B0609020204030204" pitchFamily="49" charset="0"/>
              </a:rPr>
              <a:t>PASS</a:t>
            </a:r>
          </a:p>
        </p:txBody>
      </p:sp>
      <p:sp>
        <p:nvSpPr>
          <p:cNvPr id="44" name="Rectangle 43">
            <a:extLst>
              <a:ext uri="{FF2B5EF4-FFF2-40B4-BE49-F238E27FC236}">
                <a16:creationId xmlns:a16="http://schemas.microsoft.com/office/drawing/2014/main" id="{DB927671-0460-1E98-2333-921DC5F317EF}"/>
              </a:ext>
            </a:extLst>
          </p:cNvPr>
          <p:cNvSpPr/>
          <p:nvPr/>
        </p:nvSpPr>
        <p:spPr>
          <a:xfrm>
            <a:off x="584200" y="4610100"/>
            <a:ext cx="11023600" cy="482600"/>
          </a:xfrm>
          <a:prstGeom prst="rect">
            <a:avLst/>
          </a:prstGeom>
          <a:solidFill>
            <a:srgbClr val="12171F"/>
          </a:solidFill>
          <a:ln w="12700">
            <a:solidFill>
              <a:srgbClr val="12171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5F2FA949-7770-360E-160A-268A25404732}"/>
              </a:ext>
            </a:extLst>
          </p:cNvPr>
          <p:cNvSpPr txBox="1"/>
          <p:nvPr/>
        </p:nvSpPr>
        <p:spPr>
          <a:xfrm>
            <a:off x="635000" y="4711700"/>
            <a:ext cx="18415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14909703</a:t>
            </a:r>
          </a:p>
        </p:txBody>
      </p:sp>
      <p:sp>
        <p:nvSpPr>
          <p:cNvPr id="46" name="TextBox 45">
            <a:extLst>
              <a:ext uri="{FF2B5EF4-FFF2-40B4-BE49-F238E27FC236}">
                <a16:creationId xmlns:a16="http://schemas.microsoft.com/office/drawing/2014/main" id="{92269C4A-E7A9-A637-F2FC-DBC7941CC181}"/>
              </a:ext>
            </a:extLst>
          </p:cNvPr>
          <p:cNvSpPr txBox="1"/>
          <p:nvPr/>
        </p:nvSpPr>
        <p:spPr>
          <a:xfrm>
            <a:off x="2794000" y="4711700"/>
            <a:ext cx="2921000" cy="184666"/>
          </a:xfrm>
          <a:prstGeom prst="rect">
            <a:avLst/>
          </a:prstGeom>
          <a:noFill/>
        </p:spPr>
        <p:txBody>
          <a:bodyPr vert="horz" wrap="square" lIns="0" tIns="0" rIns="0" bIns="0" rtlCol="0">
            <a:spAutoFit/>
          </a:bodyPr>
          <a:lstStyle/>
          <a:p>
            <a:r>
              <a:rPr lang="en-US" sz="1200">
                <a:solidFill>
                  <a:srgbClr val="ECF1F7"/>
                </a:solidFill>
                <a:latin typeface="Aptos" panose="020B0004020202020204" pitchFamily="34" charset="0"/>
              </a:rPr>
              <a:t>MAUSyagi-AK</a:t>
            </a:r>
          </a:p>
        </p:txBody>
      </p:sp>
      <p:sp>
        <p:nvSpPr>
          <p:cNvPr id="47" name="TextBox 46">
            <a:extLst>
              <a:ext uri="{FF2B5EF4-FFF2-40B4-BE49-F238E27FC236}">
                <a16:creationId xmlns:a16="http://schemas.microsoft.com/office/drawing/2014/main" id="{0C1B509F-24C5-0618-5C89-F7FED9362383}"/>
              </a:ext>
            </a:extLst>
          </p:cNvPr>
          <p:cNvSpPr txBox="1"/>
          <p:nvPr/>
        </p:nvSpPr>
        <p:spPr>
          <a:xfrm>
            <a:off x="5778500" y="4711700"/>
            <a:ext cx="889000" cy="184666"/>
          </a:xfrm>
          <a:prstGeom prst="rect">
            <a:avLst/>
          </a:prstGeom>
          <a:noFill/>
        </p:spPr>
        <p:txBody>
          <a:bodyPr vert="horz" wrap="square" lIns="0" tIns="0" rIns="0" bIns="0" rtlCol="0">
            <a:spAutoFit/>
          </a:bodyPr>
          <a:lstStyle/>
          <a:p>
            <a:r>
              <a:rPr lang="en-US" sz="1200">
                <a:solidFill>
                  <a:srgbClr val="ECF1F7"/>
                </a:solidFill>
                <a:latin typeface="Consolas" panose="020B0609020204030204" pitchFamily="49" charset="0"/>
              </a:rPr>
              <a:t>1</a:t>
            </a:r>
          </a:p>
        </p:txBody>
      </p:sp>
      <p:sp>
        <p:nvSpPr>
          <p:cNvPr id="48" name="TextBox 47">
            <a:extLst>
              <a:ext uri="{FF2B5EF4-FFF2-40B4-BE49-F238E27FC236}">
                <a16:creationId xmlns:a16="http://schemas.microsoft.com/office/drawing/2014/main" id="{4A8542BF-70DC-AFE9-C901-FF1A4F865EC1}"/>
              </a:ext>
            </a:extLst>
          </p:cNvPr>
          <p:cNvSpPr txBox="1"/>
          <p:nvPr/>
        </p:nvSpPr>
        <p:spPr>
          <a:xfrm>
            <a:off x="6985000" y="4711700"/>
            <a:ext cx="889000" cy="184666"/>
          </a:xfrm>
          <a:prstGeom prst="rect">
            <a:avLst/>
          </a:prstGeom>
          <a:noFill/>
        </p:spPr>
        <p:txBody>
          <a:bodyPr vert="horz" wrap="square" lIns="0" tIns="0" rIns="0" bIns="0" rtlCol="0">
            <a:spAutoFit/>
          </a:bodyPr>
          <a:lstStyle/>
          <a:p>
            <a:r>
              <a:rPr lang="en-US" sz="1200" b="1">
                <a:solidFill>
                  <a:srgbClr val="31A6E8"/>
                </a:solidFill>
                <a:latin typeface="Consolas" panose="020B0609020204030204" pitchFamily="49" charset="0"/>
              </a:rPr>
              <a:t>2</a:t>
            </a:r>
          </a:p>
        </p:txBody>
      </p:sp>
      <p:sp>
        <p:nvSpPr>
          <p:cNvPr id="49" name="TextBox 48">
            <a:extLst>
              <a:ext uri="{FF2B5EF4-FFF2-40B4-BE49-F238E27FC236}">
                <a16:creationId xmlns:a16="http://schemas.microsoft.com/office/drawing/2014/main" id="{EA9CD68F-68A3-29E6-8FD5-B421EDE64DB7}"/>
              </a:ext>
            </a:extLst>
          </p:cNvPr>
          <p:cNvSpPr txBox="1"/>
          <p:nvPr/>
        </p:nvSpPr>
        <p:spPr>
          <a:xfrm>
            <a:off x="7937500" y="4711700"/>
            <a:ext cx="889000" cy="184666"/>
          </a:xfrm>
          <a:prstGeom prst="rect">
            <a:avLst/>
          </a:prstGeom>
          <a:noFill/>
        </p:spPr>
        <p:txBody>
          <a:bodyPr vert="horz" wrap="square" lIns="0" tIns="0" rIns="0" bIns="0" rtlCol="0">
            <a:spAutoFit/>
          </a:bodyPr>
          <a:lstStyle/>
          <a:p>
            <a:r>
              <a:rPr lang="en-US" sz="1200" b="1">
                <a:solidFill>
                  <a:srgbClr val="F69929"/>
                </a:solidFill>
                <a:latin typeface="Consolas" panose="020B0609020204030204" pitchFamily="49" charset="0"/>
              </a:rPr>
              <a:t>1</a:t>
            </a:r>
          </a:p>
        </p:txBody>
      </p:sp>
      <p:sp>
        <p:nvSpPr>
          <p:cNvPr id="50" name="TextBox 49">
            <a:extLst>
              <a:ext uri="{FF2B5EF4-FFF2-40B4-BE49-F238E27FC236}">
                <a16:creationId xmlns:a16="http://schemas.microsoft.com/office/drawing/2014/main" id="{B3FE4153-D5EE-06AC-E6A3-07D59A22E244}"/>
              </a:ext>
            </a:extLst>
          </p:cNvPr>
          <p:cNvSpPr txBox="1"/>
          <p:nvPr/>
        </p:nvSpPr>
        <p:spPr>
          <a:xfrm>
            <a:off x="8953500" y="4711700"/>
            <a:ext cx="1143000" cy="184666"/>
          </a:xfrm>
          <a:prstGeom prst="rect">
            <a:avLst/>
          </a:prstGeom>
          <a:noFill/>
        </p:spPr>
        <p:txBody>
          <a:bodyPr vert="horz" wrap="square" lIns="0" tIns="0" rIns="0" bIns="0" rtlCol="0">
            <a:spAutoFit/>
          </a:bodyPr>
          <a:lstStyle/>
          <a:p>
            <a:r>
              <a:rPr lang="en-US" sz="1200" b="1">
                <a:solidFill>
                  <a:srgbClr val="ECF1F7"/>
                </a:solidFill>
                <a:latin typeface="Consolas" panose="020B0609020204030204" pitchFamily="49" charset="0"/>
              </a:rPr>
              <a:t>100.0%</a:t>
            </a:r>
          </a:p>
        </p:txBody>
      </p:sp>
      <p:sp>
        <p:nvSpPr>
          <p:cNvPr id="51" name="TextBox 50">
            <a:extLst>
              <a:ext uri="{FF2B5EF4-FFF2-40B4-BE49-F238E27FC236}">
                <a16:creationId xmlns:a16="http://schemas.microsoft.com/office/drawing/2014/main" id="{A69E8813-EB0C-A26C-A174-483F5B4CAC7D}"/>
              </a:ext>
            </a:extLst>
          </p:cNvPr>
          <p:cNvSpPr txBox="1"/>
          <p:nvPr/>
        </p:nvSpPr>
        <p:spPr>
          <a:xfrm>
            <a:off x="10414000" y="4711700"/>
            <a:ext cx="1143000" cy="184666"/>
          </a:xfrm>
          <a:prstGeom prst="rect">
            <a:avLst/>
          </a:prstGeom>
          <a:noFill/>
        </p:spPr>
        <p:txBody>
          <a:bodyPr vert="horz" wrap="square" lIns="0" tIns="0" rIns="0" bIns="0" rtlCol="0">
            <a:spAutoFit/>
          </a:bodyPr>
          <a:lstStyle/>
          <a:p>
            <a:r>
              <a:rPr lang="en-US" sz="1200" b="1">
                <a:solidFill>
                  <a:srgbClr val="31CC70"/>
                </a:solidFill>
                <a:latin typeface="Consolas" panose="020B0609020204030204" pitchFamily="49" charset="0"/>
              </a:rPr>
              <a:t>PASS</a:t>
            </a:r>
          </a:p>
        </p:txBody>
      </p:sp>
      <p:sp>
        <p:nvSpPr>
          <p:cNvPr id="52" name="Rectangle 51">
            <a:extLst>
              <a:ext uri="{FF2B5EF4-FFF2-40B4-BE49-F238E27FC236}">
                <a16:creationId xmlns:a16="http://schemas.microsoft.com/office/drawing/2014/main" id="{C191E832-DD21-24C5-7AA3-A6D06B7203E1}"/>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5456844E-1DF4-5CDD-0C72-130B635094F9}"/>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54" name="TextBox 53">
            <a:extLst>
              <a:ext uri="{FF2B5EF4-FFF2-40B4-BE49-F238E27FC236}">
                <a16:creationId xmlns:a16="http://schemas.microsoft.com/office/drawing/2014/main" id="{6731B0FC-5FD6-8F29-AE02-1348218E7C46}"/>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5/5 PASS across four stations | 22 valid local | 20 exact matches</a:t>
            </a:r>
          </a:p>
        </p:txBody>
      </p:sp>
    </p:spTree>
    <p:extLst>
      <p:ext uri="{BB962C8B-B14F-4D97-AF65-F5344CB8AC3E}">
        <p14:creationId xmlns:p14="http://schemas.microsoft.com/office/powerpoint/2010/main" val="7272328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BFF0F5-E429-1642-73C7-326C0F7C4C07}"/>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58262577-77A0-AF89-4306-9256749A6B28}"/>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Understanding Recovery Rate and Not Decoded</a:t>
            </a:r>
          </a:p>
        </p:txBody>
      </p:sp>
      <p:cxnSp>
        <p:nvCxnSpPr>
          <p:cNvPr id="4" name="Straight Connector 3">
            <a:extLst>
              <a:ext uri="{FF2B5EF4-FFF2-40B4-BE49-F238E27FC236}">
                <a16:creationId xmlns:a16="http://schemas.microsoft.com/office/drawing/2014/main" id="{30648B41-951A-A144-61EE-52F435148809}"/>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A3D24966-63E4-130A-E278-65CBB7A69045}"/>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10</a:t>
            </a:r>
          </a:p>
        </p:txBody>
      </p:sp>
      <p:sp>
        <p:nvSpPr>
          <p:cNvPr id="6" name="Rectangle 5">
            <a:extLst>
              <a:ext uri="{FF2B5EF4-FFF2-40B4-BE49-F238E27FC236}">
                <a16:creationId xmlns:a16="http://schemas.microsoft.com/office/drawing/2014/main" id="{6AC2B420-552A-4A2B-9C44-B78A81D0CBE9}"/>
              </a:ext>
            </a:extLst>
          </p:cNvPr>
          <p:cNvSpPr/>
          <p:nvPr/>
        </p:nvSpPr>
        <p:spPr>
          <a:xfrm>
            <a:off x="5842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6C05C572-359F-3CDF-286F-3C417B4125DE}"/>
              </a:ext>
            </a:extLst>
          </p:cNvPr>
          <p:cNvSpPr txBox="1"/>
          <p:nvPr/>
        </p:nvSpPr>
        <p:spPr>
          <a:xfrm>
            <a:off x="838200" y="2006600"/>
            <a:ext cx="4699000" cy="169277"/>
          </a:xfrm>
          <a:prstGeom prst="rect">
            <a:avLst/>
          </a:prstGeom>
          <a:noFill/>
        </p:spPr>
        <p:txBody>
          <a:bodyPr vert="horz" wrap="square" lIns="0" tIns="0" rIns="0" bIns="0" rtlCol="0">
            <a:spAutoFit/>
          </a:bodyPr>
          <a:lstStyle/>
          <a:p>
            <a:r>
              <a:rPr lang="en-US" sz="1100" b="1">
                <a:solidFill>
                  <a:srgbClr val="31A6E8"/>
                </a:solidFill>
                <a:latin typeface="Consolas" panose="020B0609020204030204" pitchFamily="49" charset="0"/>
              </a:rPr>
              <a:t>27% EXACT RECOVERY</a:t>
            </a:r>
          </a:p>
        </p:txBody>
      </p:sp>
      <p:sp>
        <p:nvSpPr>
          <p:cNvPr id="8" name="TextBox 7">
            <a:extLst>
              <a:ext uri="{FF2B5EF4-FFF2-40B4-BE49-F238E27FC236}">
                <a16:creationId xmlns:a16="http://schemas.microsoft.com/office/drawing/2014/main" id="{A2663AF1-724C-1E90-B953-4DDFE98C1F1F}"/>
              </a:ext>
            </a:extLst>
          </p:cNvPr>
          <p:cNvSpPr txBox="1"/>
          <p:nvPr/>
        </p:nvSpPr>
        <p:spPr>
          <a:xfrm>
            <a:off x="838200" y="26035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9" name="TextBox 8">
            <a:extLst>
              <a:ext uri="{FF2B5EF4-FFF2-40B4-BE49-F238E27FC236}">
                <a16:creationId xmlns:a16="http://schemas.microsoft.com/office/drawing/2014/main" id="{C6D2DDCC-C863-6E9F-D468-CBB7A511D89F}"/>
              </a:ext>
            </a:extLst>
          </p:cNvPr>
          <p:cNvSpPr txBox="1"/>
          <p:nvPr/>
        </p:nvSpPr>
        <p:spPr>
          <a:xfrm>
            <a:off x="11176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20 exact matches divided by 74 controls.</a:t>
            </a:r>
          </a:p>
        </p:txBody>
      </p:sp>
      <p:sp>
        <p:nvSpPr>
          <p:cNvPr id="10" name="TextBox 9">
            <a:extLst>
              <a:ext uri="{FF2B5EF4-FFF2-40B4-BE49-F238E27FC236}">
                <a16:creationId xmlns:a16="http://schemas.microsoft.com/office/drawing/2014/main" id="{1423EC58-7D62-427C-477F-7E06EA827A0F}"/>
              </a:ext>
            </a:extLst>
          </p:cNvPr>
          <p:cNvSpPr txBox="1"/>
          <p:nvPr/>
        </p:nvSpPr>
        <p:spPr>
          <a:xfrm>
            <a:off x="838200" y="32258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1" name="TextBox 10">
            <a:extLst>
              <a:ext uri="{FF2B5EF4-FFF2-40B4-BE49-F238E27FC236}">
                <a16:creationId xmlns:a16="http://schemas.microsoft.com/office/drawing/2014/main" id="{4C973364-FE1D-6D6B-2E41-9231351961E0}"/>
              </a:ext>
            </a:extLst>
          </p:cNvPr>
          <p:cNvSpPr txBox="1"/>
          <p:nvPr/>
        </p:nvSpPr>
        <p:spPr>
          <a:xfrm>
            <a:off x="11176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Measures local OGG reproduction under current settings.</a:t>
            </a:r>
          </a:p>
        </p:txBody>
      </p:sp>
      <p:sp>
        <p:nvSpPr>
          <p:cNvPr id="12" name="TextBox 11">
            <a:extLst>
              <a:ext uri="{FF2B5EF4-FFF2-40B4-BE49-F238E27FC236}">
                <a16:creationId xmlns:a16="http://schemas.microsoft.com/office/drawing/2014/main" id="{A326E105-BC13-4559-4DD9-50E2CFB29E9E}"/>
              </a:ext>
            </a:extLst>
          </p:cNvPr>
          <p:cNvSpPr txBox="1"/>
          <p:nvPr/>
        </p:nvSpPr>
        <p:spPr>
          <a:xfrm>
            <a:off x="838200" y="38481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3" name="TextBox 12">
            <a:extLst>
              <a:ext uri="{FF2B5EF4-FFF2-40B4-BE49-F238E27FC236}">
                <a16:creationId xmlns:a16="http://schemas.microsoft.com/office/drawing/2014/main" id="{BC52E43A-EDBB-ADBC-54DF-CD621D7DC2F0}"/>
              </a:ext>
            </a:extLst>
          </p:cNvPr>
          <p:cNvSpPr txBox="1"/>
          <p:nvPr/>
        </p:nvSpPr>
        <p:spPr>
          <a:xfrm>
            <a:off x="11176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Affected by SNR, tuning, Doppler, gain, and clock recovery.</a:t>
            </a:r>
          </a:p>
        </p:txBody>
      </p:sp>
      <p:sp>
        <p:nvSpPr>
          <p:cNvPr id="14" name="Rectangle 13">
            <a:extLst>
              <a:ext uri="{FF2B5EF4-FFF2-40B4-BE49-F238E27FC236}">
                <a16:creationId xmlns:a16="http://schemas.microsoft.com/office/drawing/2014/main" id="{FCD37855-3B3F-0E64-7492-39075AA1BDD5}"/>
              </a:ext>
            </a:extLst>
          </p:cNvPr>
          <p:cNvSpPr/>
          <p:nvPr/>
        </p:nvSpPr>
        <p:spPr>
          <a:xfrm>
            <a:off x="64008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B5281840-2135-7C93-4A5F-5085BAAEC1C8}"/>
              </a:ext>
            </a:extLst>
          </p:cNvPr>
          <p:cNvSpPr txBox="1"/>
          <p:nvPr/>
        </p:nvSpPr>
        <p:spPr>
          <a:xfrm>
            <a:off x="6654800" y="2006600"/>
            <a:ext cx="4699000" cy="169277"/>
          </a:xfrm>
          <a:prstGeom prst="rect">
            <a:avLst/>
          </a:prstGeom>
          <a:noFill/>
        </p:spPr>
        <p:txBody>
          <a:bodyPr vert="horz" wrap="square" lIns="0" tIns="0" rIns="0" bIns="0" rtlCol="0">
            <a:spAutoFit/>
          </a:bodyPr>
          <a:lstStyle/>
          <a:p>
            <a:r>
              <a:rPr lang="en-US" sz="1100" b="1">
                <a:solidFill>
                  <a:srgbClr val="F69929"/>
                </a:solidFill>
                <a:latin typeface="Consolas" panose="020B0609020204030204" pitchFamily="49" charset="0"/>
              </a:rPr>
              <a:t>TWO DIFFERENT MEANINGS</a:t>
            </a:r>
          </a:p>
        </p:txBody>
      </p:sp>
      <p:sp>
        <p:nvSpPr>
          <p:cNvPr id="16" name="TextBox 15">
            <a:extLst>
              <a:ext uri="{FF2B5EF4-FFF2-40B4-BE49-F238E27FC236}">
                <a16:creationId xmlns:a16="http://schemas.microsoft.com/office/drawing/2014/main" id="{FF8CDBF6-12F3-436F-337F-F13C7C83B569}"/>
              </a:ext>
            </a:extLst>
          </p:cNvPr>
          <p:cNvSpPr txBox="1"/>
          <p:nvPr/>
        </p:nvSpPr>
        <p:spPr>
          <a:xfrm>
            <a:off x="6654800" y="2603500"/>
            <a:ext cx="203200" cy="200055"/>
          </a:xfrm>
          <a:prstGeom prst="rect">
            <a:avLst/>
          </a:prstGeom>
          <a:noFill/>
        </p:spPr>
        <p:txBody>
          <a:bodyPr vert="horz" wrap="square" lIns="0" tIns="0" rIns="0" bIns="0" rtlCol="0">
            <a:spAutoFit/>
          </a:bodyPr>
          <a:lstStyle/>
          <a:p>
            <a:r>
              <a:rPr lang="en-US" sz="1300" b="1">
                <a:solidFill>
                  <a:srgbClr val="F69929"/>
                </a:solidFill>
                <a:latin typeface="Consolas" panose="020B0609020204030204" pitchFamily="49" charset="0"/>
              </a:rPr>
              <a:t>-</a:t>
            </a:r>
          </a:p>
        </p:txBody>
      </p:sp>
      <p:sp>
        <p:nvSpPr>
          <p:cNvPr id="17" name="TextBox 16">
            <a:extLst>
              <a:ext uri="{FF2B5EF4-FFF2-40B4-BE49-F238E27FC236}">
                <a16:creationId xmlns:a16="http://schemas.microsoft.com/office/drawing/2014/main" id="{5029CE70-ABA4-B954-F5CC-B431A2800D31}"/>
              </a:ext>
            </a:extLst>
          </p:cNvPr>
          <p:cNvSpPr txBox="1"/>
          <p:nvPr/>
        </p:nvSpPr>
        <p:spPr>
          <a:xfrm>
            <a:off x="6934200" y="2603500"/>
            <a:ext cx="4343400" cy="400110"/>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Validation: no exact local recovery or rejected diagnostic PDU.</a:t>
            </a:r>
          </a:p>
        </p:txBody>
      </p:sp>
      <p:sp>
        <p:nvSpPr>
          <p:cNvPr id="18" name="TextBox 17">
            <a:extLst>
              <a:ext uri="{FF2B5EF4-FFF2-40B4-BE49-F238E27FC236}">
                <a16:creationId xmlns:a16="http://schemas.microsoft.com/office/drawing/2014/main" id="{E9B3D0EA-48F2-6C09-A5BD-3AA79974427E}"/>
              </a:ext>
            </a:extLst>
          </p:cNvPr>
          <p:cNvSpPr txBox="1"/>
          <p:nvPr/>
        </p:nvSpPr>
        <p:spPr>
          <a:xfrm>
            <a:off x="6654800" y="3225800"/>
            <a:ext cx="203200" cy="200055"/>
          </a:xfrm>
          <a:prstGeom prst="rect">
            <a:avLst/>
          </a:prstGeom>
          <a:noFill/>
        </p:spPr>
        <p:txBody>
          <a:bodyPr vert="horz" wrap="square" lIns="0" tIns="0" rIns="0" bIns="0" rtlCol="0">
            <a:spAutoFit/>
          </a:bodyPr>
          <a:lstStyle/>
          <a:p>
            <a:r>
              <a:rPr lang="en-US" sz="1300" b="1">
                <a:solidFill>
                  <a:srgbClr val="F69929"/>
                </a:solidFill>
                <a:latin typeface="Consolas" panose="020B0609020204030204" pitchFamily="49" charset="0"/>
              </a:rPr>
              <a:t>-</a:t>
            </a:r>
          </a:p>
        </p:txBody>
      </p:sp>
      <p:sp>
        <p:nvSpPr>
          <p:cNvPr id="19" name="TextBox 18">
            <a:extLst>
              <a:ext uri="{FF2B5EF4-FFF2-40B4-BE49-F238E27FC236}">
                <a16:creationId xmlns:a16="http://schemas.microsoft.com/office/drawing/2014/main" id="{3122B90F-DF16-50A0-257B-E607622EFC67}"/>
              </a:ext>
            </a:extLst>
          </p:cNvPr>
          <p:cNvSpPr txBox="1"/>
          <p:nvPr/>
        </p:nvSpPr>
        <p:spPr>
          <a:xfrm>
            <a:off x="69342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Dashboard: no authorized telemetry field mapping.</a:t>
            </a:r>
          </a:p>
        </p:txBody>
      </p:sp>
      <p:sp>
        <p:nvSpPr>
          <p:cNvPr id="20" name="TextBox 19">
            <a:extLst>
              <a:ext uri="{FF2B5EF4-FFF2-40B4-BE49-F238E27FC236}">
                <a16:creationId xmlns:a16="http://schemas.microsoft.com/office/drawing/2014/main" id="{BB7588E4-FE61-1112-081E-26B0936FC866}"/>
              </a:ext>
            </a:extLst>
          </p:cNvPr>
          <p:cNvSpPr txBox="1"/>
          <p:nvPr/>
        </p:nvSpPr>
        <p:spPr>
          <a:xfrm>
            <a:off x="6654800" y="3848100"/>
            <a:ext cx="203200" cy="200055"/>
          </a:xfrm>
          <a:prstGeom prst="rect">
            <a:avLst/>
          </a:prstGeom>
          <a:noFill/>
        </p:spPr>
        <p:txBody>
          <a:bodyPr vert="horz" wrap="square" lIns="0" tIns="0" rIns="0" bIns="0" rtlCol="0">
            <a:spAutoFit/>
          </a:bodyPr>
          <a:lstStyle/>
          <a:p>
            <a:r>
              <a:rPr lang="en-US" sz="1300" b="1">
                <a:solidFill>
                  <a:srgbClr val="F69929"/>
                </a:solidFill>
                <a:latin typeface="Consolas" panose="020B0609020204030204" pitchFamily="49" charset="0"/>
              </a:rPr>
              <a:t>-</a:t>
            </a:r>
          </a:p>
        </p:txBody>
      </p:sp>
      <p:sp>
        <p:nvSpPr>
          <p:cNvPr id="21" name="TextBox 20">
            <a:extLst>
              <a:ext uri="{FF2B5EF4-FFF2-40B4-BE49-F238E27FC236}">
                <a16:creationId xmlns:a16="http://schemas.microsoft.com/office/drawing/2014/main" id="{641AACBB-AEAA-C54A-C72A-3798F0CAA9D6}"/>
              </a:ext>
            </a:extLst>
          </p:cNvPr>
          <p:cNvSpPr txBox="1"/>
          <p:nvPr/>
        </p:nvSpPr>
        <p:spPr>
          <a:xfrm>
            <a:off x="69342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Neither automatically means invalid spacecraft data.</a:t>
            </a:r>
          </a:p>
        </p:txBody>
      </p:sp>
      <p:sp>
        <p:nvSpPr>
          <p:cNvPr id="22" name="Rectangle 21">
            <a:extLst>
              <a:ext uri="{FF2B5EF4-FFF2-40B4-BE49-F238E27FC236}">
                <a16:creationId xmlns:a16="http://schemas.microsoft.com/office/drawing/2014/main" id="{3212605B-1353-A519-970F-C58BD9DD10C1}"/>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BA201B08-1C1E-54CB-44FF-452B0B7C6E8D}"/>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24" name="TextBox 23">
            <a:extLst>
              <a:ext uri="{FF2B5EF4-FFF2-40B4-BE49-F238E27FC236}">
                <a16:creationId xmlns:a16="http://schemas.microsoft.com/office/drawing/2014/main" id="{65EA65A9-DC62-E172-D1B7-7911EAF4E302}"/>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27% is audio recovery, not spacecraft health or total decoder accuracy.</a:t>
            </a:r>
          </a:p>
        </p:txBody>
      </p:sp>
    </p:spTree>
    <p:extLst>
      <p:ext uri="{BB962C8B-B14F-4D97-AF65-F5344CB8AC3E}">
        <p14:creationId xmlns:p14="http://schemas.microsoft.com/office/powerpoint/2010/main" val="8898965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855006A-E213-9A42-547B-1B428D4077AE}"/>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421C1738-6945-FFD0-1A4D-B3B46350D1C7}"/>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Historical Mission Coverage</a:t>
            </a:r>
          </a:p>
        </p:txBody>
      </p:sp>
      <p:cxnSp>
        <p:nvCxnSpPr>
          <p:cNvPr id="4" name="Straight Connector 3">
            <a:extLst>
              <a:ext uri="{FF2B5EF4-FFF2-40B4-BE49-F238E27FC236}">
                <a16:creationId xmlns:a16="http://schemas.microsoft.com/office/drawing/2014/main" id="{216768DF-E155-FA84-C374-3BC27607C60D}"/>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3CB4DF88-CCDE-E7C5-D5B2-A2045227AD44}"/>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11</a:t>
            </a:r>
          </a:p>
        </p:txBody>
      </p:sp>
      <p:sp>
        <p:nvSpPr>
          <p:cNvPr id="6" name="Rectangle 5">
            <a:extLst>
              <a:ext uri="{FF2B5EF4-FFF2-40B4-BE49-F238E27FC236}">
                <a16:creationId xmlns:a16="http://schemas.microsoft.com/office/drawing/2014/main" id="{F682D7C2-A41F-E59C-1D0B-7A72636492A6}"/>
              </a:ext>
            </a:extLst>
          </p:cNvPr>
          <p:cNvSpPr/>
          <p:nvPr/>
        </p:nvSpPr>
        <p:spPr>
          <a:xfrm>
            <a:off x="584200" y="1574800"/>
            <a:ext cx="3429000" cy="1168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8AE3C48-A8BE-3D5A-F0CC-548821B75DC8}"/>
              </a:ext>
            </a:extLst>
          </p:cNvPr>
          <p:cNvSpPr txBox="1"/>
          <p:nvPr/>
        </p:nvSpPr>
        <p:spPr>
          <a:xfrm>
            <a:off x="812800" y="1765300"/>
            <a:ext cx="2921000" cy="430887"/>
          </a:xfrm>
          <a:prstGeom prst="rect">
            <a:avLst/>
          </a:prstGeom>
          <a:noFill/>
        </p:spPr>
        <p:txBody>
          <a:bodyPr vert="horz" wrap="square" lIns="0" tIns="0" rIns="0" bIns="0" rtlCol="0">
            <a:spAutoFit/>
          </a:bodyPr>
          <a:lstStyle/>
          <a:p>
            <a:r>
              <a:rPr lang="en-US" sz="2800" b="1">
                <a:solidFill>
                  <a:srgbClr val="31CC70"/>
                </a:solidFill>
                <a:latin typeface="Aptos Display" panose="020B0004020202020204" pitchFamily="34" charset="0"/>
              </a:rPr>
              <a:t>55</a:t>
            </a:r>
          </a:p>
        </p:txBody>
      </p:sp>
      <p:sp>
        <p:nvSpPr>
          <p:cNvPr id="8" name="TextBox 7">
            <a:extLst>
              <a:ext uri="{FF2B5EF4-FFF2-40B4-BE49-F238E27FC236}">
                <a16:creationId xmlns:a16="http://schemas.microsoft.com/office/drawing/2014/main" id="{C9145838-E40D-7A6E-B501-398AA7366209}"/>
              </a:ext>
            </a:extLst>
          </p:cNvPr>
          <p:cNvSpPr txBox="1"/>
          <p:nvPr/>
        </p:nvSpPr>
        <p:spPr>
          <a:xfrm>
            <a:off x="812800" y="2286000"/>
            <a:ext cx="2921000" cy="176972"/>
          </a:xfrm>
          <a:prstGeom prst="rect">
            <a:avLst/>
          </a:prstGeom>
          <a:noFill/>
        </p:spPr>
        <p:txBody>
          <a:bodyPr vert="horz" wrap="square" lIns="0" tIns="0" rIns="0" bIns="0" rtlCol="0">
            <a:spAutoFit/>
          </a:bodyPr>
          <a:lstStyle/>
          <a:p>
            <a:r>
              <a:rPr lang="en-US" sz="1150">
                <a:solidFill>
                  <a:srgbClr val="9BA6B5"/>
                </a:solidFill>
                <a:latin typeface="Aptos" panose="020B0004020202020204" pitchFamily="34" charset="0"/>
              </a:rPr>
              <a:t>UTC days</a:t>
            </a:r>
          </a:p>
        </p:txBody>
      </p:sp>
      <p:sp>
        <p:nvSpPr>
          <p:cNvPr id="9" name="Rectangle 8">
            <a:extLst>
              <a:ext uri="{FF2B5EF4-FFF2-40B4-BE49-F238E27FC236}">
                <a16:creationId xmlns:a16="http://schemas.microsoft.com/office/drawing/2014/main" id="{4F341563-8612-8986-391E-B78DC363E5AD}"/>
              </a:ext>
            </a:extLst>
          </p:cNvPr>
          <p:cNvSpPr/>
          <p:nvPr/>
        </p:nvSpPr>
        <p:spPr>
          <a:xfrm>
            <a:off x="4381500" y="1574800"/>
            <a:ext cx="3429000" cy="1168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4281BFF-0E3B-64BB-D517-8D2DF203BED7}"/>
              </a:ext>
            </a:extLst>
          </p:cNvPr>
          <p:cNvSpPr txBox="1"/>
          <p:nvPr/>
        </p:nvSpPr>
        <p:spPr>
          <a:xfrm>
            <a:off x="4610100" y="1765300"/>
            <a:ext cx="2921000" cy="430887"/>
          </a:xfrm>
          <a:prstGeom prst="rect">
            <a:avLst/>
          </a:prstGeom>
          <a:noFill/>
        </p:spPr>
        <p:txBody>
          <a:bodyPr vert="horz" wrap="square" lIns="0" tIns="0" rIns="0" bIns="0" rtlCol="0">
            <a:spAutoFit/>
          </a:bodyPr>
          <a:lstStyle/>
          <a:p>
            <a:r>
              <a:rPr lang="en-US" sz="2800" b="1">
                <a:solidFill>
                  <a:srgbClr val="31A6E8"/>
                </a:solidFill>
                <a:latin typeface="Aptos Display" panose="020B0004020202020204" pitchFamily="34" charset="0"/>
              </a:rPr>
              <a:t>1,055</a:t>
            </a:r>
          </a:p>
        </p:txBody>
      </p:sp>
      <p:sp>
        <p:nvSpPr>
          <p:cNvPr id="11" name="TextBox 10">
            <a:extLst>
              <a:ext uri="{FF2B5EF4-FFF2-40B4-BE49-F238E27FC236}">
                <a16:creationId xmlns:a16="http://schemas.microsoft.com/office/drawing/2014/main" id="{E667C904-75EF-6310-399D-E8E84A9CF515}"/>
              </a:ext>
            </a:extLst>
          </p:cNvPr>
          <p:cNvSpPr txBox="1"/>
          <p:nvPr/>
        </p:nvSpPr>
        <p:spPr>
          <a:xfrm>
            <a:off x="4610100" y="2286000"/>
            <a:ext cx="2921000" cy="176972"/>
          </a:xfrm>
          <a:prstGeom prst="rect">
            <a:avLst/>
          </a:prstGeom>
          <a:noFill/>
        </p:spPr>
        <p:txBody>
          <a:bodyPr vert="horz" wrap="square" lIns="0" tIns="0" rIns="0" bIns="0" rtlCol="0">
            <a:spAutoFit/>
          </a:bodyPr>
          <a:lstStyle/>
          <a:p>
            <a:r>
              <a:rPr lang="en-US" sz="1150">
                <a:solidFill>
                  <a:srgbClr val="9BA6B5"/>
                </a:solidFill>
                <a:latin typeface="Aptos" panose="020B0004020202020204" pitchFamily="34" charset="0"/>
              </a:rPr>
              <a:t>observations / 114 stations</a:t>
            </a:r>
          </a:p>
        </p:txBody>
      </p:sp>
      <p:sp>
        <p:nvSpPr>
          <p:cNvPr id="12" name="Rectangle 11">
            <a:extLst>
              <a:ext uri="{FF2B5EF4-FFF2-40B4-BE49-F238E27FC236}">
                <a16:creationId xmlns:a16="http://schemas.microsoft.com/office/drawing/2014/main" id="{7BC0F121-823A-328A-C9B5-7EF4C1E1235B}"/>
              </a:ext>
            </a:extLst>
          </p:cNvPr>
          <p:cNvSpPr/>
          <p:nvPr/>
        </p:nvSpPr>
        <p:spPr>
          <a:xfrm>
            <a:off x="8178800" y="1574800"/>
            <a:ext cx="3429000" cy="11684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346CD89-D208-EFD0-25AD-0B4516C87AB3}"/>
              </a:ext>
            </a:extLst>
          </p:cNvPr>
          <p:cNvSpPr txBox="1"/>
          <p:nvPr/>
        </p:nvSpPr>
        <p:spPr>
          <a:xfrm>
            <a:off x="8407400" y="1765300"/>
            <a:ext cx="2921000" cy="430887"/>
          </a:xfrm>
          <a:prstGeom prst="rect">
            <a:avLst/>
          </a:prstGeom>
          <a:noFill/>
        </p:spPr>
        <p:txBody>
          <a:bodyPr vert="horz" wrap="square" lIns="0" tIns="0" rIns="0" bIns="0" rtlCol="0">
            <a:spAutoFit/>
          </a:bodyPr>
          <a:lstStyle/>
          <a:p>
            <a:r>
              <a:rPr lang="en-US" sz="2800" b="1">
                <a:solidFill>
                  <a:srgbClr val="F69929"/>
                </a:solidFill>
                <a:latin typeface="Aptos Display" panose="020B0004020202020204" pitchFamily="34" charset="0"/>
              </a:rPr>
              <a:t>17,155</a:t>
            </a:r>
          </a:p>
        </p:txBody>
      </p:sp>
      <p:sp>
        <p:nvSpPr>
          <p:cNvPr id="14" name="TextBox 13">
            <a:extLst>
              <a:ext uri="{FF2B5EF4-FFF2-40B4-BE49-F238E27FC236}">
                <a16:creationId xmlns:a16="http://schemas.microsoft.com/office/drawing/2014/main" id="{8172C311-BD7D-41F0-77C7-5C870FDD17E1}"/>
              </a:ext>
            </a:extLst>
          </p:cNvPr>
          <p:cNvSpPr txBox="1"/>
          <p:nvPr/>
        </p:nvSpPr>
        <p:spPr>
          <a:xfrm>
            <a:off x="8407400" y="2286000"/>
            <a:ext cx="2921000" cy="176972"/>
          </a:xfrm>
          <a:prstGeom prst="rect">
            <a:avLst/>
          </a:prstGeom>
          <a:noFill/>
        </p:spPr>
        <p:txBody>
          <a:bodyPr vert="horz" wrap="square" lIns="0" tIns="0" rIns="0" bIns="0" rtlCol="0">
            <a:spAutoFit/>
          </a:bodyPr>
          <a:lstStyle/>
          <a:p>
            <a:r>
              <a:rPr lang="en-US" sz="1150">
                <a:solidFill>
                  <a:srgbClr val="9BA6B5"/>
                </a:solidFill>
                <a:latin typeface="Aptos" panose="020B0004020202020204" pitchFamily="34" charset="0"/>
              </a:rPr>
              <a:t>SatNOGS-demodulated frames</a:t>
            </a:r>
          </a:p>
        </p:txBody>
      </p:sp>
      <p:sp>
        <p:nvSpPr>
          <p:cNvPr id="15" name="TextBox 14">
            <a:extLst>
              <a:ext uri="{FF2B5EF4-FFF2-40B4-BE49-F238E27FC236}">
                <a16:creationId xmlns:a16="http://schemas.microsoft.com/office/drawing/2014/main" id="{CA92038A-33F8-9F03-1FB6-9C307379D8A5}"/>
              </a:ext>
            </a:extLst>
          </p:cNvPr>
          <p:cNvSpPr txBox="1"/>
          <p:nvPr/>
        </p:nvSpPr>
        <p:spPr>
          <a:xfrm>
            <a:off x="609600" y="2946400"/>
            <a:ext cx="6350000" cy="184666"/>
          </a:xfrm>
          <a:prstGeom prst="rect">
            <a:avLst/>
          </a:prstGeom>
          <a:noFill/>
        </p:spPr>
        <p:txBody>
          <a:bodyPr vert="horz" wrap="square" lIns="0" tIns="0" rIns="0" bIns="0" rtlCol="0">
            <a:spAutoFit/>
          </a:bodyPr>
          <a:lstStyle/>
          <a:p>
            <a:r>
              <a:rPr lang="en-US" sz="1200" b="1">
                <a:solidFill>
                  <a:srgbClr val="ECF1F7"/>
                </a:solidFill>
                <a:latin typeface="Consolas" panose="020B0609020204030204" pitchFamily="49" charset="0"/>
              </a:rPr>
              <a:t>2026-07-07 to 2026-08-30 UTC</a:t>
            </a:r>
          </a:p>
        </p:txBody>
      </p:sp>
      <p:sp>
        <p:nvSpPr>
          <p:cNvPr id="16" name="Rectangle 15">
            <a:extLst>
              <a:ext uri="{FF2B5EF4-FFF2-40B4-BE49-F238E27FC236}">
                <a16:creationId xmlns:a16="http://schemas.microsoft.com/office/drawing/2014/main" id="{C3815651-26B7-5CA5-9366-6EF3A80764D6}"/>
              </a:ext>
            </a:extLst>
          </p:cNvPr>
          <p:cNvSpPr/>
          <p:nvPr/>
        </p:nvSpPr>
        <p:spPr>
          <a:xfrm>
            <a:off x="609600" y="4129597"/>
            <a:ext cx="120650" cy="1077403"/>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183707A9-B45F-6E7B-DC3A-CE63A3A554BC}"/>
              </a:ext>
            </a:extLst>
          </p:cNvPr>
          <p:cNvSpPr/>
          <p:nvPr/>
        </p:nvSpPr>
        <p:spPr>
          <a:xfrm>
            <a:off x="796290" y="4928843"/>
            <a:ext cx="120650" cy="278157"/>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4E2E1E79-F001-67E0-D3A7-5D454CD611BD}"/>
              </a:ext>
            </a:extLst>
          </p:cNvPr>
          <p:cNvSpPr/>
          <p:nvPr/>
        </p:nvSpPr>
        <p:spPr>
          <a:xfrm>
            <a:off x="982980" y="4659269"/>
            <a:ext cx="120650" cy="547731"/>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1FF1256C-0BA2-5667-CB4A-823E5B74CDC3}"/>
              </a:ext>
            </a:extLst>
          </p:cNvPr>
          <p:cNvSpPr/>
          <p:nvPr/>
        </p:nvSpPr>
        <p:spPr>
          <a:xfrm>
            <a:off x="1169670" y="4815156"/>
            <a:ext cx="120650" cy="391844"/>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D4B2922-A049-5670-014C-B61E2B4A1687}"/>
              </a:ext>
            </a:extLst>
          </p:cNvPr>
          <p:cNvSpPr/>
          <p:nvPr/>
        </p:nvSpPr>
        <p:spPr>
          <a:xfrm>
            <a:off x="1356360" y="4974489"/>
            <a:ext cx="120650" cy="232511"/>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46D65B07-B8B3-D260-1D35-62FF2CCD2184}"/>
              </a:ext>
            </a:extLst>
          </p:cNvPr>
          <p:cNvSpPr/>
          <p:nvPr/>
        </p:nvSpPr>
        <p:spPr>
          <a:xfrm>
            <a:off x="1543050" y="4996882"/>
            <a:ext cx="120650" cy="210118"/>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EE4CE11-68A7-BBB0-D400-046A9F4183C0}"/>
              </a:ext>
            </a:extLst>
          </p:cNvPr>
          <p:cNvSpPr/>
          <p:nvPr/>
        </p:nvSpPr>
        <p:spPr>
          <a:xfrm>
            <a:off x="1729740" y="3556000"/>
            <a:ext cx="120650" cy="1651000"/>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8F02B5F-4903-190F-9B6A-884DE60DE48A}"/>
              </a:ext>
            </a:extLst>
          </p:cNvPr>
          <p:cNvSpPr/>
          <p:nvPr/>
        </p:nvSpPr>
        <p:spPr>
          <a:xfrm>
            <a:off x="1916430" y="4765204"/>
            <a:ext cx="120650" cy="441796"/>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7A1C4555-4DCE-A9DA-A4CD-4E7B887A84AC}"/>
              </a:ext>
            </a:extLst>
          </p:cNvPr>
          <p:cNvSpPr/>
          <p:nvPr/>
        </p:nvSpPr>
        <p:spPr>
          <a:xfrm>
            <a:off x="2103120" y="4944345"/>
            <a:ext cx="120650" cy="262655"/>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6DCEEEEF-0D41-0CCC-51F0-6BE06DBF8129}"/>
              </a:ext>
            </a:extLst>
          </p:cNvPr>
          <p:cNvSpPr/>
          <p:nvPr/>
        </p:nvSpPr>
        <p:spPr>
          <a:xfrm>
            <a:off x="2289810" y="4932287"/>
            <a:ext cx="120650" cy="274713"/>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28C7B0DF-EDEC-9D5B-909B-8F2875AAF830}"/>
              </a:ext>
            </a:extLst>
          </p:cNvPr>
          <p:cNvSpPr/>
          <p:nvPr/>
        </p:nvSpPr>
        <p:spPr>
          <a:xfrm>
            <a:off x="2476500" y="4069309"/>
            <a:ext cx="120650" cy="1137691"/>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94ED8B04-D00E-1847-3978-1CDC7315DB3F}"/>
              </a:ext>
            </a:extLst>
          </p:cNvPr>
          <p:cNvSpPr/>
          <p:nvPr/>
        </p:nvSpPr>
        <p:spPr>
          <a:xfrm>
            <a:off x="2663190" y="4972767"/>
            <a:ext cx="120650" cy="234233"/>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EA43F86D-A827-7BA6-C79A-735AE3B63E2F}"/>
              </a:ext>
            </a:extLst>
          </p:cNvPr>
          <p:cNvSpPr/>
          <p:nvPr/>
        </p:nvSpPr>
        <p:spPr>
          <a:xfrm>
            <a:off x="2849880" y="4834104"/>
            <a:ext cx="120650" cy="372896"/>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90322D8C-E6DB-8F36-8FB3-6167558682EE}"/>
              </a:ext>
            </a:extLst>
          </p:cNvPr>
          <p:cNvSpPr/>
          <p:nvPr/>
        </p:nvSpPr>
        <p:spPr>
          <a:xfrm>
            <a:off x="3036570" y="4685107"/>
            <a:ext cx="120650" cy="521893"/>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E3E46703-C64D-2EC6-ACA3-B53C4D9715F8}"/>
              </a:ext>
            </a:extLst>
          </p:cNvPr>
          <p:cNvSpPr/>
          <p:nvPr/>
        </p:nvSpPr>
        <p:spPr>
          <a:xfrm>
            <a:off x="3223260" y="4811712"/>
            <a:ext cx="120650" cy="395288"/>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176DB103-5628-C6B4-275D-194120D422E6}"/>
              </a:ext>
            </a:extLst>
          </p:cNvPr>
          <p:cNvSpPr/>
          <p:nvPr/>
        </p:nvSpPr>
        <p:spPr>
          <a:xfrm>
            <a:off x="3409950" y="4875445"/>
            <a:ext cx="120650" cy="331555"/>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036CF86-8480-AAF1-8138-14B15E02B787}"/>
              </a:ext>
            </a:extLst>
          </p:cNvPr>
          <p:cNvSpPr/>
          <p:nvPr/>
        </p:nvSpPr>
        <p:spPr>
          <a:xfrm>
            <a:off x="3596640" y="4876306"/>
            <a:ext cx="120650" cy="330694"/>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A8134041-618C-61D8-5B39-4D13604CC724}"/>
              </a:ext>
            </a:extLst>
          </p:cNvPr>
          <p:cNvSpPr/>
          <p:nvPr/>
        </p:nvSpPr>
        <p:spPr>
          <a:xfrm>
            <a:off x="3783330" y="4883196"/>
            <a:ext cx="120650" cy="323804"/>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47C86583-E9B8-0EC1-3975-9153C3393518}"/>
              </a:ext>
            </a:extLst>
          </p:cNvPr>
          <p:cNvSpPr/>
          <p:nvPr/>
        </p:nvSpPr>
        <p:spPr>
          <a:xfrm>
            <a:off x="3970020" y="4857358"/>
            <a:ext cx="120650" cy="349642"/>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568030C-032D-460E-9F98-51001FCE5701}"/>
              </a:ext>
            </a:extLst>
          </p:cNvPr>
          <p:cNvSpPr/>
          <p:nvPr/>
        </p:nvSpPr>
        <p:spPr>
          <a:xfrm>
            <a:off x="4156710" y="5005494"/>
            <a:ext cx="120650" cy="201506"/>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D2006886-C8CF-BA39-1E96-F701922E572E}"/>
              </a:ext>
            </a:extLst>
          </p:cNvPr>
          <p:cNvSpPr/>
          <p:nvPr/>
        </p:nvSpPr>
        <p:spPr>
          <a:xfrm>
            <a:off x="4343400" y="4984824"/>
            <a:ext cx="120650" cy="222176"/>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B3C2F783-A09C-0716-BCA0-5F384AE2D9FB}"/>
              </a:ext>
            </a:extLst>
          </p:cNvPr>
          <p:cNvSpPr/>
          <p:nvPr/>
        </p:nvSpPr>
        <p:spPr>
          <a:xfrm>
            <a:off x="4530090" y="5006356"/>
            <a:ext cx="120650" cy="200644"/>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16721003-6B5C-995E-153A-72F8C89C731A}"/>
              </a:ext>
            </a:extLst>
          </p:cNvPr>
          <p:cNvSpPr/>
          <p:nvPr/>
        </p:nvSpPr>
        <p:spPr>
          <a:xfrm>
            <a:off x="4716780" y="4885780"/>
            <a:ext cx="120650" cy="321220"/>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97EF1C1F-64AD-A7A7-8942-8947FB26B2C6}"/>
              </a:ext>
            </a:extLst>
          </p:cNvPr>
          <p:cNvSpPr/>
          <p:nvPr/>
        </p:nvSpPr>
        <p:spPr>
          <a:xfrm>
            <a:off x="4903470" y="4989130"/>
            <a:ext cx="120650" cy="217870"/>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39">
            <a:extLst>
              <a:ext uri="{FF2B5EF4-FFF2-40B4-BE49-F238E27FC236}">
                <a16:creationId xmlns:a16="http://schemas.microsoft.com/office/drawing/2014/main" id="{1F8C194E-B471-0EE4-2848-97896BA7B586}"/>
              </a:ext>
            </a:extLst>
          </p:cNvPr>
          <p:cNvSpPr/>
          <p:nvPr/>
        </p:nvSpPr>
        <p:spPr>
          <a:xfrm>
            <a:off x="5090160" y="4980518"/>
            <a:ext cx="120650" cy="226482"/>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807431CE-E3A7-F418-9620-9EDBA9FB3A8B}"/>
              </a:ext>
            </a:extLst>
          </p:cNvPr>
          <p:cNvSpPr/>
          <p:nvPr/>
        </p:nvSpPr>
        <p:spPr>
          <a:xfrm>
            <a:off x="5276850" y="4871138"/>
            <a:ext cx="120650" cy="335862"/>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42FE10D4-5827-AF8E-E74E-F721C9433C7E}"/>
              </a:ext>
            </a:extLst>
          </p:cNvPr>
          <p:cNvSpPr/>
          <p:nvPr/>
        </p:nvSpPr>
        <p:spPr>
          <a:xfrm>
            <a:off x="5463540" y="4945206"/>
            <a:ext cx="120650" cy="261794"/>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Rectangle 42">
            <a:extLst>
              <a:ext uri="{FF2B5EF4-FFF2-40B4-BE49-F238E27FC236}">
                <a16:creationId xmlns:a16="http://schemas.microsoft.com/office/drawing/2014/main" id="{AC00E8D1-6402-83A1-0CFE-EC329F7B80B8}"/>
              </a:ext>
            </a:extLst>
          </p:cNvPr>
          <p:cNvSpPr/>
          <p:nvPr/>
        </p:nvSpPr>
        <p:spPr>
          <a:xfrm>
            <a:off x="5650230" y="5051141"/>
            <a:ext cx="120650" cy="155859"/>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BA2AE68C-BBB5-BC6C-888C-7F1D2867D715}"/>
              </a:ext>
            </a:extLst>
          </p:cNvPr>
          <p:cNvSpPr/>
          <p:nvPr/>
        </p:nvSpPr>
        <p:spPr>
          <a:xfrm>
            <a:off x="5836920" y="4797070"/>
            <a:ext cx="120650" cy="409930"/>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91F1AFA-1443-8CD3-AABC-DF05FB6F8A16}"/>
              </a:ext>
            </a:extLst>
          </p:cNvPr>
          <p:cNvSpPr/>
          <p:nvPr/>
        </p:nvSpPr>
        <p:spPr>
          <a:xfrm>
            <a:off x="6023610" y="4805683"/>
            <a:ext cx="120650" cy="401317"/>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9393E6A-7E09-4FF9-28BE-FCA1493C1C78}"/>
              </a:ext>
            </a:extLst>
          </p:cNvPr>
          <p:cNvSpPr/>
          <p:nvPr/>
        </p:nvSpPr>
        <p:spPr>
          <a:xfrm>
            <a:off x="6210300" y="5013246"/>
            <a:ext cx="120650" cy="193754"/>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AA5FE0B-A7ED-CC74-0B3B-13160FCEBEDB}"/>
              </a:ext>
            </a:extLst>
          </p:cNvPr>
          <p:cNvSpPr/>
          <p:nvPr/>
        </p:nvSpPr>
        <p:spPr>
          <a:xfrm>
            <a:off x="6396990" y="4871138"/>
            <a:ext cx="120650" cy="335862"/>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CEE3986B-CA3C-1740-D500-756687BF8539}"/>
              </a:ext>
            </a:extLst>
          </p:cNvPr>
          <p:cNvSpPr/>
          <p:nvPr/>
        </p:nvSpPr>
        <p:spPr>
          <a:xfrm>
            <a:off x="6583680" y="4868554"/>
            <a:ext cx="120650" cy="338446"/>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7EC08F29-B39A-DFCA-95A0-A15965A9E040}"/>
              </a:ext>
            </a:extLst>
          </p:cNvPr>
          <p:cNvSpPr/>
          <p:nvPr/>
        </p:nvSpPr>
        <p:spPr>
          <a:xfrm>
            <a:off x="6770370" y="4960709"/>
            <a:ext cx="120650" cy="246291"/>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ectangle 49">
            <a:extLst>
              <a:ext uri="{FF2B5EF4-FFF2-40B4-BE49-F238E27FC236}">
                <a16:creationId xmlns:a16="http://schemas.microsoft.com/office/drawing/2014/main" id="{5124F4DA-D458-3691-0396-AD25EE198EBD}"/>
              </a:ext>
            </a:extLst>
          </p:cNvPr>
          <p:cNvSpPr/>
          <p:nvPr/>
        </p:nvSpPr>
        <p:spPr>
          <a:xfrm>
            <a:off x="6957060" y="4775539"/>
            <a:ext cx="120650" cy="431461"/>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ECBA66A4-59A9-9E01-7955-7855436DB751}"/>
              </a:ext>
            </a:extLst>
          </p:cNvPr>
          <p:cNvSpPr/>
          <p:nvPr/>
        </p:nvSpPr>
        <p:spPr>
          <a:xfrm>
            <a:off x="7143750" y="4807405"/>
            <a:ext cx="120650" cy="399595"/>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a:extLst>
              <a:ext uri="{FF2B5EF4-FFF2-40B4-BE49-F238E27FC236}">
                <a16:creationId xmlns:a16="http://schemas.microsoft.com/office/drawing/2014/main" id="{F48FBC79-5F04-41BD-1CE6-1F204F89D04F}"/>
              </a:ext>
            </a:extLst>
          </p:cNvPr>
          <p:cNvSpPr/>
          <p:nvPr/>
        </p:nvSpPr>
        <p:spPr>
          <a:xfrm>
            <a:off x="7330440" y="4857358"/>
            <a:ext cx="120650" cy="349642"/>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ectangle 52">
            <a:extLst>
              <a:ext uri="{FF2B5EF4-FFF2-40B4-BE49-F238E27FC236}">
                <a16:creationId xmlns:a16="http://schemas.microsoft.com/office/drawing/2014/main" id="{1D677C13-3EB6-2DA0-35A1-6724E8CE8F4B}"/>
              </a:ext>
            </a:extLst>
          </p:cNvPr>
          <p:cNvSpPr/>
          <p:nvPr/>
        </p:nvSpPr>
        <p:spPr>
          <a:xfrm>
            <a:off x="7517130" y="5042528"/>
            <a:ext cx="120650" cy="164472"/>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466678AE-070D-BD67-1CE7-D832FB9CD046}"/>
              </a:ext>
            </a:extLst>
          </p:cNvPr>
          <p:cNvSpPr/>
          <p:nvPr/>
        </p:nvSpPr>
        <p:spPr>
          <a:xfrm>
            <a:off x="7703820" y="4875445"/>
            <a:ext cx="120650" cy="331555"/>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20C564AE-9AD4-5800-11E8-42C3E7BA29F1}"/>
              </a:ext>
            </a:extLst>
          </p:cNvPr>
          <p:cNvSpPr/>
          <p:nvPr/>
        </p:nvSpPr>
        <p:spPr>
          <a:xfrm>
            <a:off x="7890510" y="4971905"/>
            <a:ext cx="120650" cy="235095"/>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Rectangle 55">
            <a:extLst>
              <a:ext uri="{FF2B5EF4-FFF2-40B4-BE49-F238E27FC236}">
                <a16:creationId xmlns:a16="http://schemas.microsoft.com/office/drawing/2014/main" id="{4702F202-8E1E-2DD8-0E1C-F9B06E44194A}"/>
              </a:ext>
            </a:extLst>
          </p:cNvPr>
          <p:cNvSpPr/>
          <p:nvPr/>
        </p:nvSpPr>
        <p:spPr>
          <a:xfrm>
            <a:off x="8077200" y="4909034"/>
            <a:ext cx="120650" cy="297966"/>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Rectangle 56">
            <a:extLst>
              <a:ext uri="{FF2B5EF4-FFF2-40B4-BE49-F238E27FC236}">
                <a16:creationId xmlns:a16="http://schemas.microsoft.com/office/drawing/2014/main" id="{143732A4-EC9E-42E4-8766-9E399B97D94D}"/>
              </a:ext>
            </a:extLst>
          </p:cNvPr>
          <p:cNvSpPr/>
          <p:nvPr/>
        </p:nvSpPr>
        <p:spPr>
          <a:xfrm>
            <a:off x="8263890" y="4948651"/>
            <a:ext cx="120650" cy="258349"/>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57">
            <a:extLst>
              <a:ext uri="{FF2B5EF4-FFF2-40B4-BE49-F238E27FC236}">
                <a16:creationId xmlns:a16="http://schemas.microsoft.com/office/drawing/2014/main" id="{5214CCAF-6C25-9EA6-9AC3-6EF1347FA08D}"/>
              </a:ext>
            </a:extLst>
          </p:cNvPr>
          <p:cNvSpPr/>
          <p:nvPr/>
        </p:nvSpPr>
        <p:spPr>
          <a:xfrm>
            <a:off x="8450580" y="5052002"/>
            <a:ext cx="120650" cy="154998"/>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EAE7D6CC-D98D-2E4E-08CB-86262FBE152E}"/>
              </a:ext>
            </a:extLst>
          </p:cNvPr>
          <p:cNvSpPr/>
          <p:nvPr/>
        </p:nvSpPr>
        <p:spPr>
          <a:xfrm>
            <a:off x="8637270" y="5030471"/>
            <a:ext cx="120650" cy="176529"/>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10E61160-E200-BB78-C689-C8F6D7B3F0A3}"/>
              </a:ext>
            </a:extLst>
          </p:cNvPr>
          <p:cNvSpPr/>
          <p:nvPr/>
        </p:nvSpPr>
        <p:spPr>
          <a:xfrm>
            <a:off x="8823960" y="4901282"/>
            <a:ext cx="120650" cy="305718"/>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Rectangle 60">
            <a:extLst>
              <a:ext uri="{FF2B5EF4-FFF2-40B4-BE49-F238E27FC236}">
                <a16:creationId xmlns:a16="http://schemas.microsoft.com/office/drawing/2014/main" id="{CB0E9740-2F11-0D94-61B1-6A17A0F562C8}"/>
              </a:ext>
            </a:extLst>
          </p:cNvPr>
          <p:cNvSpPr/>
          <p:nvPr/>
        </p:nvSpPr>
        <p:spPr>
          <a:xfrm>
            <a:off x="9010650" y="4793625"/>
            <a:ext cx="120650" cy="413375"/>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42BF8BD3-BF62-1E03-0549-F269AE66D831}"/>
              </a:ext>
            </a:extLst>
          </p:cNvPr>
          <p:cNvSpPr/>
          <p:nvPr/>
        </p:nvSpPr>
        <p:spPr>
          <a:xfrm>
            <a:off x="9197340" y="4899560"/>
            <a:ext cx="120650" cy="307440"/>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a:extLst>
              <a:ext uri="{FF2B5EF4-FFF2-40B4-BE49-F238E27FC236}">
                <a16:creationId xmlns:a16="http://schemas.microsoft.com/office/drawing/2014/main" id="{B6FBABDF-84E8-1A0D-4780-3B69BA301262}"/>
              </a:ext>
            </a:extLst>
          </p:cNvPr>
          <p:cNvSpPr/>
          <p:nvPr/>
        </p:nvSpPr>
        <p:spPr>
          <a:xfrm>
            <a:off x="9384030" y="4927981"/>
            <a:ext cx="120650" cy="279019"/>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C1FBEBB7-E738-D5D2-E29E-8ADA5C82539D}"/>
              </a:ext>
            </a:extLst>
          </p:cNvPr>
          <p:cNvSpPr/>
          <p:nvPr/>
        </p:nvSpPr>
        <p:spPr>
          <a:xfrm>
            <a:off x="9570720" y="4712667"/>
            <a:ext cx="120650" cy="494333"/>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Rectangle 64">
            <a:extLst>
              <a:ext uri="{FF2B5EF4-FFF2-40B4-BE49-F238E27FC236}">
                <a16:creationId xmlns:a16="http://schemas.microsoft.com/office/drawing/2014/main" id="{4BCB1D6E-6F16-A0B3-1131-91FF43BD0B81}"/>
              </a:ext>
            </a:extLst>
          </p:cNvPr>
          <p:cNvSpPr/>
          <p:nvPr/>
        </p:nvSpPr>
        <p:spPr>
          <a:xfrm>
            <a:off x="9757410" y="4872000"/>
            <a:ext cx="120650" cy="335000"/>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3A96A891-AF66-5787-B1BD-D1D0BC70B3FF}"/>
              </a:ext>
            </a:extLst>
          </p:cNvPr>
          <p:cNvSpPr/>
          <p:nvPr/>
        </p:nvSpPr>
        <p:spPr>
          <a:xfrm>
            <a:off x="9944100" y="4437065"/>
            <a:ext cx="120650" cy="769935"/>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Rectangle 66">
            <a:extLst>
              <a:ext uri="{FF2B5EF4-FFF2-40B4-BE49-F238E27FC236}">
                <a16:creationId xmlns:a16="http://schemas.microsoft.com/office/drawing/2014/main" id="{DEBE60C4-8E7D-E14F-F3E1-D603E115CDD1}"/>
              </a:ext>
            </a:extLst>
          </p:cNvPr>
          <p:cNvSpPr/>
          <p:nvPr/>
        </p:nvSpPr>
        <p:spPr>
          <a:xfrm>
            <a:off x="10130790" y="4723002"/>
            <a:ext cx="120650" cy="483998"/>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a:extLst>
              <a:ext uri="{FF2B5EF4-FFF2-40B4-BE49-F238E27FC236}">
                <a16:creationId xmlns:a16="http://schemas.microsoft.com/office/drawing/2014/main" id="{63A82FC0-8EAD-E241-7CA3-0ECF68AD824B}"/>
              </a:ext>
            </a:extLst>
          </p:cNvPr>
          <p:cNvSpPr/>
          <p:nvPr/>
        </p:nvSpPr>
        <p:spPr>
          <a:xfrm>
            <a:off x="10317480" y="4910756"/>
            <a:ext cx="120650" cy="296244"/>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D7DB197E-6B7A-8CF0-0D88-DBA94D8A9E0E}"/>
              </a:ext>
            </a:extLst>
          </p:cNvPr>
          <p:cNvSpPr/>
          <p:nvPr/>
        </p:nvSpPr>
        <p:spPr>
          <a:xfrm>
            <a:off x="10504170" y="5061476"/>
            <a:ext cx="120650" cy="145524"/>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D29880E1-5809-D2E5-62DC-D133F60DED1D}"/>
              </a:ext>
            </a:extLst>
          </p:cNvPr>
          <p:cNvSpPr/>
          <p:nvPr/>
        </p:nvSpPr>
        <p:spPr>
          <a:xfrm>
            <a:off x="10690860" y="4909034"/>
            <a:ext cx="120650" cy="297966"/>
          </a:xfrm>
          <a:prstGeom prst="rect">
            <a:avLst/>
          </a:prstGeom>
          <a:solidFill>
            <a:srgbClr val="31A6E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1" name="Straight Connector 70">
            <a:extLst>
              <a:ext uri="{FF2B5EF4-FFF2-40B4-BE49-F238E27FC236}">
                <a16:creationId xmlns:a16="http://schemas.microsoft.com/office/drawing/2014/main" id="{EB64157A-BFDB-AFF4-BCC7-7FEC60C7FF4D}"/>
              </a:ext>
            </a:extLst>
          </p:cNvPr>
          <p:cNvCxnSpPr/>
          <p:nvPr/>
        </p:nvCxnSpPr>
        <p:spPr>
          <a:xfrm>
            <a:off x="609600" y="5207000"/>
            <a:ext cx="108966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72" name="TextBox 71">
            <a:extLst>
              <a:ext uri="{FF2B5EF4-FFF2-40B4-BE49-F238E27FC236}">
                <a16:creationId xmlns:a16="http://schemas.microsoft.com/office/drawing/2014/main" id="{ED84B243-3E12-D15B-86F7-6D03D515F237}"/>
              </a:ext>
            </a:extLst>
          </p:cNvPr>
          <p:cNvSpPr txBox="1"/>
          <p:nvPr/>
        </p:nvSpPr>
        <p:spPr>
          <a:xfrm>
            <a:off x="609600" y="5283200"/>
            <a:ext cx="1270000" cy="138499"/>
          </a:xfrm>
          <a:prstGeom prst="rect">
            <a:avLst/>
          </a:prstGeom>
          <a:noFill/>
        </p:spPr>
        <p:txBody>
          <a:bodyPr vert="horz" wrap="square" lIns="0" tIns="0" rIns="0" bIns="0" rtlCol="0">
            <a:spAutoFit/>
          </a:bodyPr>
          <a:lstStyle/>
          <a:p>
            <a:r>
              <a:rPr lang="en-US" sz="900">
                <a:solidFill>
                  <a:srgbClr val="9BA6B5"/>
                </a:solidFill>
                <a:latin typeface="Consolas" panose="020B0609020204030204" pitchFamily="49" charset="0"/>
              </a:rPr>
              <a:t>JUL 07</a:t>
            </a:r>
          </a:p>
        </p:txBody>
      </p:sp>
      <p:sp>
        <p:nvSpPr>
          <p:cNvPr id="73" name="TextBox 72">
            <a:extLst>
              <a:ext uri="{FF2B5EF4-FFF2-40B4-BE49-F238E27FC236}">
                <a16:creationId xmlns:a16="http://schemas.microsoft.com/office/drawing/2014/main" id="{2A281836-A5CE-EFCD-8A47-7C219D458FEA}"/>
              </a:ext>
            </a:extLst>
          </p:cNvPr>
          <p:cNvSpPr txBox="1"/>
          <p:nvPr/>
        </p:nvSpPr>
        <p:spPr>
          <a:xfrm>
            <a:off x="5257800" y="5283200"/>
            <a:ext cx="1270000" cy="138499"/>
          </a:xfrm>
          <a:prstGeom prst="rect">
            <a:avLst/>
          </a:prstGeom>
          <a:noFill/>
        </p:spPr>
        <p:txBody>
          <a:bodyPr vert="horz" wrap="square" lIns="0" tIns="0" rIns="0" bIns="0" rtlCol="0">
            <a:spAutoFit/>
          </a:bodyPr>
          <a:lstStyle/>
          <a:p>
            <a:r>
              <a:rPr lang="en-US" sz="900">
                <a:solidFill>
                  <a:srgbClr val="9BA6B5"/>
                </a:solidFill>
                <a:latin typeface="Consolas" panose="020B0609020204030204" pitchFamily="49" charset="0"/>
              </a:rPr>
              <a:t>AUG 01</a:t>
            </a:r>
          </a:p>
        </p:txBody>
      </p:sp>
      <p:sp>
        <p:nvSpPr>
          <p:cNvPr id="74" name="TextBox 73">
            <a:extLst>
              <a:ext uri="{FF2B5EF4-FFF2-40B4-BE49-F238E27FC236}">
                <a16:creationId xmlns:a16="http://schemas.microsoft.com/office/drawing/2014/main" id="{B5017076-6585-B9A0-50CA-C355333A0035}"/>
              </a:ext>
            </a:extLst>
          </p:cNvPr>
          <p:cNvSpPr txBox="1"/>
          <p:nvPr/>
        </p:nvSpPr>
        <p:spPr>
          <a:xfrm>
            <a:off x="10236200" y="5283200"/>
            <a:ext cx="1270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AUG 30</a:t>
            </a:r>
          </a:p>
        </p:txBody>
      </p:sp>
      <p:sp>
        <p:nvSpPr>
          <p:cNvPr id="75" name="Rectangle 74">
            <a:extLst>
              <a:ext uri="{FF2B5EF4-FFF2-40B4-BE49-F238E27FC236}">
                <a16:creationId xmlns:a16="http://schemas.microsoft.com/office/drawing/2014/main" id="{02975960-02E4-E073-F95F-02744DE364FC}"/>
              </a:ext>
            </a:extLst>
          </p:cNvPr>
          <p:cNvSpPr/>
          <p:nvPr/>
        </p:nvSpPr>
        <p:spPr>
          <a:xfrm>
            <a:off x="584200" y="5715000"/>
            <a:ext cx="11023600" cy="622300"/>
          </a:xfrm>
          <a:prstGeom prst="rect">
            <a:avLst/>
          </a:prstGeom>
          <a:solidFill>
            <a:srgbClr val="191F29"/>
          </a:solidFill>
          <a:ln w="12700">
            <a:solidFill>
              <a:srgbClr val="F699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6D6BD074-51FB-6996-DB5C-36FF11CE72F3}"/>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77" name="TextBox 76">
            <a:extLst>
              <a:ext uri="{FF2B5EF4-FFF2-40B4-BE49-F238E27FC236}">
                <a16:creationId xmlns:a16="http://schemas.microsoft.com/office/drawing/2014/main" id="{29FC550A-1E16-DB82-6DB0-CAB6BB7BB261}"/>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F69929"/>
                </a:solidFill>
                <a:latin typeface="Aptos" panose="020B0004020202020204" pitchFamily="34" charset="0"/>
              </a:rPr>
              <a:t>17,155 historical controls; direct byte-exact OGG proof covers five observations.</a:t>
            </a:r>
          </a:p>
        </p:txBody>
      </p:sp>
    </p:spTree>
    <p:extLst>
      <p:ext uri="{BB962C8B-B14F-4D97-AF65-F5344CB8AC3E}">
        <p14:creationId xmlns:p14="http://schemas.microsoft.com/office/powerpoint/2010/main" val="3013271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410123-AA22-812B-795D-72E92D55D5D1}"/>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0B648D9E-E7BA-3B43-09E5-EEF0BE7F27AC}"/>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Stage 6 - Telemetry Confidence Contract</a:t>
            </a:r>
          </a:p>
        </p:txBody>
      </p:sp>
      <p:cxnSp>
        <p:nvCxnSpPr>
          <p:cNvPr id="4" name="Straight Connector 3">
            <a:extLst>
              <a:ext uri="{FF2B5EF4-FFF2-40B4-BE49-F238E27FC236}">
                <a16:creationId xmlns:a16="http://schemas.microsoft.com/office/drawing/2014/main" id="{0F58513E-366B-2F04-1C11-C61B4A58B441}"/>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F8921891-40BE-6425-E3CA-95342EAC63C5}"/>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12</a:t>
            </a:r>
          </a:p>
        </p:txBody>
      </p:sp>
      <p:sp>
        <p:nvSpPr>
          <p:cNvPr id="6" name="Rectangle 5">
            <a:extLst>
              <a:ext uri="{FF2B5EF4-FFF2-40B4-BE49-F238E27FC236}">
                <a16:creationId xmlns:a16="http://schemas.microsoft.com/office/drawing/2014/main" id="{E3438379-15B1-6F85-0864-2620E24AE141}"/>
              </a:ext>
            </a:extLst>
          </p:cNvPr>
          <p:cNvSpPr/>
          <p:nvPr/>
        </p:nvSpPr>
        <p:spPr>
          <a:xfrm>
            <a:off x="584200" y="1765300"/>
            <a:ext cx="3429000" cy="3429000"/>
          </a:xfrm>
          <a:prstGeom prst="rect">
            <a:avLst/>
          </a:prstGeom>
          <a:solidFill>
            <a:srgbClr val="12171F"/>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0A5F242D-1812-8E8D-C889-CC7A49BB4B5F}"/>
              </a:ext>
            </a:extLst>
          </p:cNvPr>
          <p:cNvSpPr txBox="1"/>
          <p:nvPr/>
        </p:nvSpPr>
        <p:spPr>
          <a:xfrm>
            <a:off x="812800" y="2057400"/>
            <a:ext cx="2971800" cy="246221"/>
          </a:xfrm>
          <a:prstGeom prst="rect">
            <a:avLst/>
          </a:prstGeom>
          <a:noFill/>
        </p:spPr>
        <p:txBody>
          <a:bodyPr vert="horz" wrap="square" lIns="0" tIns="0" rIns="0" bIns="0" rtlCol="0">
            <a:spAutoFit/>
          </a:bodyPr>
          <a:lstStyle/>
          <a:p>
            <a:r>
              <a:rPr lang="en-US" sz="1600" b="1">
                <a:solidFill>
                  <a:srgbClr val="31CC70"/>
                </a:solidFill>
                <a:latin typeface="Consolas" panose="020B0609020204030204" pitchFamily="49" charset="0"/>
              </a:rPr>
              <a:t>CONFIRMED</a:t>
            </a:r>
          </a:p>
        </p:txBody>
      </p:sp>
      <p:sp>
        <p:nvSpPr>
          <p:cNvPr id="8" name="TextBox 7">
            <a:extLst>
              <a:ext uri="{FF2B5EF4-FFF2-40B4-BE49-F238E27FC236}">
                <a16:creationId xmlns:a16="http://schemas.microsoft.com/office/drawing/2014/main" id="{F9B765F1-EA4A-8C6A-6A58-F63C309EA48E}"/>
              </a:ext>
            </a:extLst>
          </p:cNvPr>
          <p:cNvSpPr txBox="1"/>
          <p:nvPr/>
        </p:nvSpPr>
        <p:spPr>
          <a:xfrm>
            <a:off x="812800" y="2717800"/>
            <a:ext cx="2971800" cy="800219"/>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OBC time and counters
Battery TH0 / TH1
CDH and ADCS temperatures
PIB and SD health counters</a:t>
            </a:r>
          </a:p>
        </p:txBody>
      </p:sp>
      <p:sp>
        <p:nvSpPr>
          <p:cNvPr id="9" name="Rectangle 8">
            <a:extLst>
              <a:ext uri="{FF2B5EF4-FFF2-40B4-BE49-F238E27FC236}">
                <a16:creationId xmlns:a16="http://schemas.microsoft.com/office/drawing/2014/main" id="{93F1D5A4-D3EA-2F33-E442-A201AD8398FA}"/>
              </a:ext>
            </a:extLst>
          </p:cNvPr>
          <p:cNvSpPr/>
          <p:nvPr/>
        </p:nvSpPr>
        <p:spPr>
          <a:xfrm>
            <a:off x="4292600" y="1765300"/>
            <a:ext cx="3429000" cy="3429000"/>
          </a:xfrm>
          <a:prstGeom prst="rect">
            <a:avLst/>
          </a:prstGeom>
          <a:solidFill>
            <a:srgbClr val="12171F"/>
          </a:solidFill>
          <a:ln w="12700">
            <a:solidFill>
              <a:srgbClr val="F6992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B7D64ED-5A6D-C160-ACAA-CAAD183FCC2D}"/>
              </a:ext>
            </a:extLst>
          </p:cNvPr>
          <p:cNvSpPr txBox="1"/>
          <p:nvPr/>
        </p:nvSpPr>
        <p:spPr>
          <a:xfrm>
            <a:off x="4521200" y="2057400"/>
            <a:ext cx="2971800" cy="246221"/>
          </a:xfrm>
          <a:prstGeom prst="rect">
            <a:avLst/>
          </a:prstGeom>
          <a:noFill/>
        </p:spPr>
        <p:txBody>
          <a:bodyPr vert="horz" wrap="square" lIns="0" tIns="0" rIns="0" bIns="0" rtlCol="0">
            <a:spAutoFit/>
          </a:bodyPr>
          <a:lstStyle/>
          <a:p>
            <a:r>
              <a:rPr lang="en-US" sz="1600" b="1">
                <a:solidFill>
                  <a:srgbClr val="F69929"/>
                </a:solidFill>
                <a:latin typeface="Consolas" panose="020B0609020204030204" pitchFamily="49" charset="0"/>
              </a:rPr>
              <a:t>CANDIDATE</a:t>
            </a:r>
          </a:p>
        </p:txBody>
      </p:sp>
      <p:sp>
        <p:nvSpPr>
          <p:cNvPr id="11" name="TextBox 10">
            <a:extLst>
              <a:ext uri="{FF2B5EF4-FFF2-40B4-BE49-F238E27FC236}">
                <a16:creationId xmlns:a16="http://schemas.microsoft.com/office/drawing/2014/main" id="{D92D4856-5E1C-304C-FF3E-19B1A4608EA8}"/>
              </a:ext>
            </a:extLst>
          </p:cNvPr>
          <p:cNvSpPr txBox="1"/>
          <p:nvPr/>
        </p:nvSpPr>
        <p:spPr>
          <a:xfrm>
            <a:off x="4521200" y="2717800"/>
            <a:ext cx="2971800" cy="800219"/>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Solar voltage channels 1 / 2
COMM raw voltage
Behavior plausible
Mapping or scale unverified</a:t>
            </a:r>
          </a:p>
        </p:txBody>
      </p:sp>
      <p:sp>
        <p:nvSpPr>
          <p:cNvPr id="12" name="Rectangle 11">
            <a:extLst>
              <a:ext uri="{FF2B5EF4-FFF2-40B4-BE49-F238E27FC236}">
                <a16:creationId xmlns:a16="http://schemas.microsoft.com/office/drawing/2014/main" id="{1A02437D-2248-2A97-8241-0A1744DCEA24}"/>
              </a:ext>
            </a:extLst>
          </p:cNvPr>
          <p:cNvSpPr/>
          <p:nvPr/>
        </p:nvSpPr>
        <p:spPr>
          <a:xfrm>
            <a:off x="8001000" y="1765300"/>
            <a:ext cx="3429000" cy="3429000"/>
          </a:xfrm>
          <a:prstGeom prst="rect">
            <a:avLst/>
          </a:prstGeom>
          <a:solidFill>
            <a:srgbClr val="12171F"/>
          </a:solidFill>
          <a:ln w="12700">
            <a:solidFill>
              <a:srgbClr val="EF513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DAADC8FB-0B74-138D-59EA-1E11890E8BFA}"/>
              </a:ext>
            </a:extLst>
          </p:cNvPr>
          <p:cNvSpPr txBox="1"/>
          <p:nvPr/>
        </p:nvSpPr>
        <p:spPr>
          <a:xfrm>
            <a:off x="8229600" y="2057400"/>
            <a:ext cx="2971800" cy="246221"/>
          </a:xfrm>
          <a:prstGeom prst="rect">
            <a:avLst/>
          </a:prstGeom>
          <a:noFill/>
        </p:spPr>
        <p:txBody>
          <a:bodyPr vert="horz" wrap="square" lIns="0" tIns="0" rIns="0" bIns="0" rtlCol="0">
            <a:spAutoFit/>
          </a:bodyPr>
          <a:lstStyle/>
          <a:p>
            <a:r>
              <a:rPr lang="en-US" sz="1600" b="1">
                <a:solidFill>
                  <a:srgbClr val="EF513E"/>
                </a:solidFill>
                <a:latin typeface="Consolas" panose="020B0609020204030204" pitchFamily="49" charset="0"/>
              </a:rPr>
              <a:t>NOT DECODED</a:t>
            </a:r>
          </a:p>
        </p:txBody>
      </p:sp>
      <p:sp>
        <p:nvSpPr>
          <p:cNvPr id="14" name="TextBox 13">
            <a:extLst>
              <a:ext uri="{FF2B5EF4-FFF2-40B4-BE49-F238E27FC236}">
                <a16:creationId xmlns:a16="http://schemas.microsoft.com/office/drawing/2014/main" id="{9354BFF0-DCD3-A0D7-C290-C66950394786}"/>
              </a:ext>
            </a:extLst>
          </p:cNvPr>
          <p:cNvSpPr txBox="1"/>
          <p:nvPr/>
        </p:nvSpPr>
        <p:spPr>
          <a:xfrm>
            <a:off x="8229600" y="2717800"/>
            <a:ext cx="2971800" cy="800219"/>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Spacecraft mode
Battery voltage / current
Solar currents
Power distribution fields</a:t>
            </a:r>
          </a:p>
        </p:txBody>
      </p:sp>
      <p:sp>
        <p:nvSpPr>
          <p:cNvPr id="15" name="Rectangle 14">
            <a:extLst>
              <a:ext uri="{FF2B5EF4-FFF2-40B4-BE49-F238E27FC236}">
                <a16:creationId xmlns:a16="http://schemas.microsoft.com/office/drawing/2014/main" id="{676D5E7E-DE4B-8B70-B9E0-DC66849062D5}"/>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2EFC1423-7C25-FBB5-D7F4-87F631C37463}"/>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17" name="TextBox 16">
            <a:extLst>
              <a:ext uri="{FF2B5EF4-FFF2-40B4-BE49-F238E27FC236}">
                <a16:creationId xmlns:a16="http://schemas.microsoft.com/office/drawing/2014/main" id="{3403CB30-E6DE-D236-7640-7FFBA821A24D}"/>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Complete target structure with explicit confidence and zero fabricated values.</a:t>
            </a:r>
          </a:p>
        </p:txBody>
      </p:sp>
    </p:spTree>
    <p:extLst>
      <p:ext uri="{BB962C8B-B14F-4D97-AF65-F5344CB8AC3E}">
        <p14:creationId xmlns:p14="http://schemas.microsoft.com/office/powerpoint/2010/main" val="33539546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032CFD5-38F8-91EB-9D01-841E5CD60E37}"/>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07401FD1-F6C9-B8AA-CC1C-44126BB39402}"/>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Stage 7 - InfluxDB and Full Grafana Dashboard</a:t>
            </a:r>
          </a:p>
        </p:txBody>
      </p:sp>
      <p:cxnSp>
        <p:nvCxnSpPr>
          <p:cNvPr id="4" name="Straight Connector 3">
            <a:extLst>
              <a:ext uri="{FF2B5EF4-FFF2-40B4-BE49-F238E27FC236}">
                <a16:creationId xmlns:a16="http://schemas.microsoft.com/office/drawing/2014/main" id="{EC411371-F1EE-0728-4C69-558E5531737D}"/>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E002453C-4045-F213-1F77-CBB4760E2644}"/>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13</a:t>
            </a:r>
          </a:p>
        </p:txBody>
      </p:sp>
      <p:pic>
        <p:nvPicPr>
          <p:cNvPr id="7" name="Picture 6">
            <a:extLst>
              <a:ext uri="{FF2B5EF4-FFF2-40B4-BE49-F238E27FC236}">
                <a16:creationId xmlns:a16="http://schemas.microsoft.com/office/drawing/2014/main" id="{25DCA181-3F79-4DA5-FA4B-0D813908748D}"/>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33400" y="1549400"/>
            <a:ext cx="11125200" cy="4140200"/>
          </a:xfrm>
          <a:prstGeom prst="rect">
            <a:avLst/>
          </a:prstGeom>
        </p:spPr>
      </p:pic>
      <p:sp>
        <p:nvSpPr>
          <p:cNvPr id="8" name="Rectangle 7">
            <a:extLst>
              <a:ext uri="{FF2B5EF4-FFF2-40B4-BE49-F238E27FC236}">
                <a16:creationId xmlns:a16="http://schemas.microsoft.com/office/drawing/2014/main" id="{C754AAAC-C051-B32D-A8B4-E9878241C81A}"/>
              </a:ext>
            </a:extLst>
          </p:cNvPr>
          <p:cNvSpPr/>
          <p:nvPr/>
        </p:nvSpPr>
        <p:spPr>
          <a:xfrm>
            <a:off x="533400" y="5791200"/>
            <a:ext cx="11125200" cy="5588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52C341F-2F0F-1E6D-38A5-E9D548D98D0D}"/>
              </a:ext>
            </a:extLst>
          </p:cNvPr>
          <p:cNvSpPr txBox="1"/>
          <p:nvPr/>
        </p:nvSpPr>
        <p:spPr>
          <a:xfrm>
            <a:off x="711200" y="5956300"/>
            <a:ext cx="1524000" cy="169277"/>
          </a:xfrm>
          <a:prstGeom prst="rect">
            <a:avLst/>
          </a:prstGeom>
          <a:noFill/>
        </p:spPr>
        <p:txBody>
          <a:bodyPr vert="horz" wrap="square" lIns="0" tIns="0" rIns="0" bIns="0" rtlCol="0">
            <a:spAutoFit/>
          </a:bodyPr>
          <a:lstStyle/>
          <a:p>
            <a:r>
              <a:rPr lang="en-US" sz="1100" b="1">
                <a:solidFill>
                  <a:srgbClr val="31CC70"/>
                </a:solidFill>
                <a:latin typeface="Consolas" panose="020B0609020204030204" pitchFamily="49" charset="0"/>
              </a:rPr>
              <a:t>43 PANELS</a:t>
            </a:r>
          </a:p>
        </p:txBody>
      </p:sp>
      <p:sp>
        <p:nvSpPr>
          <p:cNvPr id="10" name="TextBox 9">
            <a:extLst>
              <a:ext uri="{FF2B5EF4-FFF2-40B4-BE49-F238E27FC236}">
                <a16:creationId xmlns:a16="http://schemas.microsoft.com/office/drawing/2014/main" id="{2B2481D1-B057-8D54-2A0E-A5264AB08D3F}"/>
              </a:ext>
            </a:extLst>
          </p:cNvPr>
          <p:cNvSpPr txBox="1"/>
          <p:nvPr/>
        </p:nvSpPr>
        <p:spPr>
          <a:xfrm>
            <a:off x="2336800" y="5956300"/>
            <a:ext cx="2667000" cy="169277"/>
          </a:xfrm>
          <a:prstGeom prst="rect">
            <a:avLst/>
          </a:prstGeom>
          <a:noFill/>
        </p:spPr>
        <p:txBody>
          <a:bodyPr vert="horz" wrap="square" lIns="0" tIns="0" rIns="0" bIns="0" rtlCol="0">
            <a:spAutoFit/>
          </a:bodyPr>
          <a:lstStyle/>
          <a:p>
            <a:r>
              <a:rPr lang="en-US" sz="1100" b="1">
                <a:solidFill>
                  <a:srgbClr val="ECF1F7"/>
                </a:solidFill>
                <a:latin typeface="Aptos" panose="020B0004020202020204" pitchFamily="34" charset="0"/>
              </a:rPr>
              <a:t>decoder status + raw HEX</a:t>
            </a:r>
          </a:p>
        </p:txBody>
      </p:sp>
      <p:sp>
        <p:nvSpPr>
          <p:cNvPr id="11" name="TextBox 10">
            <a:extLst>
              <a:ext uri="{FF2B5EF4-FFF2-40B4-BE49-F238E27FC236}">
                <a16:creationId xmlns:a16="http://schemas.microsoft.com/office/drawing/2014/main" id="{86CC53FB-E379-8706-2185-B907A341D60F}"/>
              </a:ext>
            </a:extLst>
          </p:cNvPr>
          <p:cNvSpPr txBox="1"/>
          <p:nvPr/>
        </p:nvSpPr>
        <p:spPr>
          <a:xfrm>
            <a:off x="5207000" y="5956300"/>
            <a:ext cx="3048000" cy="169277"/>
          </a:xfrm>
          <a:prstGeom prst="rect">
            <a:avLst/>
          </a:prstGeom>
          <a:noFill/>
        </p:spPr>
        <p:txBody>
          <a:bodyPr vert="horz" wrap="square" lIns="0" tIns="0" rIns="0" bIns="0" rtlCol="0">
            <a:spAutoFit/>
          </a:bodyPr>
          <a:lstStyle/>
          <a:p>
            <a:r>
              <a:rPr lang="fr-FR" sz="1100" b="1">
                <a:solidFill>
                  <a:srgbClr val="31A6E8"/>
                </a:solidFill>
                <a:latin typeface="Aptos" panose="020B0004020202020204" pitchFamily="34" charset="0"/>
              </a:rPr>
              <a:t>22 / 22 Flux queries passed</a:t>
            </a:r>
            <a:endParaRPr lang="en-US" sz="1100" b="1">
              <a:solidFill>
                <a:srgbClr val="31A6E8"/>
              </a:solidFill>
              <a:latin typeface="Aptos" panose="020B0004020202020204" pitchFamily="34" charset="0"/>
            </a:endParaRPr>
          </a:p>
        </p:txBody>
      </p:sp>
      <p:sp>
        <p:nvSpPr>
          <p:cNvPr id="12" name="TextBox 11">
            <a:extLst>
              <a:ext uri="{FF2B5EF4-FFF2-40B4-BE49-F238E27FC236}">
                <a16:creationId xmlns:a16="http://schemas.microsoft.com/office/drawing/2014/main" id="{77D21764-BDD0-A75A-FB9D-157639E10841}"/>
              </a:ext>
            </a:extLst>
          </p:cNvPr>
          <p:cNvSpPr txBox="1"/>
          <p:nvPr/>
        </p:nvSpPr>
        <p:spPr>
          <a:xfrm>
            <a:off x="8636000" y="5956300"/>
            <a:ext cx="2667000" cy="169277"/>
          </a:xfrm>
          <a:prstGeom prst="rect">
            <a:avLst/>
          </a:prstGeom>
          <a:noFill/>
        </p:spPr>
        <p:txBody>
          <a:bodyPr vert="horz" wrap="square" lIns="0" tIns="0" rIns="0" bIns="0" rtlCol="0">
            <a:spAutoFit/>
          </a:bodyPr>
          <a:lstStyle/>
          <a:p>
            <a:r>
              <a:rPr lang="en-US" sz="1100" b="1">
                <a:solidFill>
                  <a:srgbClr val="F69929"/>
                </a:solidFill>
                <a:latin typeface="Aptos" panose="020B0004020202020204" pitchFamily="34" charset="0"/>
              </a:rPr>
              <a:t>no fabricated values</a:t>
            </a:r>
          </a:p>
        </p:txBody>
      </p:sp>
    </p:spTree>
    <p:extLst>
      <p:ext uri="{BB962C8B-B14F-4D97-AF65-F5344CB8AC3E}">
        <p14:creationId xmlns:p14="http://schemas.microsoft.com/office/powerpoint/2010/main" val="7549174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7F6574A-196B-E58C-0CB6-4DC91207AFBF}"/>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0E0F460E-4E1E-7BCC-FF20-203AE69C6ADD}"/>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Reproducible End-to-End Demo</a:t>
            </a:r>
          </a:p>
        </p:txBody>
      </p:sp>
      <p:cxnSp>
        <p:nvCxnSpPr>
          <p:cNvPr id="4" name="Straight Connector 3">
            <a:extLst>
              <a:ext uri="{FF2B5EF4-FFF2-40B4-BE49-F238E27FC236}">
                <a16:creationId xmlns:a16="http://schemas.microsoft.com/office/drawing/2014/main" id="{E2B941EC-9597-D560-22C9-173C13003CE9}"/>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C03421E-D791-B6B7-BA16-C4DD8C3F0B87}"/>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14</a:t>
            </a:r>
          </a:p>
        </p:txBody>
      </p:sp>
      <p:sp>
        <p:nvSpPr>
          <p:cNvPr id="6" name="Rectangle 5">
            <a:extLst>
              <a:ext uri="{FF2B5EF4-FFF2-40B4-BE49-F238E27FC236}">
                <a16:creationId xmlns:a16="http://schemas.microsoft.com/office/drawing/2014/main" id="{3BD08872-A6B4-EE74-E622-53420BC87E53}"/>
              </a:ext>
            </a:extLst>
          </p:cNvPr>
          <p:cNvSpPr/>
          <p:nvPr/>
        </p:nvSpPr>
        <p:spPr>
          <a:xfrm>
            <a:off x="5842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B4FC22D-9BE4-D224-8B51-A90E77583B98}"/>
              </a:ext>
            </a:extLst>
          </p:cNvPr>
          <p:cNvSpPr txBox="1"/>
          <p:nvPr/>
        </p:nvSpPr>
        <p:spPr>
          <a:xfrm>
            <a:off x="838200" y="2006600"/>
            <a:ext cx="4699000" cy="169277"/>
          </a:xfrm>
          <a:prstGeom prst="rect">
            <a:avLst/>
          </a:prstGeom>
          <a:noFill/>
        </p:spPr>
        <p:txBody>
          <a:bodyPr vert="horz" wrap="square" lIns="0" tIns="0" rIns="0" bIns="0" rtlCol="0">
            <a:spAutoFit/>
          </a:bodyPr>
          <a:lstStyle/>
          <a:p>
            <a:r>
              <a:rPr lang="en-US" sz="1100" b="1">
                <a:solidFill>
                  <a:srgbClr val="31A6E8"/>
                </a:solidFill>
                <a:latin typeface="Consolas" panose="020B0609020204030204" pitchFamily="49" charset="0"/>
              </a:rPr>
              <a:t>ONE COMMAND</a:t>
            </a:r>
          </a:p>
        </p:txBody>
      </p:sp>
      <p:sp>
        <p:nvSpPr>
          <p:cNvPr id="8" name="TextBox 7">
            <a:extLst>
              <a:ext uri="{FF2B5EF4-FFF2-40B4-BE49-F238E27FC236}">
                <a16:creationId xmlns:a16="http://schemas.microsoft.com/office/drawing/2014/main" id="{CD1AAE95-1D5F-9B5E-53F5-7251E6BF6C60}"/>
              </a:ext>
            </a:extLst>
          </p:cNvPr>
          <p:cNvSpPr txBox="1"/>
          <p:nvPr/>
        </p:nvSpPr>
        <p:spPr>
          <a:xfrm>
            <a:off x="838200" y="26035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9" name="TextBox 8">
            <a:extLst>
              <a:ext uri="{FF2B5EF4-FFF2-40B4-BE49-F238E27FC236}">
                <a16:creationId xmlns:a16="http://schemas.microsoft.com/office/drawing/2014/main" id="{2AEBD9B8-C04C-DD8C-D221-D1C9BB9F42E8}"/>
              </a:ext>
            </a:extLst>
          </p:cNvPr>
          <p:cNvSpPr txBox="1"/>
          <p:nvPr/>
        </p:nvSpPr>
        <p:spPr>
          <a:xfrm>
            <a:off x="11176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live_refresh.ps1 -ObsId 14909703</a:t>
            </a:r>
          </a:p>
        </p:txBody>
      </p:sp>
      <p:sp>
        <p:nvSpPr>
          <p:cNvPr id="10" name="TextBox 9">
            <a:extLst>
              <a:ext uri="{FF2B5EF4-FFF2-40B4-BE49-F238E27FC236}">
                <a16:creationId xmlns:a16="http://schemas.microsoft.com/office/drawing/2014/main" id="{FFE6B2A2-C5C5-F39E-301E-71BEB6C89DF3}"/>
              </a:ext>
            </a:extLst>
          </p:cNvPr>
          <p:cNvSpPr txBox="1"/>
          <p:nvPr/>
        </p:nvSpPr>
        <p:spPr>
          <a:xfrm>
            <a:off x="838200" y="32258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1" name="TextBox 10">
            <a:extLst>
              <a:ext uri="{FF2B5EF4-FFF2-40B4-BE49-F238E27FC236}">
                <a16:creationId xmlns:a16="http://schemas.microsoft.com/office/drawing/2014/main" id="{AC6DA16C-6B8E-E024-F746-9EC3D33AA512}"/>
              </a:ext>
            </a:extLst>
          </p:cNvPr>
          <p:cNvSpPr txBox="1"/>
          <p:nvPr/>
        </p:nvSpPr>
        <p:spPr>
          <a:xfrm>
            <a:off x="11176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Download OGG, create WAV, run GNU Radio.</a:t>
            </a:r>
          </a:p>
        </p:txBody>
      </p:sp>
      <p:sp>
        <p:nvSpPr>
          <p:cNvPr id="12" name="TextBox 11">
            <a:extLst>
              <a:ext uri="{FF2B5EF4-FFF2-40B4-BE49-F238E27FC236}">
                <a16:creationId xmlns:a16="http://schemas.microsoft.com/office/drawing/2014/main" id="{2B46DB3D-CBD9-3690-7BA2-DD6E085FF1A2}"/>
              </a:ext>
            </a:extLst>
          </p:cNvPr>
          <p:cNvSpPr txBox="1"/>
          <p:nvPr/>
        </p:nvSpPr>
        <p:spPr>
          <a:xfrm>
            <a:off x="838200" y="38481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3" name="TextBox 12">
            <a:extLst>
              <a:ext uri="{FF2B5EF4-FFF2-40B4-BE49-F238E27FC236}">
                <a16:creationId xmlns:a16="http://schemas.microsoft.com/office/drawing/2014/main" id="{CA593C0B-8755-939D-AA08-D5A5BD357324}"/>
              </a:ext>
            </a:extLst>
          </p:cNvPr>
          <p:cNvSpPr txBox="1"/>
          <p:nvPr/>
        </p:nvSpPr>
        <p:spPr>
          <a:xfrm>
            <a:off x="11176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Filter, compare controls, and push the dashboard.</a:t>
            </a:r>
          </a:p>
        </p:txBody>
      </p:sp>
      <p:sp>
        <p:nvSpPr>
          <p:cNvPr id="14" name="Rectangle 13">
            <a:extLst>
              <a:ext uri="{FF2B5EF4-FFF2-40B4-BE49-F238E27FC236}">
                <a16:creationId xmlns:a16="http://schemas.microsoft.com/office/drawing/2014/main" id="{A827DB4F-27E5-FAE5-20E6-895EF1B11F49}"/>
              </a:ext>
            </a:extLst>
          </p:cNvPr>
          <p:cNvSpPr/>
          <p:nvPr/>
        </p:nvSpPr>
        <p:spPr>
          <a:xfrm>
            <a:off x="64008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DA150FB5-69E4-D9E8-6195-49BC0577FEC3}"/>
              </a:ext>
            </a:extLst>
          </p:cNvPr>
          <p:cNvSpPr txBox="1"/>
          <p:nvPr/>
        </p:nvSpPr>
        <p:spPr>
          <a:xfrm>
            <a:off x="6654800" y="2006600"/>
            <a:ext cx="4699000" cy="169277"/>
          </a:xfrm>
          <a:prstGeom prst="rect">
            <a:avLst/>
          </a:prstGeom>
          <a:noFill/>
        </p:spPr>
        <p:txBody>
          <a:bodyPr vert="horz" wrap="square" lIns="0" tIns="0" rIns="0" bIns="0" rtlCol="0">
            <a:spAutoFit/>
          </a:bodyPr>
          <a:lstStyle/>
          <a:p>
            <a:r>
              <a:rPr lang="en-US" sz="1100" b="1">
                <a:solidFill>
                  <a:srgbClr val="31CC70"/>
                </a:solidFill>
                <a:latin typeface="Consolas" panose="020B0609020204030204" pitchFamily="49" charset="0"/>
              </a:rPr>
              <a:t>VERIFIED OUTPUT</a:t>
            </a:r>
          </a:p>
        </p:txBody>
      </p:sp>
      <p:sp>
        <p:nvSpPr>
          <p:cNvPr id="16" name="TextBox 15">
            <a:extLst>
              <a:ext uri="{FF2B5EF4-FFF2-40B4-BE49-F238E27FC236}">
                <a16:creationId xmlns:a16="http://schemas.microsoft.com/office/drawing/2014/main" id="{AAE80B56-6155-9B61-BF5E-F5338B1FA78F}"/>
              </a:ext>
            </a:extLst>
          </p:cNvPr>
          <p:cNvSpPr txBox="1"/>
          <p:nvPr/>
        </p:nvSpPr>
        <p:spPr>
          <a:xfrm>
            <a:off x="6654800" y="26035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7" name="TextBox 16">
            <a:extLst>
              <a:ext uri="{FF2B5EF4-FFF2-40B4-BE49-F238E27FC236}">
                <a16:creationId xmlns:a16="http://schemas.microsoft.com/office/drawing/2014/main" id="{38C6C7B5-8298-1F17-A448-4612E68DF8E2}"/>
              </a:ext>
            </a:extLst>
          </p:cNvPr>
          <p:cNvSpPr txBox="1"/>
          <p:nvPr/>
        </p:nvSpPr>
        <p:spPr>
          <a:xfrm>
            <a:off x="69342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Six KISS frames; two valid KOYO frames.</a:t>
            </a:r>
          </a:p>
        </p:txBody>
      </p:sp>
      <p:sp>
        <p:nvSpPr>
          <p:cNvPr id="18" name="TextBox 17">
            <a:extLst>
              <a:ext uri="{FF2B5EF4-FFF2-40B4-BE49-F238E27FC236}">
                <a16:creationId xmlns:a16="http://schemas.microsoft.com/office/drawing/2014/main" id="{AEDBA05E-888C-BCBE-2DA9-16F5D21CE31C}"/>
              </a:ext>
            </a:extLst>
          </p:cNvPr>
          <p:cNvSpPr txBox="1"/>
          <p:nvPr/>
        </p:nvSpPr>
        <p:spPr>
          <a:xfrm>
            <a:off x="6654800" y="32258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9" name="TextBox 18">
            <a:extLst>
              <a:ext uri="{FF2B5EF4-FFF2-40B4-BE49-F238E27FC236}">
                <a16:creationId xmlns:a16="http://schemas.microsoft.com/office/drawing/2014/main" id="{BCBF7DC0-6012-EE73-1475-4CB233608FB2}"/>
              </a:ext>
            </a:extLst>
          </p:cNvPr>
          <p:cNvSpPr txBox="1"/>
          <p:nvPr/>
        </p:nvSpPr>
        <p:spPr>
          <a:xfrm>
            <a:off x="69342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One byte-exact control match.</a:t>
            </a:r>
          </a:p>
        </p:txBody>
      </p:sp>
      <p:sp>
        <p:nvSpPr>
          <p:cNvPr id="20" name="TextBox 19">
            <a:extLst>
              <a:ext uri="{FF2B5EF4-FFF2-40B4-BE49-F238E27FC236}">
                <a16:creationId xmlns:a16="http://schemas.microsoft.com/office/drawing/2014/main" id="{2DEE2E86-0F43-5FA3-D43B-0F3C44A95C99}"/>
              </a:ext>
            </a:extLst>
          </p:cNvPr>
          <p:cNvSpPr txBox="1"/>
          <p:nvPr/>
        </p:nvSpPr>
        <p:spPr>
          <a:xfrm>
            <a:off x="6654800" y="38481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21" name="TextBox 20">
            <a:extLst>
              <a:ext uri="{FF2B5EF4-FFF2-40B4-BE49-F238E27FC236}">
                <a16:creationId xmlns:a16="http://schemas.microsoft.com/office/drawing/2014/main" id="{BFED0154-E389-043B-B011-C1155564B4C6}"/>
              </a:ext>
            </a:extLst>
          </p:cNvPr>
          <p:cNvSpPr txBox="1"/>
          <p:nvPr/>
        </p:nvSpPr>
        <p:spPr>
          <a:xfrm>
            <a:off x="69342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InfluxDB HTTP 204; Grafana PASS plus raw HEX.</a:t>
            </a:r>
          </a:p>
        </p:txBody>
      </p:sp>
      <p:sp>
        <p:nvSpPr>
          <p:cNvPr id="22" name="Rectangle 21">
            <a:extLst>
              <a:ext uri="{FF2B5EF4-FFF2-40B4-BE49-F238E27FC236}">
                <a16:creationId xmlns:a16="http://schemas.microsoft.com/office/drawing/2014/main" id="{E75A4E77-6139-9D09-280D-63CFF235BD77}"/>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D99565B-7998-B73E-DE13-A43713E64828}"/>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24" name="TextBox 23">
            <a:extLst>
              <a:ext uri="{FF2B5EF4-FFF2-40B4-BE49-F238E27FC236}">
                <a16:creationId xmlns:a16="http://schemas.microsoft.com/office/drawing/2014/main" id="{D7FB7FD7-A30C-B0A2-8687-903CF7490351}"/>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SatNOGS audio -&gt; local GNU Radio -&gt; InfluxDB/Grafana completed successfully.</a:t>
            </a:r>
          </a:p>
        </p:txBody>
      </p:sp>
    </p:spTree>
    <p:extLst>
      <p:ext uri="{BB962C8B-B14F-4D97-AF65-F5344CB8AC3E}">
        <p14:creationId xmlns:p14="http://schemas.microsoft.com/office/powerpoint/2010/main" val="39660841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A0D1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80F8FF-D091-2C52-657A-817D7499157F}"/>
              </a:ext>
            </a:extLst>
          </p:cNvPr>
          <p:cNvSpPr txBox="1"/>
          <p:nvPr/>
        </p:nvSpPr>
        <p:spPr>
          <a:xfrm>
            <a:off x="533400" y="304800"/>
            <a:ext cx="8128000" cy="153888"/>
          </a:xfrm>
          <a:prstGeom prst="rect">
            <a:avLst/>
          </a:prstGeom>
          <a:noFill/>
        </p:spPr>
        <p:txBody>
          <a:bodyPr vert="horz" wrap="square" lIns="0" tIns="0" rIns="0" bIns="0" rtlCol="0">
            <a:spAutoFit/>
          </a:bodyPr>
          <a:lstStyle/>
          <a:p>
            <a:r>
              <a:rPr lang="en-US" sz="1000" b="1">
                <a:solidFill>
                  <a:srgbClr val="31A6E8"/>
                </a:solidFill>
                <a:latin typeface="Aptos" panose="020B0004020202020204" pitchFamily="34" charset="0"/>
              </a:rPr>
              <a:t>KOYO BEACON DECODER</a:t>
            </a:r>
          </a:p>
        </p:txBody>
      </p:sp>
      <p:sp>
        <p:nvSpPr>
          <p:cNvPr id="3" name="TextBox 2">
            <a:extLst>
              <a:ext uri="{FF2B5EF4-FFF2-40B4-BE49-F238E27FC236}">
                <a16:creationId xmlns:a16="http://schemas.microsoft.com/office/drawing/2014/main" id="{612C8C66-4915-1AAF-CC45-981247A811FF}"/>
              </a:ext>
            </a:extLst>
          </p:cNvPr>
          <p:cNvSpPr txBox="1"/>
          <p:nvPr/>
        </p:nvSpPr>
        <p:spPr>
          <a:xfrm>
            <a:off x="533400" y="609600"/>
            <a:ext cx="10922000" cy="415498"/>
          </a:xfrm>
          <a:prstGeom prst="rect">
            <a:avLst/>
          </a:prstGeom>
          <a:noFill/>
        </p:spPr>
        <p:txBody>
          <a:bodyPr vert="horz" wrap="square" lIns="0" tIns="0" rIns="0" bIns="0" rtlCol="0">
            <a:spAutoFit/>
          </a:bodyPr>
          <a:lstStyle/>
          <a:p>
            <a:r>
              <a:rPr lang="en-US" sz="2700" b="1">
                <a:solidFill>
                  <a:srgbClr val="ECF1F7"/>
                </a:solidFill>
                <a:latin typeface="Aptos Display" panose="020B0004020202020204" pitchFamily="34" charset="0"/>
              </a:rPr>
              <a:t>Limitations, Next Steps, and Conclusion</a:t>
            </a:r>
          </a:p>
        </p:txBody>
      </p:sp>
      <p:cxnSp>
        <p:nvCxnSpPr>
          <p:cNvPr id="4" name="Straight Connector 3">
            <a:extLst>
              <a:ext uri="{FF2B5EF4-FFF2-40B4-BE49-F238E27FC236}">
                <a16:creationId xmlns:a16="http://schemas.microsoft.com/office/drawing/2014/main" id="{6E3CAB0B-6A2B-5FB8-E66B-A7297CA0C868}"/>
              </a:ext>
            </a:extLst>
          </p:cNvPr>
          <p:cNvCxnSpPr/>
          <p:nvPr/>
        </p:nvCxnSpPr>
        <p:spPr>
          <a:xfrm>
            <a:off x="533400" y="1295400"/>
            <a:ext cx="11125200" cy="0"/>
          </a:xfrm>
          <a:prstGeom prst="line">
            <a:avLst/>
          </a:prstGeom>
          <a:ln w="12700">
            <a:solidFill>
              <a:srgbClr val="313B49"/>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9DE34667-55DE-41A1-890D-48C1809B80B0}"/>
              </a:ext>
            </a:extLst>
          </p:cNvPr>
          <p:cNvSpPr txBox="1"/>
          <p:nvPr/>
        </p:nvSpPr>
        <p:spPr>
          <a:xfrm>
            <a:off x="11277600" y="6413500"/>
            <a:ext cx="381000" cy="138499"/>
          </a:xfrm>
          <a:prstGeom prst="rect">
            <a:avLst/>
          </a:prstGeom>
          <a:noFill/>
        </p:spPr>
        <p:txBody>
          <a:bodyPr vert="horz" wrap="square" lIns="0" tIns="0" rIns="0" bIns="0" rtlCol="0">
            <a:spAutoFit/>
          </a:bodyPr>
          <a:lstStyle/>
          <a:p>
            <a:pPr algn="r"/>
            <a:r>
              <a:rPr lang="en-US" sz="900">
                <a:solidFill>
                  <a:srgbClr val="9BA6B5"/>
                </a:solidFill>
                <a:latin typeface="Consolas" panose="020B0609020204030204" pitchFamily="49" charset="0"/>
              </a:rPr>
              <a:t>15</a:t>
            </a:r>
          </a:p>
        </p:txBody>
      </p:sp>
      <p:sp>
        <p:nvSpPr>
          <p:cNvPr id="6" name="Rectangle 5">
            <a:extLst>
              <a:ext uri="{FF2B5EF4-FFF2-40B4-BE49-F238E27FC236}">
                <a16:creationId xmlns:a16="http://schemas.microsoft.com/office/drawing/2014/main" id="{96E335FE-EC68-6822-27C4-F1DDDECBC7FF}"/>
              </a:ext>
            </a:extLst>
          </p:cNvPr>
          <p:cNvSpPr/>
          <p:nvPr/>
        </p:nvSpPr>
        <p:spPr>
          <a:xfrm>
            <a:off x="5842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BF99725-B87E-6F4B-5EE0-53D7551804CA}"/>
              </a:ext>
            </a:extLst>
          </p:cNvPr>
          <p:cNvSpPr txBox="1"/>
          <p:nvPr/>
        </p:nvSpPr>
        <p:spPr>
          <a:xfrm>
            <a:off x="838200" y="2006600"/>
            <a:ext cx="4699000" cy="169277"/>
          </a:xfrm>
          <a:prstGeom prst="rect">
            <a:avLst/>
          </a:prstGeom>
          <a:noFill/>
        </p:spPr>
        <p:txBody>
          <a:bodyPr vert="horz" wrap="square" lIns="0" tIns="0" rIns="0" bIns="0" rtlCol="0">
            <a:spAutoFit/>
          </a:bodyPr>
          <a:lstStyle/>
          <a:p>
            <a:r>
              <a:rPr lang="en-US" sz="1100" b="1">
                <a:solidFill>
                  <a:srgbClr val="31A6E8"/>
                </a:solidFill>
                <a:latin typeface="Consolas" panose="020B0609020204030204" pitchFamily="49" charset="0"/>
              </a:rPr>
              <a:t>CURRENT LIMITATIONS</a:t>
            </a:r>
          </a:p>
        </p:txBody>
      </p:sp>
      <p:sp>
        <p:nvSpPr>
          <p:cNvPr id="8" name="TextBox 7">
            <a:extLst>
              <a:ext uri="{FF2B5EF4-FFF2-40B4-BE49-F238E27FC236}">
                <a16:creationId xmlns:a16="http://schemas.microsoft.com/office/drawing/2014/main" id="{81011BF7-7FC3-CBCC-F94E-2A28DC3DF4BC}"/>
              </a:ext>
            </a:extLst>
          </p:cNvPr>
          <p:cNvSpPr txBox="1"/>
          <p:nvPr/>
        </p:nvSpPr>
        <p:spPr>
          <a:xfrm>
            <a:off x="838200" y="26035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9" name="TextBox 8">
            <a:extLst>
              <a:ext uri="{FF2B5EF4-FFF2-40B4-BE49-F238E27FC236}">
                <a16:creationId xmlns:a16="http://schemas.microsoft.com/office/drawing/2014/main" id="{2B2B1C2A-585E-8DE8-C440-0690B47528E2}"/>
              </a:ext>
            </a:extLst>
          </p:cNvPr>
          <p:cNvSpPr txBox="1"/>
          <p:nvPr/>
        </p:nvSpPr>
        <p:spPr>
          <a:xfrm>
            <a:off x="11176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27% exact OGG recovery; five direct audio tests.</a:t>
            </a:r>
          </a:p>
        </p:txBody>
      </p:sp>
      <p:sp>
        <p:nvSpPr>
          <p:cNvPr id="10" name="TextBox 9">
            <a:extLst>
              <a:ext uri="{FF2B5EF4-FFF2-40B4-BE49-F238E27FC236}">
                <a16:creationId xmlns:a16="http://schemas.microsoft.com/office/drawing/2014/main" id="{A91B17A7-7C3E-89AC-8410-6C4F92F0EBE6}"/>
              </a:ext>
            </a:extLst>
          </p:cNvPr>
          <p:cNvSpPr txBox="1"/>
          <p:nvPr/>
        </p:nvSpPr>
        <p:spPr>
          <a:xfrm>
            <a:off x="838200" y="32258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1" name="TextBox 10">
            <a:extLst>
              <a:ext uri="{FF2B5EF4-FFF2-40B4-BE49-F238E27FC236}">
                <a16:creationId xmlns:a16="http://schemas.microsoft.com/office/drawing/2014/main" id="{9570C4FA-67DF-EAE4-0AC8-D64C189AE12D}"/>
              </a:ext>
            </a:extLst>
          </p:cNvPr>
          <p:cNvSpPr txBox="1"/>
          <p:nvPr/>
        </p:nvSpPr>
        <p:spPr>
          <a:xfrm>
            <a:off x="11176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SatNOGS is store-and-forward, not continuous RF.</a:t>
            </a:r>
          </a:p>
        </p:txBody>
      </p:sp>
      <p:sp>
        <p:nvSpPr>
          <p:cNvPr id="12" name="TextBox 11">
            <a:extLst>
              <a:ext uri="{FF2B5EF4-FFF2-40B4-BE49-F238E27FC236}">
                <a16:creationId xmlns:a16="http://schemas.microsoft.com/office/drawing/2014/main" id="{232C3FA1-D35C-5330-023C-75D6ECA0558E}"/>
              </a:ext>
            </a:extLst>
          </p:cNvPr>
          <p:cNvSpPr txBox="1"/>
          <p:nvPr/>
        </p:nvSpPr>
        <p:spPr>
          <a:xfrm>
            <a:off x="838200" y="3848100"/>
            <a:ext cx="203200" cy="200055"/>
          </a:xfrm>
          <a:prstGeom prst="rect">
            <a:avLst/>
          </a:prstGeom>
          <a:noFill/>
        </p:spPr>
        <p:txBody>
          <a:bodyPr vert="horz" wrap="square" lIns="0" tIns="0" rIns="0" bIns="0" rtlCol="0">
            <a:spAutoFit/>
          </a:bodyPr>
          <a:lstStyle/>
          <a:p>
            <a:r>
              <a:rPr lang="en-US" sz="1300" b="1">
                <a:solidFill>
                  <a:srgbClr val="31A6E8"/>
                </a:solidFill>
                <a:latin typeface="Consolas" panose="020B0609020204030204" pitchFamily="49" charset="0"/>
              </a:rPr>
              <a:t>-</a:t>
            </a:r>
          </a:p>
        </p:txBody>
      </p:sp>
      <p:sp>
        <p:nvSpPr>
          <p:cNvPr id="13" name="TextBox 12">
            <a:extLst>
              <a:ext uri="{FF2B5EF4-FFF2-40B4-BE49-F238E27FC236}">
                <a16:creationId xmlns:a16="http://schemas.microsoft.com/office/drawing/2014/main" id="{DB6B7644-6F18-69B6-A67E-9F487FCD2C95}"/>
              </a:ext>
            </a:extLst>
          </p:cNvPr>
          <p:cNvSpPr txBox="1"/>
          <p:nvPr/>
        </p:nvSpPr>
        <p:spPr>
          <a:xfrm>
            <a:off x="11176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Candidate and unavailable telemetry mappings remain.</a:t>
            </a:r>
          </a:p>
        </p:txBody>
      </p:sp>
      <p:sp>
        <p:nvSpPr>
          <p:cNvPr id="14" name="Rectangle 13">
            <a:extLst>
              <a:ext uri="{FF2B5EF4-FFF2-40B4-BE49-F238E27FC236}">
                <a16:creationId xmlns:a16="http://schemas.microsoft.com/office/drawing/2014/main" id="{3CC1507D-0072-1D40-3881-D77FF893CB0B}"/>
              </a:ext>
            </a:extLst>
          </p:cNvPr>
          <p:cNvSpPr/>
          <p:nvPr/>
        </p:nvSpPr>
        <p:spPr>
          <a:xfrm>
            <a:off x="6400800" y="1739900"/>
            <a:ext cx="5207000" cy="3530600"/>
          </a:xfrm>
          <a:prstGeom prst="rect">
            <a:avLst/>
          </a:prstGeom>
          <a:solidFill>
            <a:srgbClr val="12171F"/>
          </a:solidFill>
          <a:ln w="12700">
            <a:solidFill>
              <a:srgbClr val="313B4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F7F8AD95-FE7D-2622-B8F8-73965A3465F4}"/>
              </a:ext>
            </a:extLst>
          </p:cNvPr>
          <p:cNvSpPr txBox="1"/>
          <p:nvPr/>
        </p:nvSpPr>
        <p:spPr>
          <a:xfrm>
            <a:off x="6654800" y="2006600"/>
            <a:ext cx="4699000" cy="169277"/>
          </a:xfrm>
          <a:prstGeom prst="rect">
            <a:avLst/>
          </a:prstGeom>
          <a:noFill/>
        </p:spPr>
        <p:txBody>
          <a:bodyPr vert="horz" wrap="square" lIns="0" tIns="0" rIns="0" bIns="0" rtlCol="0">
            <a:spAutoFit/>
          </a:bodyPr>
          <a:lstStyle/>
          <a:p>
            <a:r>
              <a:rPr lang="en-US" sz="1100" b="1">
                <a:solidFill>
                  <a:srgbClr val="31CC70"/>
                </a:solidFill>
                <a:latin typeface="Consolas" panose="020B0609020204030204" pitchFamily="49" charset="0"/>
              </a:rPr>
              <a:t>NEXT TECHNICAL STEPS</a:t>
            </a:r>
          </a:p>
        </p:txBody>
      </p:sp>
      <p:sp>
        <p:nvSpPr>
          <p:cNvPr id="16" name="TextBox 15">
            <a:extLst>
              <a:ext uri="{FF2B5EF4-FFF2-40B4-BE49-F238E27FC236}">
                <a16:creationId xmlns:a16="http://schemas.microsoft.com/office/drawing/2014/main" id="{B3C4A029-4C64-FC8E-E1A2-001F2A9F058A}"/>
              </a:ext>
            </a:extLst>
          </p:cNvPr>
          <p:cNvSpPr txBox="1"/>
          <p:nvPr/>
        </p:nvSpPr>
        <p:spPr>
          <a:xfrm>
            <a:off x="6654800" y="26035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7" name="TextBox 16">
            <a:extLst>
              <a:ext uri="{FF2B5EF4-FFF2-40B4-BE49-F238E27FC236}">
                <a16:creationId xmlns:a16="http://schemas.microsoft.com/office/drawing/2014/main" id="{A81320BC-E21F-A43C-2C1C-6024A6661A69}"/>
              </a:ext>
            </a:extLst>
          </p:cNvPr>
          <p:cNvSpPr txBox="1"/>
          <p:nvPr/>
        </p:nvSpPr>
        <p:spPr>
          <a:xfrm>
            <a:off x="6934200" y="26035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Adaptive Doppler, tuning, and clock recovery.</a:t>
            </a:r>
          </a:p>
        </p:txBody>
      </p:sp>
      <p:sp>
        <p:nvSpPr>
          <p:cNvPr id="18" name="TextBox 17">
            <a:extLst>
              <a:ext uri="{FF2B5EF4-FFF2-40B4-BE49-F238E27FC236}">
                <a16:creationId xmlns:a16="http://schemas.microsoft.com/office/drawing/2014/main" id="{FF17EA66-D100-A00A-46B1-55C4445E11A5}"/>
              </a:ext>
            </a:extLst>
          </p:cNvPr>
          <p:cNvSpPr txBox="1"/>
          <p:nvPr/>
        </p:nvSpPr>
        <p:spPr>
          <a:xfrm>
            <a:off x="6654800" y="32258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19" name="TextBox 18">
            <a:extLst>
              <a:ext uri="{FF2B5EF4-FFF2-40B4-BE49-F238E27FC236}">
                <a16:creationId xmlns:a16="http://schemas.microsoft.com/office/drawing/2014/main" id="{E9E90F1F-DA32-729C-C9F1-F6D115CF5A4C}"/>
              </a:ext>
            </a:extLst>
          </p:cNvPr>
          <p:cNvSpPr txBox="1"/>
          <p:nvPr/>
        </p:nvSpPr>
        <p:spPr>
          <a:xfrm>
            <a:off x="6934200" y="32258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Stream OGG processing without permanent WAV files.</a:t>
            </a:r>
          </a:p>
        </p:txBody>
      </p:sp>
      <p:sp>
        <p:nvSpPr>
          <p:cNvPr id="20" name="TextBox 19">
            <a:extLst>
              <a:ext uri="{FF2B5EF4-FFF2-40B4-BE49-F238E27FC236}">
                <a16:creationId xmlns:a16="http://schemas.microsoft.com/office/drawing/2014/main" id="{C912BF78-3CFC-082B-38C4-9FF74409C216}"/>
              </a:ext>
            </a:extLst>
          </p:cNvPr>
          <p:cNvSpPr txBox="1"/>
          <p:nvPr/>
        </p:nvSpPr>
        <p:spPr>
          <a:xfrm>
            <a:off x="6654800" y="3848100"/>
            <a:ext cx="203200" cy="200055"/>
          </a:xfrm>
          <a:prstGeom prst="rect">
            <a:avLst/>
          </a:prstGeom>
          <a:noFill/>
        </p:spPr>
        <p:txBody>
          <a:bodyPr vert="horz" wrap="square" lIns="0" tIns="0" rIns="0" bIns="0" rtlCol="0">
            <a:spAutoFit/>
          </a:bodyPr>
          <a:lstStyle/>
          <a:p>
            <a:r>
              <a:rPr lang="en-US" sz="1300" b="1">
                <a:solidFill>
                  <a:srgbClr val="31CC70"/>
                </a:solidFill>
                <a:latin typeface="Consolas" panose="020B0609020204030204" pitchFamily="49" charset="0"/>
              </a:rPr>
              <a:t>-</a:t>
            </a:r>
          </a:p>
        </p:txBody>
      </p:sp>
      <p:sp>
        <p:nvSpPr>
          <p:cNvPr id="21" name="TextBox 20">
            <a:extLst>
              <a:ext uri="{FF2B5EF4-FFF2-40B4-BE49-F238E27FC236}">
                <a16:creationId xmlns:a16="http://schemas.microsoft.com/office/drawing/2014/main" id="{099B91FF-8255-49F7-3732-0703CBD66BD4}"/>
              </a:ext>
            </a:extLst>
          </p:cNvPr>
          <p:cNvSpPr txBox="1"/>
          <p:nvPr/>
        </p:nvSpPr>
        <p:spPr>
          <a:xfrm>
            <a:off x="6934200" y="3848100"/>
            <a:ext cx="4343400" cy="200055"/>
          </a:xfrm>
          <a:prstGeom prst="rect">
            <a:avLst/>
          </a:prstGeom>
          <a:noFill/>
        </p:spPr>
        <p:txBody>
          <a:bodyPr vert="horz" wrap="square" lIns="0" tIns="0" rIns="0" bIns="0" rtlCol="0">
            <a:spAutoFit/>
          </a:bodyPr>
          <a:lstStyle/>
          <a:p>
            <a:r>
              <a:rPr lang="en-US" sz="1300">
                <a:solidFill>
                  <a:srgbClr val="ECF1F7"/>
                </a:solidFill>
                <a:latin typeface="Aptos" panose="020B0004020202020204" pitchFamily="34" charset="0"/>
              </a:rPr>
              <a:t>Expand validation and authorize remaining mappings.</a:t>
            </a:r>
          </a:p>
        </p:txBody>
      </p:sp>
      <p:sp>
        <p:nvSpPr>
          <p:cNvPr id="22" name="Rectangle 21">
            <a:extLst>
              <a:ext uri="{FF2B5EF4-FFF2-40B4-BE49-F238E27FC236}">
                <a16:creationId xmlns:a16="http://schemas.microsoft.com/office/drawing/2014/main" id="{DC7B74AB-D534-61D9-7931-A4244CF88442}"/>
              </a:ext>
            </a:extLst>
          </p:cNvPr>
          <p:cNvSpPr/>
          <p:nvPr/>
        </p:nvSpPr>
        <p:spPr>
          <a:xfrm>
            <a:off x="584200" y="5715000"/>
            <a:ext cx="11023600" cy="622300"/>
          </a:xfrm>
          <a:prstGeom prst="rect">
            <a:avLst/>
          </a:prstGeom>
          <a:solidFill>
            <a:srgbClr val="191F29"/>
          </a:solidFill>
          <a:ln w="12700">
            <a:solidFill>
              <a:srgbClr val="31CC7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5497DD08-A7B1-4CC8-1997-F7A7359616AA}"/>
              </a:ext>
            </a:extLst>
          </p:cNvPr>
          <p:cNvSpPr txBox="1"/>
          <p:nvPr/>
        </p:nvSpPr>
        <p:spPr>
          <a:xfrm>
            <a:off x="787400" y="5905500"/>
            <a:ext cx="1193800" cy="146194"/>
          </a:xfrm>
          <a:prstGeom prst="rect">
            <a:avLst/>
          </a:prstGeom>
          <a:noFill/>
        </p:spPr>
        <p:txBody>
          <a:bodyPr vert="horz" wrap="square" lIns="0" tIns="0" rIns="0" bIns="0" rtlCol="0">
            <a:spAutoFit/>
          </a:bodyPr>
          <a:lstStyle/>
          <a:p>
            <a:r>
              <a:rPr lang="en-US" sz="950" b="1">
                <a:solidFill>
                  <a:srgbClr val="9BA6B5"/>
                </a:solidFill>
                <a:latin typeface="Consolas" panose="020B0609020204030204" pitchFamily="49" charset="0"/>
              </a:rPr>
              <a:t>RESULT</a:t>
            </a:r>
          </a:p>
        </p:txBody>
      </p:sp>
      <p:sp>
        <p:nvSpPr>
          <p:cNvPr id="24" name="TextBox 23">
            <a:extLst>
              <a:ext uri="{FF2B5EF4-FFF2-40B4-BE49-F238E27FC236}">
                <a16:creationId xmlns:a16="http://schemas.microsoft.com/office/drawing/2014/main" id="{24A25156-8E4C-2A81-E876-EBA69670888A}"/>
              </a:ext>
            </a:extLst>
          </p:cNvPr>
          <p:cNvSpPr txBox="1"/>
          <p:nvPr/>
        </p:nvSpPr>
        <p:spPr>
          <a:xfrm>
            <a:off x="1968500" y="5829300"/>
            <a:ext cx="9385300" cy="207749"/>
          </a:xfrm>
          <a:prstGeom prst="rect">
            <a:avLst/>
          </a:prstGeom>
          <a:noFill/>
        </p:spPr>
        <p:txBody>
          <a:bodyPr vert="horz" wrap="square" lIns="0" tIns="0" rIns="0" bIns="0" rtlCol="0">
            <a:spAutoFit/>
          </a:bodyPr>
          <a:lstStyle/>
          <a:p>
            <a:r>
              <a:rPr lang="en-US" sz="1350" b="1">
                <a:solidFill>
                  <a:srgbClr val="31CC70"/>
                </a:solidFill>
                <a:latin typeface="Aptos" panose="020B0004020202020204" pitchFamily="34" charset="0"/>
              </a:rPr>
              <a:t>The audio-to-frame path is proven; recovery optimization and mapping validation remain.</a:t>
            </a:r>
          </a:p>
        </p:txBody>
      </p:sp>
    </p:spTree>
    <p:extLst>
      <p:ext uri="{BB962C8B-B14F-4D97-AF65-F5344CB8AC3E}">
        <p14:creationId xmlns:p14="http://schemas.microsoft.com/office/powerpoint/2010/main" val="33130839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4303</Words>
  <Application>Microsoft Office PowerPoint</Application>
  <PresentationFormat>Custom</PresentationFormat>
  <Paragraphs>307</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KOYO Project</dc:creator>
  <cp:lastModifiedBy>KOYO Project</cp:lastModifiedBy>
  <cp:revision>1</cp:revision>
  <dcterms:created xsi:type="dcterms:W3CDTF">2026-08-31T06:12:18Z</dcterms:created>
  <dcterms:modified xsi:type="dcterms:W3CDTF">2026-08-31T06:12:23Z</dcterms:modified>
</cp:coreProperties>
</file>